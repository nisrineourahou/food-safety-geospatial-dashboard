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Alkalami" pitchFamily="2" charset="-78"/>
      <p:regular r:id="rId32"/>
    </p:embeddedFont>
    <p:embeddedFont>
      <p:font typeface="Calibri" panose="020F0502020204030204" pitchFamily="34" charset="0"/>
      <p:regular r:id="rId33"/>
      <p:bold r:id="rId34"/>
      <p:italic r:id="rId35"/>
      <p:boldItalic r:id="rId36"/>
    </p:embeddedFont>
    <p:embeddedFont>
      <p:font typeface="Chunk Five" pitchFamily="2" charset="0"/>
      <p:regular r:id="rId37"/>
    </p:embeddedFont>
    <p:embeddedFont>
      <p:font typeface="Codec Pro" pitchFamily="2" charset="0"/>
      <p:regular r:id="rId38"/>
    </p:embeddedFont>
    <p:embeddedFont>
      <p:font typeface="Codec Pro Bold" pitchFamily="2" charset="0"/>
      <p:regular r:id="rId39"/>
      <p:bold r:id="rId40"/>
    </p:embeddedFont>
    <p:embeddedFont>
      <p:font typeface="DM Sans" pitchFamily="2" charset="77"/>
      <p:regular r:id="rId41"/>
      <p:bold r:id="rId42"/>
      <p:italic r:id="rId43"/>
      <p:boldItalic r:id="rId44"/>
    </p:embeddedFont>
    <p:embeddedFont>
      <p:font typeface="DM Sans Bold" pitchFamily="2" charset="77"/>
      <p:regular r:id="rId45"/>
      <p:bold r:id="rId46"/>
    </p:embeddedFont>
    <p:embeddedFont>
      <p:font typeface="Kitchakan" pitchFamily="2" charset="-34"/>
      <p:regular r:id="rId47"/>
    </p:embeddedFont>
    <p:embeddedFont>
      <p:font typeface="Kitchakan Bold" pitchFamily="2" charset="-34"/>
      <p:regular r:id="rId48"/>
      <p:bold r:id="rId49"/>
    </p:embeddedFont>
    <p:embeddedFont>
      <p:font typeface="Lato" panose="020F0502020204030203" pitchFamily="34" charset="0"/>
      <p:regular r:id="rId50"/>
      <p:bold r:id="rId51"/>
      <p:italic r:id="rId52"/>
      <p:boldItalic r:id="rId53"/>
    </p:embeddedFont>
    <p:embeddedFont>
      <p:font typeface="Lato Bold" panose="020F0502020204030203" pitchFamily="34" charset="0"/>
      <p:regular r:id="rId54"/>
      <p:bold r:id="rId55"/>
    </p:embeddedFont>
    <p:embeddedFont>
      <p:font typeface="Lato Italics" panose="020F0502020204030203" pitchFamily="34" charset="0"/>
      <p:regular r:id="rId56"/>
      <p:italic r:id="rId57"/>
    </p:embeddedFont>
    <p:embeddedFont>
      <p:font typeface="League Spartan" pitchFamily="2" charset="77"/>
      <p:regular r:id="rId58"/>
      <p:bold r:id="rId59"/>
    </p:embeddedFont>
    <p:embeddedFont>
      <p:font typeface="Libre Baskerville" panose="02000000000000000000" pitchFamily="2" charset="0"/>
      <p:regular r:id="rId60"/>
      <p:bold r:id="rId61"/>
      <p:italic r:id="rId62"/>
    </p:embeddedFont>
    <p:embeddedFont>
      <p:font typeface="Montserrat" pitchFamily="2" charset="77"/>
      <p:regular r:id="rId63"/>
      <p:bold r:id="rId64"/>
      <p:italic r:id="rId65"/>
      <p:boldItalic r:id="rId66"/>
    </p:embeddedFont>
    <p:embeddedFont>
      <p:font typeface="Montserrat Light" panose="020F0302020204030204" pitchFamily="34" charset="0"/>
      <p:regular r:id="rId67"/>
      <p:italic r:id="rId68"/>
    </p:embeddedFont>
    <p:embeddedFont>
      <p:font typeface="Montserrat Medium" panose="020F0502020204030204" pitchFamily="34" charset="0"/>
      <p:regular r:id="rId69"/>
      <p:italic r:id="rId70"/>
    </p:embeddedFont>
    <p:embeddedFont>
      <p:font typeface="Neue Machina Ultra-Bold" pitchFamily="2" charset="77"/>
      <p:regular r:id="rId71"/>
      <p:bold r:id="rId72"/>
    </p:embeddedFont>
    <p:embeddedFont>
      <p:font typeface="Poppins Bold" pitchFamily="2" charset="77"/>
      <p:regular r:id="rId73"/>
      <p:bold r:id="rId74"/>
    </p:embeddedFont>
    <p:embeddedFont>
      <p:font typeface="Poppins Semi-Bold" pitchFamily="2" charset="77"/>
      <p:regular r:id="rId75"/>
      <p:bold r:id="rId76"/>
    </p:embeddedFont>
    <p:embeddedFont>
      <p:font typeface="Roboto Bold" panose="02000000000000000000" pitchFamily="2" charset="0"/>
      <p:regular r:id="rId77"/>
      <p:bold r:id="rId78"/>
    </p:embeddedFont>
    <p:embeddedFont>
      <p:font typeface="Telegraf" pitchFamily="2" charset="77"/>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1" autoAdjust="0"/>
  </p:normalViewPr>
  <p:slideViewPr>
    <p:cSldViewPr>
      <p:cViewPr varScale="1">
        <p:scale>
          <a:sx n="72" d="100"/>
          <a:sy n="72" d="100"/>
        </p:scale>
        <p:origin x="66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1.fntdata"/><Relationship Id="rId47" Type="http://schemas.openxmlformats.org/officeDocument/2006/relationships/font" Target="fonts/font16.fntdata"/><Relationship Id="rId63" Type="http://schemas.openxmlformats.org/officeDocument/2006/relationships/font" Target="fonts/font32.fntdata"/><Relationship Id="rId68" Type="http://schemas.openxmlformats.org/officeDocument/2006/relationships/font" Target="fonts/font3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font" Target="fonts/font1.fntdata"/><Relationship Id="rId37" Type="http://schemas.openxmlformats.org/officeDocument/2006/relationships/font" Target="fonts/font6.fntdata"/><Relationship Id="rId53" Type="http://schemas.openxmlformats.org/officeDocument/2006/relationships/font" Target="fonts/font22.fntdata"/><Relationship Id="rId58" Type="http://schemas.openxmlformats.org/officeDocument/2006/relationships/font" Target="fonts/font27.fntdata"/><Relationship Id="rId74" Type="http://schemas.openxmlformats.org/officeDocument/2006/relationships/font" Target="fonts/font43.fntdata"/><Relationship Id="rId79" Type="http://schemas.openxmlformats.org/officeDocument/2006/relationships/font" Target="fonts/font48.fntdata"/><Relationship Id="rId5" Type="http://schemas.openxmlformats.org/officeDocument/2006/relationships/slide" Target="slides/slide4.xml"/><Relationship Id="rId61" Type="http://schemas.openxmlformats.org/officeDocument/2006/relationships/font" Target="fonts/font30.fntdata"/><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font" Target="fonts/font25.fntdata"/><Relationship Id="rId64" Type="http://schemas.openxmlformats.org/officeDocument/2006/relationships/font" Target="fonts/font33.fntdata"/><Relationship Id="rId69" Type="http://schemas.openxmlformats.org/officeDocument/2006/relationships/font" Target="fonts/font38.fntdata"/><Relationship Id="rId77" Type="http://schemas.openxmlformats.org/officeDocument/2006/relationships/font" Target="fonts/font46.fntdata"/><Relationship Id="rId8" Type="http://schemas.openxmlformats.org/officeDocument/2006/relationships/slide" Target="slides/slide7.xml"/><Relationship Id="rId51" Type="http://schemas.openxmlformats.org/officeDocument/2006/relationships/font" Target="fonts/font20.fntdata"/><Relationship Id="rId72" Type="http://schemas.openxmlformats.org/officeDocument/2006/relationships/font" Target="fonts/font41.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font" Target="fonts/font28.fntdata"/><Relationship Id="rId67" Type="http://schemas.openxmlformats.org/officeDocument/2006/relationships/font" Target="fonts/font36.fntdata"/><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font" Target="fonts/font23.fntdata"/><Relationship Id="rId62" Type="http://schemas.openxmlformats.org/officeDocument/2006/relationships/font" Target="fonts/font31.fntdata"/><Relationship Id="rId70" Type="http://schemas.openxmlformats.org/officeDocument/2006/relationships/font" Target="fonts/font39.fntdata"/><Relationship Id="rId75" Type="http://schemas.openxmlformats.org/officeDocument/2006/relationships/font" Target="fonts/font44.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font" Target="fonts/font2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3.fntdata"/><Relationship Id="rId52" Type="http://schemas.openxmlformats.org/officeDocument/2006/relationships/font" Target="fonts/font21.fntdata"/><Relationship Id="rId60" Type="http://schemas.openxmlformats.org/officeDocument/2006/relationships/font" Target="fonts/font29.fntdata"/><Relationship Id="rId65" Type="http://schemas.openxmlformats.org/officeDocument/2006/relationships/font" Target="fonts/font34.fntdata"/><Relationship Id="rId73" Type="http://schemas.openxmlformats.org/officeDocument/2006/relationships/font" Target="fonts/font42.fntdata"/><Relationship Id="rId78" Type="http://schemas.openxmlformats.org/officeDocument/2006/relationships/font" Target="fonts/font47.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8.fntdata"/><Relationship Id="rId34" Type="http://schemas.openxmlformats.org/officeDocument/2006/relationships/font" Target="fonts/font3.fntdata"/><Relationship Id="rId50" Type="http://schemas.openxmlformats.org/officeDocument/2006/relationships/font" Target="fonts/font19.fntdata"/><Relationship Id="rId55" Type="http://schemas.openxmlformats.org/officeDocument/2006/relationships/font" Target="fonts/font24.fntdata"/><Relationship Id="rId76" Type="http://schemas.openxmlformats.org/officeDocument/2006/relationships/font" Target="fonts/font45.fntdata"/><Relationship Id="rId7" Type="http://schemas.openxmlformats.org/officeDocument/2006/relationships/slide" Target="slides/slide6.xml"/><Relationship Id="rId71" Type="http://schemas.openxmlformats.org/officeDocument/2006/relationships/font" Target="fonts/font4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font" Target="fonts/font9.fntdata"/><Relationship Id="rId45" Type="http://schemas.openxmlformats.org/officeDocument/2006/relationships/font" Target="fonts/font14.fntdata"/><Relationship Id="rId66" Type="http://schemas.openxmlformats.org/officeDocument/2006/relationships/font" Target="fonts/font3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svg"/><Relationship Id="rId7" Type="http://schemas.openxmlformats.org/officeDocument/2006/relationships/image" Target="../media/image20.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svg"/><Relationship Id="rId2" Type="http://schemas.openxmlformats.org/officeDocument/2006/relationships/image" Target="../media/image32.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image" Target="../media/image39.svg"/></Relationships>
</file>

<file path=ppt/slides/_rels/slide17.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46.png"/><Relationship Id="rId7" Type="http://schemas.openxmlformats.org/officeDocument/2006/relationships/image" Target="../media/image3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44.svg"/><Relationship Id="rId4" Type="http://schemas.openxmlformats.org/officeDocument/2006/relationships/image" Target="../media/image47.png"/><Relationship Id="rId9"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sv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37.sv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svg"/></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AutoShape 2"/>
          <p:cNvSpPr/>
          <p:nvPr/>
        </p:nvSpPr>
        <p:spPr>
          <a:xfrm>
            <a:off x="8" y="1899493"/>
            <a:ext cx="21472865" cy="19050"/>
          </a:xfrm>
          <a:prstGeom prst="line">
            <a:avLst/>
          </a:prstGeom>
          <a:ln w="19050" cap="flat">
            <a:solidFill>
              <a:srgbClr val="0D203B"/>
            </a:solidFill>
            <a:prstDash val="solid"/>
            <a:headEnd type="none" w="sm" len="sm"/>
            <a:tailEnd type="none" w="sm" len="sm"/>
          </a:ln>
        </p:spPr>
      </p:sp>
      <p:sp>
        <p:nvSpPr>
          <p:cNvPr id="3" name="AutoShape 3"/>
          <p:cNvSpPr/>
          <p:nvPr/>
        </p:nvSpPr>
        <p:spPr>
          <a:xfrm>
            <a:off x="-11435415" y="5648433"/>
            <a:ext cx="21472865" cy="19050"/>
          </a:xfrm>
          <a:prstGeom prst="line">
            <a:avLst/>
          </a:prstGeom>
          <a:ln w="19050" cap="flat">
            <a:solidFill>
              <a:srgbClr val="0D203B"/>
            </a:solidFill>
            <a:prstDash val="solid"/>
            <a:headEnd type="none" w="sm" len="sm"/>
            <a:tailEnd type="none" w="sm" len="sm"/>
          </a:ln>
        </p:spPr>
      </p:sp>
      <p:grpSp>
        <p:nvGrpSpPr>
          <p:cNvPr id="4" name="Group 4"/>
          <p:cNvGrpSpPr/>
          <p:nvPr/>
        </p:nvGrpSpPr>
        <p:grpSpPr>
          <a:xfrm>
            <a:off x="10929468" y="2089993"/>
            <a:ext cx="7110964" cy="8216057"/>
            <a:chOff x="0" y="0"/>
            <a:chExt cx="5450905" cy="6298014"/>
          </a:xfrm>
        </p:grpSpPr>
        <p:sp>
          <p:nvSpPr>
            <p:cNvPr id="5" name="Freeform 5"/>
            <p:cNvSpPr/>
            <p:nvPr/>
          </p:nvSpPr>
          <p:spPr>
            <a:xfrm>
              <a:off x="0" y="0"/>
              <a:ext cx="5450905" cy="6298014"/>
            </a:xfrm>
            <a:custGeom>
              <a:avLst/>
              <a:gdLst/>
              <a:ahLst/>
              <a:cxnLst/>
              <a:rect l="l" t="t" r="r" b="b"/>
              <a:pathLst>
                <a:path w="5450905" h="6298014">
                  <a:moveTo>
                    <a:pt x="4814239" y="4273191"/>
                  </a:moveTo>
                  <a:lnTo>
                    <a:pt x="4857847" y="3661997"/>
                  </a:lnTo>
                  <a:lnTo>
                    <a:pt x="3488579" y="3488846"/>
                  </a:lnTo>
                  <a:lnTo>
                    <a:pt x="5450905" y="3218784"/>
                  </a:lnTo>
                  <a:lnTo>
                    <a:pt x="5290648" y="1157780"/>
                  </a:lnTo>
                  <a:lnTo>
                    <a:pt x="5062800" y="1188792"/>
                  </a:lnTo>
                  <a:lnTo>
                    <a:pt x="5063891" y="5169"/>
                  </a:lnTo>
                  <a:lnTo>
                    <a:pt x="303070" y="0"/>
                  </a:lnTo>
                  <a:lnTo>
                    <a:pt x="301980" y="1686276"/>
                  </a:lnTo>
                  <a:lnTo>
                    <a:pt x="1443399" y="1687568"/>
                  </a:lnTo>
                  <a:lnTo>
                    <a:pt x="555992" y="1809031"/>
                  </a:lnTo>
                  <a:lnTo>
                    <a:pt x="658469" y="3130916"/>
                  </a:lnTo>
                  <a:lnTo>
                    <a:pt x="119920" y="3063724"/>
                  </a:lnTo>
                  <a:lnTo>
                    <a:pt x="0" y="4744831"/>
                  </a:lnTo>
                  <a:lnTo>
                    <a:pt x="722790" y="4836575"/>
                  </a:lnTo>
                  <a:lnTo>
                    <a:pt x="325964" y="4890846"/>
                  </a:lnTo>
                  <a:lnTo>
                    <a:pt x="434982" y="6298014"/>
                  </a:lnTo>
                  <a:lnTo>
                    <a:pt x="5169638" y="5646762"/>
                  </a:lnTo>
                  <a:lnTo>
                    <a:pt x="5060620" y="4239594"/>
                  </a:lnTo>
                  <a:lnTo>
                    <a:pt x="4814239" y="4273191"/>
                  </a:lnTo>
                  <a:close/>
                </a:path>
              </a:pathLst>
            </a:custGeom>
            <a:blipFill>
              <a:blip r:embed="rId2"/>
              <a:stretch>
                <a:fillRect l="-7770" r="-7770"/>
              </a:stretch>
            </a:blipFill>
          </p:spPr>
        </p:sp>
      </p:grpSp>
      <p:sp>
        <p:nvSpPr>
          <p:cNvPr id="6" name="Freeform 6"/>
          <p:cNvSpPr/>
          <p:nvPr/>
        </p:nvSpPr>
        <p:spPr>
          <a:xfrm>
            <a:off x="12171563" y="161925"/>
            <a:ext cx="5524523" cy="1569686"/>
          </a:xfrm>
          <a:custGeom>
            <a:avLst/>
            <a:gdLst/>
            <a:ahLst/>
            <a:cxnLst/>
            <a:rect l="l" t="t" r="r" b="b"/>
            <a:pathLst>
              <a:path w="5524523" h="1569686">
                <a:moveTo>
                  <a:pt x="0" y="0"/>
                </a:moveTo>
                <a:lnTo>
                  <a:pt x="5524524" y="0"/>
                </a:lnTo>
                <a:lnTo>
                  <a:pt x="5524524" y="1569686"/>
                </a:lnTo>
                <a:lnTo>
                  <a:pt x="0" y="1569686"/>
                </a:lnTo>
                <a:lnTo>
                  <a:pt x="0" y="0"/>
                </a:lnTo>
                <a:close/>
              </a:path>
            </a:pathLst>
          </a:custGeom>
          <a:blipFill>
            <a:blip r:embed="rId3"/>
            <a:stretch>
              <a:fillRect t="-2500" r="-975" b="-560"/>
            </a:stretch>
          </a:blipFill>
        </p:spPr>
      </p:sp>
      <p:sp>
        <p:nvSpPr>
          <p:cNvPr id="7" name="Freeform 7"/>
          <p:cNvSpPr/>
          <p:nvPr/>
        </p:nvSpPr>
        <p:spPr>
          <a:xfrm>
            <a:off x="759860" y="138394"/>
            <a:ext cx="4248579" cy="1593217"/>
          </a:xfrm>
          <a:custGeom>
            <a:avLst/>
            <a:gdLst/>
            <a:ahLst/>
            <a:cxnLst/>
            <a:rect l="l" t="t" r="r" b="b"/>
            <a:pathLst>
              <a:path w="4248579" h="1593217">
                <a:moveTo>
                  <a:pt x="0" y="0"/>
                </a:moveTo>
                <a:lnTo>
                  <a:pt x="4248579" y="0"/>
                </a:lnTo>
                <a:lnTo>
                  <a:pt x="4248579" y="1593217"/>
                </a:lnTo>
                <a:lnTo>
                  <a:pt x="0" y="1593217"/>
                </a:lnTo>
                <a:lnTo>
                  <a:pt x="0" y="0"/>
                </a:lnTo>
                <a:close/>
              </a:path>
            </a:pathLst>
          </a:custGeom>
          <a:blipFill>
            <a:blip r:embed="rId4"/>
            <a:stretch>
              <a:fillRect/>
            </a:stretch>
          </a:blipFill>
        </p:spPr>
      </p:sp>
      <p:sp>
        <p:nvSpPr>
          <p:cNvPr id="8" name="TextBox 8"/>
          <p:cNvSpPr txBox="1"/>
          <p:nvPr/>
        </p:nvSpPr>
        <p:spPr>
          <a:xfrm>
            <a:off x="115997" y="2531528"/>
            <a:ext cx="10351998" cy="3377357"/>
          </a:xfrm>
          <a:prstGeom prst="rect">
            <a:avLst/>
          </a:prstGeom>
        </p:spPr>
        <p:txBody>
          <a:bodyPr lIns="0" tIns="0" rIns="0" bIns="0" rtlCol="0" anchor="t">
            <a:spAutoFit/>
          </a:bodyPr>
          <a:lstStyle/>
          <a:p>
            <a:pPr marL="0" lvl="0" indent="0" algn="ctr">
              <a:lnSpc>
                <a:spcPts val="8680"/>
              </a:lnSpc>
              <a:spcBef>
                <a:spcPct val="0"/>
              </a:spcBef>
            </a:pPr>
            <a:r>
              <a:rPr lang="en-US" sz="9644">
                <a:solidFill>
                  <a:srgbClr val="0D203B"/>
                </a:solidFill>
                <a:latin typeface="Alkalami"/>
                <a:ea typeface="Alkalami"/>
                <a:cs typeface="Alkalami"/>
                <a:sym typeface="Alkalami"/>
              </a:rPr>
              <a:t>INTOXICATIONS ALIMENTAIRES AU MAROC</a:t>
            </a:r>
          </a:p>
        </p:txBody>
      </p:sp>
      <p:sp>
        <p:nvSpPr>
          <p:cNvPr id="9" name="TextBox 9"/>
          <p:cNvSpPr txBox="1"/>
          <p:nvPr/>
        </p:nvSpPr>
        <p:spPr>
          <a:xfrm>
            <a:off x="303473" y="6093246"/>
            <a:ext cx="5532872" cy="2011320"/>
          </a:xfrm>
          <a:prstGeom prst="rect">
            <a:avLst/>
          </a:prstGeom>
        </p:spPr>
        <p:txBody>
          <a:bodyPr lIns="0" tIns="0" rIns="0" bIns="0" rtlCol="0" anchor="t">
            <a:spAutoFit/>
          </a:bodyPr>
          <a:lstStyle/>
          <a:p>
            <a:pPr algn="l">
              <a:lnSpc>
                <a:spcPts val="4027"/>
              </a:lnSpc>
            </a:pPr>
            <a:r>
              <a:rPr lang="en-US" sz="2876" b="1" dirty="0" err="1">
                <a:solidFill>
                  <a:srgbClr val="0D203B"/>
                </a:solidFill>
                <a:latin typeface="Codec Pro Bold"/>
                <a:ea typeface="Codec Pro Bold"/>
                <a:cs typeface="Codec Pro Bold"/>
                <a:sym typeface="Codec Pro Bold"/>
              </a:rPr>
              <a:t>Realisé</a:t>
            </a:r>
            <a:r>
              <a:rPr lang="en-US" sz="2876" b="1" dirty="0">
                <a:solidFill>
                  <a:srgbClr val="0D203B"/>
                </a:solidFill>
                <a:latin typeface="Codec Pro Bold"/>
                <a:ea typeface="Codec Pro Bold"/>
                <a:cs typeface="Codec Pro Bold"/>
                <a:sym typeface="Codec Pro Bold"/>
              </a:rPr>
              <a:t>  par :</a:t>
            </a:r>
          </a:p>
          <a:p>
            <a:pPr algn="l">
              <a:lnSpc>
                <a:spcPts val="4027"/>
              </a:lnSpc>
            </a:pPr>
            <a:r>
              <a:rPr lang="en-US" sz="2876" dirty="0" err="1">
                <a:solidFill>
                  <a:srgbClr val="0D203B"/>
                </a:solidFill>
                <a:latin typeface="Codec Pro"/>
                <a:ea typeface="Codec Pro"/>
                <a:cs typeface="Codec Pro"/>
                <a:sym typeface="Codec Pro"/>
              </a:rPr>
              <a:t>Nisrine</a:t>
            </a:r>
            <a:r>
              <a:rPr lang="en-US" sz="2876" dirty="0">
                <a:solidFill>
                  <a:srgbClr val="0D203B"/>
                </a:solidFill>
                <a:latin typeface="Codec Pro"/>
                <a:ea typeface="Codec Pro"/>
                <a:cs typeface="Codec Pro"/>
                <a:sym typeface="Codec Pro"/>
              </a:rPr>
              <a:t> </a:t>
            </a:r>
            <a:r>
              <a:rPr lang="en-US" sz="2876" dirty="0" err="1">
                <a:solidFill>
                  <a:srgbClr val="0D203B"/>
                </a:solidFill>
                <a:latin typeface="Codec Pro"/>
                <a:ea typeface="Codec Pro"/>
                <a:cs typeface="Codec Pro"/>
                <a:sym typeface="Codec Pro"/>
              </a:rPr>
              <a:t>Ourahou</a:t>
            </a:r>
            <a:r>
              <a:rPr lang="en-US" sz="2876" dirty="0">
                <a:solidFill>
                  <a:srgbClr val="0D203B"/>
                </a:solidFill>
                <a:latin typeface="Codec Pro"/>
                <a:ea typeface="Codec Pro"/>
                <a:cs typeface="Codec Pro"/>
                <a:sym typeface="Codec Pro"/>
              </a:rPr>
              <a:t> </a:t>
            </a:r>
          </a:p>
          <a:p>
            <a:pPr algn="l">
              <a:lnSpc>
                <a:spcPts val="4027"/>
              </a:lnSpc>
            </a:pPr>
            <a:endParaRPr lang="en-US" sz="2876" dirty="0">
              <a:solidFill>
                <a:srgbClr val="0D203B"/>
              </a:solidFill>
              <a:latin typeface="Codec Pro"/>
              <a:ea typeface="Codec Pro"/>
              <a:cs typeface="Codec Pro"/>
              <a:sym typeface="Codec Pro"/>
            </a:endParaRPr>
          </a:p>
          <a:p>
            <a:pPr algn="ctr">
              <a:lnSpc>
                <a:spcPts val="4027"/>
              </a:lnSpc>
              <a:spcBef>
                <a:spcPct val="0"/>
              </a:spcBef>
            </a:pPr>
            <a:endParaRPr lang="en-US" sz="2876" dirty="0">
              <a:solidFill>
                <a:srgbClr val="0D203B"/>
              </a:solidFill>
              <a:latin typeface="Codec Pro"/>
              <a:ea typeface="Codec Pro"/>
              <a:cs typeface="Codec Pro"/>
              <a:sym typeface="Codec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AutoShape 2"/>
          <p:cNvSpPr/>
          <p:nvPr/>
        </p:nvSpPr>
        <p:spPr>
          <a:xfrm>
            <a:off x="2596243" y="3346633"/>
            <a:ext cx="17637395" cy="0"/>
          </a:xfrm>
          <a:prstGeom prst="line">
            <a:avLst/>
          </a:prstGeom>
          <a:ln w="19050" cap="flat">
            <a:solidFill>
              <a:srgbClr val="0D203B"/>
            </a:solidFill>
            <a:prstDash val="solid"/>
            <a:headEnd type="none" w="sm" len="sm"/>
            <a:tailEnd type="none" w="sm" len="sm"/>
          </a:ln>
        </p:spPr>
      </p:sp>
      <p:sp>
        <p:nvSpPr>
          <p:cNvPr id="3" name="AutoShape 3"/>
          <p:cNvSpPr/>
          <p:nvPr/>
        </p:nvSpPr>
        <p:spPr>
          <a:xfrm>
            <a:off x="2605768" y="6847495"/>
            <a:ext cx="17637395" cy="0"/>
          </a:xfrm>
          <a:prstGeom prst="line">
            <a:avLst/>
          </a:prstGeom>
          <a:ln w="19050" cap="flat">
            <a:solidFill>
              <a:srgbClr val="0D203B"/>
            </a:solidFill>
            <a:prstDash val="solid"/>
            <a:headEnd type="none" w="sm" len="sm"/>
            <a:tailEnd type="none" w="sm" len="sm"/>
          </a:ln>
        </p:spPr>
      </p:sp>
      <p:sp>
        <p:nvSpPr>
          <p:cNvPr id="4" name="AutoShape 4"/>
          <p:cNvSpPr/>
          <p:nvPr/>
        </p:nvSpPr>
        <p:spPr>
          <a:xfrm flipV="1">
            <a:off x="2596243" y="-8224766"/>
            <a:ext cx="0" cy="21472873"/>
          </a:xfrm>
          <a:prstGeom prst="line">
            <a:avLst/>
          </a:prstGeom>
          <a:ln w="19050" cap="flat">
            <a:solidFill>
              <a:srgbClr val="0D203B"/>
            </a:solidFill>
            <a:prstDash val="solid"/>
            <a:headEnd type="none" w="sm" len="sm"/>
            <a:tailEnd type="none" w="sm" len="sm"/>
          </a:ln>
        </p:spPr>
      </p:sp>
      <p:sp>
        <p:nvSpPr>
          <p:cNvPr id="5" name="AutoShape 5"/>
          <p:cNvSpPr/>
          <p:nvPr/>
        </p:nvSpPr>
        <p:spPr>
          <a:xfrm flipV="1">
            <a:off x="9784499" y="-7885522"/>
            <a:ext cx="0" cy="21472873"/>
          </a:xfrm>
          <a:prstGeom prst="line">
            <a:avLst/>
          </a:prstGeom>
          <a:ln w="19050" cap="flat">
            <a:solidFill>
              <a:srgbClr val="0D203B"/>
            </a:solidFill>
            <a:prstDash val="solid"/>
            <a:headEnd type="none" w="sm" len="sm"/>
            <a:tailEnd type="none" w="sm" len="sm"/>
          </a:ln>
        </p:spPr>
      </p:sp>
      <p:sp>
        <p:nvSpPr>
          <p:cNvPr id="6" name="TextBox 6"/>
          <p:cNvSpPr txBox="1"/>
          <p:nvPr/>
        </p:nvSpPr>
        <p:spPr>
          <a:xfrm>
            <a:off x="3790835" y="1194671"/>
            <a:ext cx="4718893" cy="711200"/>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1. INTRODUCTION </a:t>
            </a:r>
          </a:p>
        </p:txBody>
      </p:sp>
      <p:sp>
        <p:nvSpPr>
          <p:cNvPr id="7" name="TextBox 7"/>
          <p:cNvSpPr txBox="1"/>
          <p:nvPr/>
        </p:nvSpPr>
        <p:spPr>
          <a:xfrm>
            <a:off x="3593486" y="3999230"/>
            <a:ext cx="5193769" cy="1144270"/>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2. CONTEXTE GÉNÉRAL</a:t>
            </a:r>
          </a:p>
          <a:p>
            <a:pPr algn="l">
              <a:lnSpc>
                <a:spcPts val="3359"/>
              </a:lnSpc>
            </a:pPr>
            <a:endParaRPr lang="en-US" sz="3500" spc="-70">
              <a:solidFill>
                <a:srgbClr val="0D203B"/>
              </a:solidFill>
              <a:latin typeface="Kitchakan"/>
              <a:ea typeface="Kitchakan"/>
              <a:cs typeface="Kitchakan"/>
              <a:sym typeface="Kitchakan"/>
            </a:endParaRPr>
          </a:p>
        </p:txBody>
      </p:sp>
      <p:sp>
        <p:nvSpPr>
          <p:cNvPr id="8" name="TextBox 8"/>
          <p:cNvSpPr txBox="1"/>
          <p:nvPr/>
        </p:nvSpPr>
        <p:spPr>
          <a:xfrm>
            <a:off x="3790835" y="7714270"/>
            <a:ext cx="4718893" cy="1144270"/>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3. MÉTHODOLOGIE</a:t>
            </a:r>
          </a:p>
          <a:p>
            <a:pPr algn="l">
              <a:lnSpc>
                <a:spcPts val="3359"/>
              </a:lnSpc>
            </a:pPr>
            <a:endParaRPr lang="en-US" sz="3500" spc="-70">
              <a:solidFill>
                <a:srgbClr val="0D203B"/>
              </a:solidFill>
              <a:latin typeface="Kitchakan"/>
              <a:ea typeface="Kitchakan"/>
              <a:cs typeface="Kitchakan"/>
              <a:sym typeface="Kitchakan"/>
            </a:endParaRPr>
          </a:p>
        </p:txBody>
      </p:sp>
      <p:sp>
        <p:nvSpPr>
          <p:cNvPr id="9" name="TextBox 9"/>
          <p:cNvSpPr txBox="1"/>
          <p:nvPr/>
        </p:nvSpPr>
        <p:spPr>
          <a:xfrm>
            <a:off x="10789413" y="1194671"/>
            <a:ext cx="6880157" cy="3001645"/>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4. DISCUSSION :</a:t>
            </a:r>
          </a:p>
          <a:p>
            <a:pPr algn="l">
              <a:lnSpc>
                <a:spcPts val="4900"/>
              </a:lnSpc>
            </a:pPr>
            <a:r>
              <a:rPr lang="en-US" sz="3500" spc="-70">
                <a:solidFill>
                  <a:srgbClr val="0D203B"/>
                </a:solidFill>
                <a:latin typeface="Kitchakan"/>
                <a:ea typeface="Kitchakan"/>
                <a:cs typeface="Kitchakan"/>
                <a:sym typeface="Kitchakan"/>
              </a:rPr>
              <a:t>CONCEPTION ET FONCTIONNALITÉS DE L'INTERFACE GRAPHIQUE</a:t>
            </a:r>
          </a:p>
          <a:p>
            <a:pPr algn="l">
              <a:lnSpc>
                <a:spcPts val="4900"/>
              </a:lnSpc>
            </a:pPr>
            <a:endParaRPr lang="en-US" sz="3500" spc="-70">
              <a:solidFill>
                <a:srgbClr val="0D203B"/>
              </a:solidFill>
              <a:latin typeface="Kitchakan"/>
              <a:ea typeface="Kitchakan"/>
              <a:cs typeface="Kitchakan"/>
              <a:sym typeface="Kitchakan"/>
            </a:endParaRPr>
          </a:p>
          <a:p>
            <a:pPr algn="l">
              <a:lnSpc>
                <a:spcPts val="3359"/>
              </a:lnSpc>
            </a:pPr>
            <a:endParaRPr lang="en-US" sz="3500" spc="-70">
              <a:solidFill>
                <a:srgbClr val="0D203B"/>
              </a:solidFill>
              <a:latin typeface="Kitchakan"/>
              <a:ea typeface="Kitchakan"/>
              <a:cs typeface="Kitchakan"/>
              <a:sym typeface="Kitchakan"/>
            </a:endParaRPr>
          </a:p>
        </p:txBody>
      </p:sp>
      <p:sp>
        <p:nvSpPr>
          <p:cNvPr id="10" name="TextBox 10"/>
          <p:cNvSpPr txBox="1"/>
          <p:nvPr/>
        </p:nvSpPr>
        <p:spPr>
          <a:xfrm>
            <a:off x="10789413" y="3552190"/>
            <a:ext cx="6704044" cy="3001645"/>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5. RÉSULTATS: ANALYSE ET RÉSULTATS DES GRAPHIQUES ISSUS DE L'INTERFACE : DISTRIBUTION ET FACTEURS DE RISQUE DES INCIDENTS ALIMENTAIRES</a:t>
            </a:r>
          </a:p>
          <a:p>
            <a:pPr algn="l">
              <a:lnSpc>
                <a:spcPts val="3359"/>
              </a:lnSpc>
            </a:pPr>
            <a:endParaRPr lang="en-US" sz="3500" spc="-70">
              <a:solidFill>
                <a:srgbClr val="0D203B"/>
              </a:solidFill>
              <a:latin typeface="Kitchakan"/>
              <a:ea typeface="Kitchakan"/>
              <a:cs typeface="Kitchakan"/>
              <a:sym typeface="Kitchakan"/>
            </a:endParaRPr>
          </a:p>
        </p:txBody>
      </p:sp>
      <p:sp>
        <p:nvSpPr>
          <p:cNvPr id="11" name="TextBox 11"/>
          <p:cNvSpPr txBox="1"/>
          <p:nvPr/>
        </p:nvSpPr>
        <p:spPr>
          <a:xfrm>
            <a:off x="10789413" y="7661525"/>
            <a:ext cx="5978876" cy="1144270"/>
          </a:xfrm>
          <a:prstGeom prst="rect">
            <a:avLst/>
          </a:prstGeom>
        </p:spPr>
        <p:txBody>
          <a:bodyPr lIns="0" tIns="0" rIns="0" bIns="0" rtlCol="0" anchor="t">
            <a:spAutoFit/>
          </a:bodyPr>
          <a:lstStyle/>
          <a:p>
            <a:pPr algn="l">
              <a:lnSpc>
                <a:spcPts val="4900"/>
              </a:lnSpc>
            </a:pPr>
            <a:r>
              <a:rPr lang="en-US" sz="3500" spc="-70">
                <a:solidFill>
                  <a:srgbClr val="0D203B"/>
                </a:solidFill>
                <a:latin typeface="Kitchakan"/>
                <a:ea typeface="Kitchakan"/>
                <a:cs typeface="Kitchakan"/>
                <a:sym typeface="Kitchakan"/>
              </a:rPr>
              <a:t>6. CONCLUSION</a:t>
            </a:r>
          </a:p>
          <a:p>
            <a:pPr algn="l">
              <a:lnSpc>
                <a:spcPts val="3359"/>
              </a:lnSpc>
            </a:pPr>
            <a:endParaRPr lang="en-US" sz="3500" spc="-70">
              <a:solidFill>
                <a:srgbClr val="0D203B"/>
              </a:solidFill>
              <a:latin typeface="Kitchakan"/>
              <a:ea typeface="Kitchakan"/>
              <a:cs typeface="Kitchakan"/>
              <a:sym typeface="Kitchakan"/>
            </a:endParaRPr>
          </a:p>
        </p:txBody>
      </p:sp>
      <p:grpSp>
        <p:nvGrpSpPr>
          <p:cNvPr id="12" name="Group 12"/>
          <p:cNvGrpSpPr/>
          <p:nvPr/>
        </p:nvGrpSpPr>
        <p:grpSpPr>
          <a:xfrm>
            <a:off x="0" y="0"/>
            <a:ext cx="2596243" cy="10287000"/>
            <a:chOff x="0" y="0"/>
            <a:chExt cx="683784" cy="2709333"/>
          </a:xfrm>
        </p:grpSpPr>
        <p:sp>
          <p:nvSpPr>
            <p:cNvPr id="13" name="Freeform 13"/>
            <p:cNvSpPr/>
            <p:nvPr/>
          </p:nvSpPr>
          <p:spPr>
            <a:xfrm>
              <a:off x="0" y="0"/>
              <a:ext cx="683784" cy="2709333"/>
            </a:xfrm>
            <a:custGeom>
              <a:avLst/>
              <a:gdLst/>
              <a:ahLst/>
              <a:cxnLst/>
              <a:rect l="l" t="t" r="r" b="b"/>
              <a:pathLst>
                <a:path w="683784" h="2709333">
                  <a:moveTo>
                    <a:pt x="0" y="0"/>
                  </a:moveTo>
                  <a:lnTo>
                    <a:pt x="683784" y="0"/>
                  </a:lnTo>
                  <a:lnTo>
                    <a:pt x="683784" y="2709333"/>
                  </a:lnTo>
                  <a:lnTo>
                    <a:pt x="0" y="2709333"/>
                  </a:lnTo>
                  <a:close/>
                </a:path>
              </a:pathLst>
            </a:custGeom>
            <a:solidFill>
              <a:srgbClr val="EAFAB2"/>
            </a:solidFill>
            <a:ln cap="sq">
              <a:noFill/>
              <a:prstDash val="solid"/>
              <a:miter/>
            </a:ln>
          </p:spPr>
        </p:sp>
        <p:sp>
          <p:nvSpPr>
            <p:cNvPr id="14" name="TextBox 14"/>
            <p:cNvSpPr txBox="1"/>
            <p:nvPr/>
          </p:nvSpPr>
          <p:spPr>
            <a:xfrm>
              <a:off x="0" y="19050"/>
              <a:ext cx="683784" cy="2690283"/>
            </a:xfrm>
            <a:prstGeom prst="rect">
              <a:avLst/>
            </a:prstGeom>
          </p:spPr>
          <p:txBody>
            <a:bodyPr lIns="50800" tIns="50800" rIns="50800" bIns="50800" rtlCol="0" anchor="ctr"/>
            <a:lstStyle/>
            <a:p>
              <a:pPr algn="ctr">
                <a:lnSpc>
                  <a:spcPts val="1929"/>
                </a:lnSpc>
              </a:pPr>
              <a:endParaRPr/>
            </a:p>
          </p:txBody>
        </p:sp>
      </p:grpSp>
      <p:sp>
        <p:nvSpPr>
          <p:cNvPr id="15" name="TextBox 15"/>
          <p:cNvSpPr txBox="1"/>
          <p:nvPr/>
        </p:nvSpPr>
        <p:spPr>
          <a:xfrm rot="-5400000">
            <a:off x="-3127504" y="3082050"/>
            <a:ext cx="8796271" cy="2651221"/>
          </a:xfrm>
          <a:prstGeom prst="rect">
            <a:avLst/>
          </a:prstGeom>
        </p:spPr>
        <p:txBody>
          <a:bodyPr lIns="0" tIns="0" rIns="0" bIns="0" rtlCol="0" anchor="t">
            <a:spAutoFit/>
          </a:bodyPr>
          <a:lstStyle/>
          <a:p>
            <a:pPr marL="0" lvl="0" indent="0" algn="just">
              <a:lnSpc>
                <a:spcPts val="15152"/>
              </a:lnSpc>
              <a:spcBef>
                <a:spcPct val="0"/>
              </a:spcBef>
            </a:pPr>
            <a:r>
              <a:rPr lang="en-US" sz="16835" b="1">
                <a:solidFill>
                  <a:srgbClr val="000000"/>
                </a:solidFill>
                <a:latin typeface="Kitchakan Bold"/>
                <a:ea typeface="Kitchakan Bold"/>
                <a:cs typeface="Kitchakan Bold"/>
                <a:sym typeface="Kitchakan Bold"/>
              </a:rPr>
              <a:t>SOMMAIRE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983698" y="1096953"/>
            <a:ext cx="5897083" cy="1287453"/>
            <a:chOff x="0" y="0"/>
            <a:chExt cx="1553141" cy="339082"/>
          </a:xfrm>
        </p:grpSpPr>
        <p:sp>
          <p:nvSpPr>
            <p:cNvPr id="3" name="Freeform 3"/>
            <p:cNvSpPr/>
            <p:nvPr/>
          </p:nvSpPr>
          <p:spPr>
            <a:xfrm>
              <a:off x="0" y="0"/>
              <a:ext cx="1553141" cy="339082"/>
            </a:xfrm>
            <a:custGeom>
              <a:avLst/>
              <a:gdLst/>
              <a:ahLst/>
              <a:cxnLst/>
              <a:rect l="l" t="t" r="r" b="b"/>
              <a:pathLst>
                <a:path w="1553141" h="339082">
                  <a:moveTo>
                    <a:pt x="0" y="0"/>
                  </a:moveTo>
                  <a:lnTo>
                    <a:pt x="1553141" y="0"/>
                  </a:lnTo>
                  <a:lnTo>
                    <a:pt x="1553141" y="339082"/>
                  </a:lnTo>
                  <a:lnTo>
                    <a:pt x="0" y="339082"/>
                  </a:lnTo>
                  <a:close/>
                </a:path>
              </a:pathLst>
            </a:custGeom>
            <a:solidFill>
              <a:srgbClr val="EAFAB2"/>
            </a:solidFill>
          </p:spPr>
        </p:sp>
        <p:sp>
          <p:nvSpPr>
            <p:cNvPr id="4" name="TextBox 4"/>
            <p:cNvSpPr txBox="1"/>
            <p:nvPr/>
          </p:nvSpPr>
          <p:spPr>
            <a:xfrm>
              <a:off x="0" y="-38100"/>
              <a:ext cx="1553141" cy="37718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346859"/>
            <a:ext cx="6660341" cy="854315"/>
          </a:xfrm>
          <a:prstGeom prst="rect">
            <a:avLst/>
          </a:prstGeom>
        </p:spPr>
        <p:txBody>
          <a:bodyPr lIns="0" tIns="0" rIns="0" bIns="0" rtlCol="0" anchor="t">
            <a:spAutoFit/>
          </a:bodyPr>
          <a:lstStyle/>
          <a:p>
            <a:pPr algn="l">
              <a:lnSpc>
                <a:spcPts val="6542"/>
              </a:lnSpc>
            </a:pPr>
            <a:r>
              <a:rPr lang="en-US" sz="6057" b="1">
                <a:solidFill>
                  <a:srgbClr val="8C52FF"/>
                </a:solidFill>
                <a:latin typeface="DM Sans Bold"/>
                <a:ea typeface="DM Sans Bold"/>
                <a:cs typeface="DM Sans Bold"/>
                <a:sym typeface="DM Sans Bold"/>
              </a:rPr>
              <a:t>INTRODUCTION</a:t>
            </a:r>
          </a:p>
        </p:txBody>
      </p:sp>
      <p:sp>
        <p:nvSpPr>
          <p:cNvPr id="6" name="TextBox 6"/>
          <p:cNvSpPr txBox="1"/>
          <p:nvPr/>
        </p:nvSpPr>
        <p:spPr>
          <a:xfrm>
            <a:off x="6880781" y="3265353"/>
            <a:ext cx="9756515" cy="5408454"/>
          </a:xfrm>
          <a:prstGeom prst="rect">
            <a:avLst/>
          </a:prstGeom>
        </p:spPr>
        <p:txBody>
          <a:bodyPr lIns="0" tIns="0" rIns="0" bIns="0" rtlCol="0" anchor="t">
            <a:spAutoFit/>
          </a:bodyPr>
          <a:lstStyle/>
          <a:p>
            <a:pPr algn="l">
              <a:lnSpc>
                <a:spcPts val="4296"/>
              </a:lnSpc>
            </a:pPr>
            <a:r>
              <a:rPr lang="en-US" sz="3068">
                <a:solidFill>
                  <a:srgbClr val="000000"/>
                </a:solidFill>
                <a:latin typeface="DM Sans"/>
                <a:ea typeface="DM Sans"/>
                <a:cs typeface="DM Sans"/>
                <a:sym typeface="DM Sans"/>
              </a:rPr>
              <a:t>   Les intoxications alimentaires représentent un problème de santé publique majeur au Maroc. les risques liés à la consommation d’aliments contaminés ou mal manipulés sont exacerbés par des facteurs tels que les variations climatiques, les méthodes de conservation inadéquates et les différences dans les pratiques alimentaires entre les régions. Ces incidents peuvent entraîner des conséquences graves, allant de simples troubles digestifs à des hospitalisations, voire des décès.</a:t>
            </a:r>
          </a:p>
        </p:txBody>
      </p:sp>
      <p:grpSp>
        <p:nvGrpSpPr>
          <p:cNvPr id="7" name="Group 7"/>
          <p:cNvGrpSpPr/>
          <p:nvPr/>
        </p:nvGrpSpPr>
        <p:grpSpPr>
          <a:xfrm>
            <a:off x="272259" y="2720328"/>
            <a:ext cx="5425707" cy="6074676"/>
            <a:chOff x="0" y="0"/>
            <a:chExt cx="1147777" cy="1285063"/>
          </a:xfrm>
        </p:grpSpPr>
        <p:sp>
          <p:nvSpPr>
            <p:cNvPr id="8" name="Freeform 8"/>
            <p:cNvSpPr/>
            <p:nvPr/>
          </p:nvSpPr>
          <p:spPr>
            <a:xfrm>
              <a:off x="0" y="0"/>
              <a:ext cx="1147777" cy="1285063"/>
            </a:xfrm>
            <a:custGeom>
              <a:avLst/>
              <a:gdLst/>
              <a:ahLst/>
              <a:cxnLst/>
              <a:rect l="l" t="t" r="r" b="b"/>
              <a:pathLst>
                <a:path w="1147777" h="1285063">
                  <a:moveTo>
                    <a:pt x="28538" y="0"/>
                  </a:moveTo>
                  <a:lnTo>
                    <a:pt x="1119239" y="0"/>
                  </a:lnTo>
                  <a:cubicBezTo>
                    <a:pt x="1126808" y="0"/>
                    <a:pt x="1134067" y="3007"/>
                    <a:pt x="1139419" y="8359"/>
                  </a:cubicBezTo>
                  <a:cubicBezTo>
                    <a:pt x="1144771" y="13710"/>
                    <a:pt x="1147777" y="20969"/>
                    <a:pt x="1147777" y="28538"/>
                  </a:cubicBezTo>
                  <a:lnTo>
                    <a:pt x="1147777" y="1256525"/>
                  </a:lnTo>
                  <a:cubicBezTo>
                    <a:pt x="1147777" y="1272286"/>
                    <a:pt x="1135000" y="1285063"/>
                    <a:pt x="1119239" y="1285063"/>
                  </a:cubicBezTo>
                  <a:lnTo>
                    <a:pt x="28538" y="1285063"/>
                  </a:lnTo>
                  <a:cubicBezTo>
                    <a:pt x="20969" y="1285063"/>
                    <a:pt x="13710" y="1282057"/>
                    <a:pt x="8359" y="1276705"/>
                  </a:cubicBezTo>
                  <a:cubicBezTo>
                    <a:pt x="3007" y="1271353"/>
                    <a:pt x="0" y="1264094"/>
                    <a:pt x="0" y="1256525"/>
                  </a:cubicBezTo>
                  <a:lnTo>
                    <a:pt x="0" y="28538"/>
                  </a:lnTo>
                  <a:cubicBezTo>
                    <a:pt x="0" y="20969"/>
                    <a:pt x="3007" y="13710"/>
                    <a:pt x="8359" y="8359"/>
                  </a:cubicBezTo>
                  <a:cubicBezTo>
                    <a:pt x="13710" y="3007"/>
                    <a:pt x="20969" y="0"/>
                    <a:pt x="28538" y="0"/>
                  </a:cubicBezTo>
                  <a:close/>
                </a:path>
              </a:pathLst>
            </a:custGeom>
            <a:blipFill>
              <a:blip r:embed="rId2"/>
              <a:stretch>
                <a:fillRect l="-5980" r="-5980"/>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10201967" y="-9146"/>
            <a:ext cx="8086033" cy="10287000"/>
            <a:chOff x="0" y="0"/>
            <a:chExt cx="2129655" cy="2709333"/>
          </a:xfrm>
        </p:grpSpPr>
        <p:sp>
          <p:nvSpPr>
            <p:cNvPr id="3" name="Freeform 3"/>
            <p:cNvSpPr/>
            <p:nvPr/>
          </p:nvSpPr>
          <p:spPr>
            <a:xfrm>
              <a:off x="0" y="0"/>
              <a:ext cx="2129655" cy="2709333"/>
            </a:xfrm>
            <a:custGeom>
              <a:avLst/>
              <a:gdLst/>
              <a:ahLst/>
              <a:cxnLst/>
              <a:rect l="l" t="t" r="r" b="b"/>
              <a:pathLst>
                <a:path w="2129655" h="2709333">
                  <a:moveTo>
                    <a:pt x="0" y="0"/>
                  </a:moveTo>
                  <a:lnTo>
                    <a:pt x="2129655" y="0"/>
                  </a:lnTo>
                  <a:lnTo>
                    <a:pt x="2129655" y="2709333"/>
                  </a:lnTo>
                  <a:lnTo>
                    <a:pt x="0" y="2709333"/>
                  </a:lnTo>
                  <a:close/>
                </a:path>
              </a:pathLst>
            </a:custGeom>
            <a:solidFill>
              <a:srgbClr val="EAFAB2"/>
            </a:solidFill>
          </p:spPr>
        </p:sp>
        <p:sp>
          <p:nvSpPr>
            <p:cNvPr id="4" name="TextBox 4"/>
            <p:cNvSpPr txBox="1"/>
            <p:nvPr/>
          </p:nvSpPr>
          <p:spPr>
            <a:xfrm>
              <a:off x="0" y="-76200"/>
              <a:ext cx="2129655" cy="278553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401466" y="654910"/>
            <a:ext cx="3024682" cy="3519630"/>
            <a:chOff x="0" y="0"/>
            <a:chExt cx="698500" cy="812800"/>
          </a:xfrm>
        </p:grpSpPr>
        <p:sp>
          <p:nvSpPr>
            <p:cNvPr id="6" name="Freeform 6"/>
            <p:cNvSpPr/>
            <p:nvPr/>
          </p:nvSpPr>
          <p:spPr>
            <a:xfrm>
              <a:off x="0" y="8448"/>
              <a:ext cx="698500" cy="795905"/>
            </a:xfrm>
            <a:custGeom>
              <a:avLst/>
              <a:gdLst/>
              <a:ahLst/>
              <a:cxnLst/>
              <a:rect l="l" t="t" r="r" b="b"/>
              <a:pathLst>
                <a:path w="698500" h="795905">
                  <a:moveTo>
                    <a:pt x="387275" y="13676"/>
                  </a:moveTo>
                  <a:lnTo>
                    <a:pt x="660475" y="172628"/>
                  </a:lnTo>
                  <a:cubicBezTo>
                    <a:pt x="684017" y="186326"/>
                    <a:pt x="698500" y="211508"/>
                    <a:pt x="698500" y="238745"/>
                  </a:cubicBezTo>
                  <a:lnTo>
                    <a:pt x="698500" y="557159"/>
                  </a:lnTo>
                  <a:cubicBezTo>
                    <a:pt x="698500" y="584396"/>
                    <a:pt x="684017" y="609578"/>
                    <a:pt x="660475" y="623276"/>
                  </a:cubicBezTo>
                  <a:lnTo>
                    <a:pt x="387275" y="782228"/>
                  </a:lnTo>
                  <a:cubicBezTo>
                    <a:pt x="363770" y="795904"/>
                    <a:pt x="334730" y="795904"/>
                    <a:pt x="311225" y="782228"/>
                  </a:cubicBezTo>
                  <a:lnTo>
                    <a:pt x="38025" y="623276"/>
                  </a:lnTo>
                  <a:cubicBezTo>
                    <a:pt x="14483" y="609578"/>
                    <a:pt x="0" y="584396"/>
                    <a:pt x="0" y="557159"/>
                  </a:cubicBezTo>
                  <a:lnTo>
                    <a:pt x="0" y="238745"/>
                  </a:lnTo>
                  <a:cubicBezTo>
                    <a:pt x="0" y="211508"/>
                    <a:pt x="14483" y="186326"/>
                    <a:pt x="38025" y="172628"/>
                  </a:cubicBezTo>
                  <a:lnTo>
                    <a:pt x="311225" y="13676"/>
                  </a:lnTo>
                  <a:cubicBezTo>
                    <a:pt x="334730" y="0"/>
                    <a:pt x="363770" y="0"/>
                    <a:pt x="387275" y="13676"/>
                  </a:cubicBezTo>
                  <a:close/>
                </a:path>
              </a:pathLst>
            </a:custGeom>
            <a:blipFill>
              <a:blip r:embed="rId2"/>
              <a:stretch>
                <a:fillRect l="-94636" t="-37899" r="-24385"/>
              </a:stretch>
            </a:blipFill>
          </p:spPr>
        </p:sp>
      </p:grpSp>
      <p:grpSp>
        <p:nvGrpSpPr>
          <p:cNvPr id="7" name="Group 7"/>
          <p:cNvGrpSpPr/>
          <p:nvPr/>
        </p:nvGrpSpPr>
        <p:grpSpPr>
          <a:xfrm>
            <a:off x="197186" y="5975423"/>
            <a:ext cx="3024682" cy="3519630"/>
            <a:chOff x="0" y="0"/>
            <a:chExt cx="698500" cy="812800"/>
          </a:xfrm>
        </p:grpSpPr>
        <p:sp>
          <p:nvSpPr>
            <p:cNvPr id="8" name="Freeform 8"/>
            <p:cNvSpPr/>
            <p:nvPr/>
          </p:nvSpPr>
          <p:spPr>
            <a:xfrm>
              <a:off x="0" y="8448"/>
              <a:ext cx="698500" cy="795905"/>
            </a:xfrm>
            <a:custGeom>
              <a:avLst/>
              <a:gdLst/>
              <a:ahLst/>
              <a:cxnLst/>
              <a:rect l="l" t="t" r="r" b="b"/>
              <a:pathLst>
                <a:path w="698500" h="795905">
                  <a:moveTo>
                    <a:pt x="387275" y="13676"/>
                  </a:moveTo>
                  <a:lnTo>
                    <a:pt x="660475" y="172628"/>
                  </a:lnTo>
                  <a:cubicBezTo>
                    <a:pt x="684017" y="186326"/>
                    <a:pt x="698500" y="211508"/>
                    <a:pt x="698500" y="238745"/>
                  </a:cubicBezTo>
                  <a:lnTo>
                    <a:pt x="698500" y="557159"/>
                  </a:lnTo>
                  <a:cubicBezTo>
                    <a:pt x="698500" y="584396"/>
                    <a:pt x="684017" y="609578"/>
                    <a:pt x="660475" y="623276"/>
                  </a:cubicBezTo>
                  <a:lnTo>
                    <a:pt x="387275" y="782228"/>
                  </a:lnTo>
                  <a:cubicBezTo>
                    <a:pt x="363770" y="795904"/>
                    <a:pt x="334730" y="795904"/>
                    <a:pt x="311225" y="782228"/>
                  </a:cubicBezTo>
                  <a:lnTo>
                    <a:pt x="38025" y="623276"/>
                  </a:lnTo>
                  <a:cubicBezTo>
                    <a:pt x="14483" y="609578"/>
                    <a:pt x="0" y="584396"/>
                    <a:pt x="0" y="557159"/>
                  </a:cubicBezTo>
                  <a:lnTo>
                    <a:pt x="0" y="238745"/>
                  </a:lnTo>
                  <a:cubicBezTo>
                    <a:pt x="0" y="211508"/>
                    <a:pt x="14483" y="186326"/>
                    <a:pt x="38025" y="172628"/>
                  </a:cubicBezTo>
                  <a:lnTo>
                    <a:pt x="311225" y="13676"/>
                  </a:lnTo>
                  <a:cubicBezTo>
                    <a:pt x="334730" y="0"/>
                    <a:pt x="363770" y="0"/>
                    <a:pt x="387275" y="13676"/>
                  </a:cubicBezTo>
                  <a:close/>
                </a:path>
              </a:pathLst>
            </a:custGeom>
            <a:blipFill>
              <a:blip r:embed="rId3"/>
              <a:stretch>
                <a:fillRect l="-19307" t="-24540" r="-91892"/>
              </a:stretch>
            </a:blipFill>
          </p:spPr>
        </p:sp>
      </p:grpSp>
      <p:grpSp>
        <p:nvGrpSpPr>
          <p:cNvPr id="9" name="Group 9"/>
          <p:cNvGrpSpPr/>
          <p:nvPr/>
        </p:nvGrpSpPr>
        <p:grpSpPr>
          <a:xfrm>
            <a:off x="14975530" y="8148219"/>
            <a:ext cx="4567541" cy="5314957"/>
            <a:chOff x="0" y="0"/>
            <a:chExt cx="698500" cy="812800"/>
          </a:xfrm>
        </p:grpSpPr>
        <p:sp>
          <p:nvSpPr>
            <p:cNvPr id="10" name="Freeform 10"/>
            <p:cNvSpPr/>
            <p:nvPr/>
          </p:nvSpPr>
          <p:spPr>
            <a:xfrm>
              <a:off x="0" y="8391"/>
              <a:ext cx="698500" cy="796017"/>
            </a:xfrm>
            <a:custGeom>
              <a:avLst/>
              <a:gdLst/>
              <a:ahLst/>
              <a:cxnLst/>
              <a:rect l="l" t="t" r="r" b="b"/>
              <a:pathLst>
                <a:path w="698500" h="796017">
                  <a:moveTo>
                    <a:pt x="387021" y="13585"/>
                  </a:moveTo>
                  <a:lnTo>
                    <a:pt x="660729" y="172833"/>
                  </a:lnTo>
                  <a:cubicBezTo>
                    <a:pt x="684114" y="186439"/>
                    <a:pt x="698500" y="211453"/>
                    <a:pt x="698500" y="238508"/>
                  </a:cubicBezTo>
                  <a:lnTo>
                    <a:pt x="698500" y="557510"/>
                  </a:lnTo>
                  <a:cubicBezTo>
                    <a:pt x="698500" y="584565"/>
                    <a:pt x="684114" y="609579"/>
                    <a:pt x="660729" y="623185"/>
                  </a:cubicBezTo>
                  <a:lnTo>
                    <a:pt x="387021" y="782433"/>
                  </a:lnTo>
                  <a:cubicBezTo>
                    <a:pt x="363673" y="796018"/>
                    <a:pt x="334827" y="796018"/>
                    <a:pt x="311479" y="782433"/>
                  </a:cubicBezTo>
                  <a:lnTo>
                    <a:pt x="37771" y="623185"/>
                  </a:lnTo>
                  <a:cubicBezTo>
                    <a:pt x="14386" y="609579"/>
                    <a:pt x="0" y="584565"/>
                    <a:pt x="0" y="557510"/>
                  </a:cubicBezTo>
                  <a:lnTo>
                    <a:pt x="0" y="238508"/>
                  </a:lnTo>
                  <a:cubicBezTo>
                    <a:pt x="0" y="211453"/>
                    <a:pt x="14386" y="186439"/>
                    <a:pt x="37771" y="172833"/>
                  </a:cubicBezTo>
                  <a:lnTo>
                    <a:pt x="311479" y="13585"/>
                  </a:lnTo>
                  <a:cubicBezTo>
                    <a:pt x="334827" y="0"/>
                    <a:pt x="363673" y="0"/>
                    <a:pt x="387021" y="13585"/>
                  </a:cubicBezTo>
                  <a:close/>
                </a:path>
              </a:pathLst>
            </a:custGeom>
            <a:solidFill>
              <a:srgbClr val="0D203B"/>
            </a:solidFill>
            <a:ln w="12700">
              <a:solidFill>
                <a:srgbClr val="000000"/>
              </a:solidFill>
            </a:ln>
          </p:spPr>
        </p:sp>
      </p:grpSp>
      <p:grpSp>
        <p:nvGrpSpPr>
          <p:cNvPr id="11" name="Group 11"/>
          <p:cNvGrpSpPr/>
          <p:nvPr/>
        </p:nvGrpSpPr>
        <p:grpSpPr>
          <a:xfrm>
            <a:off x="9378505" y="-3496092"/>
            <a:ext cx="4567541" cy="5314957"/>
            <a:chOff x="0" y="0"/>
            <a:chExt cx="698500" cy="812800"/>
          </a:xfrm>
        </p:grpSpPr>
        <p:sp>
          <p:nvSpPr>
            <p:cNvPr id="12" name="Freeform 12"/>
            <p:cNvSpPr/>
            <p:nvPr/>
          </p:nvSpPr>
          <p:spPr>
            <a:xfrm>
              <a:off x="0" y="8391"/>
              <a:ext cx="698500" cy="796017"/>
            </a:xfrm>
            <a:custGeom>
              <a:avLst/>
              <a:gdLst/>
              <a:ahLst/>
              <a:cxnLst/>
              <a:rect l="l" t="t" r="r" b="b"/>
              <a:pathLst>
                <a:path w="698500" h="796017">
                  <a:moveTo>
                    <a:pt x="387021" y="13585"/>
                  </a:moveTo>
                  <a:lnTo>
                    <a:pt x="660729" y="172833"/>
                  </a:lnTo>
                  <a:cubicBezTo>
                    <a:pt x="684114" y="186439"/>
                    <a:pt x="698500" y="211453"/>
                    <a:pt x="698500" y="238508"/>
                  </a:cubicBezTo>
                  <a:lnTo>
                    <a:pt x="698500" y="557510"/>
                  </a:lnTo>
                  <a:cubicBezTo>
                    <a:pt x="698500" y="584565"/>
                    <a:pt x="684114" y="609579"/>
                    <a:pt x="660729" y="623185"/>
                  </a:cubicBezTo>
                  <a:lnTo>
                    <a:pt x="387021" y="782433"/>
                  </a:lnTo>
                  <a:cubicBezTo>
                    <a:pt x="363673" y="796018"/>
                    <a:pt x="334827" y="796018"/>
                    <a:pt x="311479" y="782433"/>
                  </a:cubicBezTo>
                  <a:lnTo>
                    <a:pt x="37771" y="623185"/>
                  </a:lnTo>
                  <a:cubicBezTo>
                    <a:pt x="14386" y="609579"/>
                    <a:pt x="0" y="584565"/>
                    <a:pt x="0" y="557510"/>
                  </a:cubicBezTo>
                  <a:lnTo>
                    <a:pt x="0" y="238508"/>
                  </a:lnTo>
                  <a:cubicBezTo>
                    <a:pt x="0" y="211453"/>
                    <a:pt x="14386" y="186439"/>
                    <a:pt x="37771" y="172833"/>
                  </a:cubicBezTo>
                  <a:lnTo>
                    <a:pt x="311479" y="13585"/>
                  </a:lnTo>
                  <a:cubicBezTo>
                    <a:pt x="334827" y="0"/>
                    <a:pt x="363673" y="0"/>
                    <a:pt x="387021" y="13585"/>
                  </a:cubicBezTo>
                  <a:close/>
                </a:path>
              </a:pathLst>
            </a:custGeom>
            <a:solidFill>
              <a:srgbClr val="00CADC"/>
            </a:solidFill>
            <a:ln w="12700">
              <a:solidFill>
                <a:srgbClr val="000000"/>
              </a:solidFill>
            </a:ln>
          </p:spPr>
        </p:sp>
      </p:grpSp>
      <p:grpSp>
        <p:nvGrpSpPr>
          <p:cNvPr id="13" name="Group 13"/>
          <p:cNvGrpSpPr/>
          <p:nvPr/>
        </p:nvGrpSpPr>
        <p:grpSpPr>
          <a:xfrm>
            <a:off x="1709527" y="3374539"/>
            <a:ext cx="3024682" cy="3519630"/>
            <a:chOff x="0" y="0"/>
            <a:chExt cx="698500" cy="812800"/>
          </a:xfrm>
        </p:grpSpPr>
        <p:sp>
          <p:nvSpPr>
            <p:cNvPr id="14" name="Freeform 14"/>
            <p:cNvSpPr/>
            <p:nvPr/>
          </p:nvSpPr>
          <p:spPr>
            <a:xfrm>
              <a:off x="0" y="8448"/>
              <a:ext cx="698500" cy="795905"/>
            </a:xfrm>
            <a:custGeom>
              <a:avLst/>
              <a:gdLst/>
              <a:ahLst/>
              <a:cxnLst/>
              <a:rect l="l" t="t" r="r" b="b"/>
              <a:pathLst>
                <a:path w="698500" h="795905">
                  <a:moveTo>
                    <a:pt x="387275" y="13676"/>
                  </a:moveTo>
                  <a:lnTo>
                    <a:pt x="660475" y="172628"/>
                  </a:lnTo>
                  <a:cubicBezTo>
                    <a:pt x="684017" y="186326"/>
                    <a:pt x="698500" y="211508"/>
                    <a:pt x="698500" y="238745"/>
                  </a:cubicBezTo>
                  <a:lnTo>
                    <a:pt x="698500" y="557159"/>
                  </a:lnTo>
                  <a:cubicBezTo>
                    <a:pt x="698500" y="584396"/>
                    <a:pt x="684017" y="609578"/>
                    <a:pt x="660475" y="623276"/>
                  </a:cubicBezTo>
                  <a:lnTo>
                    <a:pt x="387275" y="782228"/>
                  </a:lnTo>
                  <a:cubicBezTo>
                    <a:pt x="363770" y="795904"/>
                    <a:pt x="334730" y="795904"/>
                    <a:pt x="311225" y="782228"/>
                  </a:cubicBezTo>
                  <a:lnTo>
                    <a:pt x="38025" y="623276"/>
                  </a:lnTo>
                  <a:cubicBezTo>
                    <a:pt x="14483" y="609578"/>
                    <a:pt x="0" y="584396"/>
                    <a:pt x="0" y="557159"/>
                  </a:cubicBezTo>
                  <a:lnTo>
                    <a:pt x="0" y="238745"/>
                  </a:lnTo>
                  <a:cubicBezTo>
                    <a:pt x="0" y="211508"/>
                    <a:pt x="14483" y="186326"/>
                    <a:pt x="38025" y="172628"/>
                  </a:cubicBezTo>
                  <a:lnTo>
                    <a:pt x="311225" y="13676"/>
                  </a:lnTo>
                  <a:cubicBezTo>
                    <a:pt x="334730" y="0"/>
                    <a:pt x="363770" y="0"/>
                    <a:pt x="387275" y="13676"/>
                  </a:cubicBezTo>
                  <a:close/>
                </a:path>
              </a:pathLst>
            </a:custGeom>
            <a:blipFill>
              <a:blip r:embed="rId4"/>
              <a:stretch>
                <a:fillRect l="-59297" t="-42958" r="-56028"/>
              </a:stretch>
            </a:blipFill>
          </p:spPr>
        </p:sp>
      </p:grpSp>
      <p:sp>
        <p:nvSpPr>
          <p:cNvPr id="15" name="TextBox 15"/>
          <p:cNvSpPr txBox="1"/>
          <p:nvPr/>
        </p:nvSpPr>
        <p:spPr>
          <a:xfrm>
            <a:off x="10201967" y="4636675"/>
            <a:ext cx="8086033" cy="798508"/>
          </a:xfrm>
          <a:prstGeom prst="rect">
            <a:avLst/>
          </a:prstGeom>
        </p:spPr>
        <p:txBody>
          <a:bodyPr lIns="0" tIns="0" rIns="0" bIns="0" rtlCol="0" anchor="t">
            <a:spAutoFit/>
          </a:bodyPr>
          <a:lstStyle/>
          <a:p>
            <a:pPr algn="ctr">
              <a:lnSpc>
                <a:spcPts val="5937"/>
              </a:lnSpc>
            </a:pPr>
            <a:r>
              <a:rPr lang="en-US" sz="5937" spc="-178">
                <a:solidFill>
                  <a:srgbClr val="000000"/>
                </a:solidFill>
                <a:latin typeface="Montserrat Light"/>
                <a:ea typeface="Montserrat Light"/>
                <a:cs typeface="Montserrat Light"/>
                <a:sym typeface="Montserrat Light"/>
              </a:rPr>
              <a:t>CONTEXTE GÉNÉRAL</a:t>
            </a:r>
          </a:p>
        </p:txBody>
      </p:sp>
      <p:sp>
        <p:nvSpPr>
          <p:cNvPr id="16" name="TextBox 16"/>
          <p:cNvSpPr txBox="1"/>
          <p:nvPr/>
        </p:nvSpPr>
        <p:spPr>
          <a:xfrm>
            <a:off x="5304677" y="3422164"/>
            <a:ext cx="3971420" cy="318135"/>
          </a:xfrm>
          <a:prstGeom prst="rect">
            <a:avLst/>
          </a:prstGeom>
        </p:spPr>
        <p:txBody>
          <a:bodyPr lIns="0" tIns="0" rIns="0" bIns="0" rtlCol="0" anchor="t">
            <a:spAutoFit/>
          </a:bodyPr>
          <a:lstStyle/>
          <a:p>
            <a:pPr algn="l">
              <a:lnSpc>
                <a:spcPts val="2400"/>
              </a:lnSpc>
            </a:pPr>
            <a:r>
              <a:rPr lang="en-US" sz="2400" spc="-72">
                <a:solidFill>
                  <a:srgbClr val="33372C"/>
                </a:solidFill>
                <a:latin typeface="Montserrat"/>
                <a:ea typeface="Montserrat"/>
                <a:cs typeface="Montserrat"/>
                <a:sym typeface="Montserrat"/>
              </a:rPr>
              <a:t>INTERFACE DASH</a:t>
            </a:r>
          </a:p>
        </p:txBody>
      </p:sp>
      <p:sp>
        <p:nvSpPr>
          <p:cNvPr id="17" name="TextBox 17"/>
          <p:cNvSpPr txBox="1"/>
          <p:nvPr/>
        </p:nvSpPr>
        <p:spPr>
          <a:xfrm>
            <a:off x="5304677" y="5191125"/>
            <a:ext cx="4326821" cy="318135"/>
          </a:xfrm>
          <a:prstGeom prst="rect">
            <a:avLst/>
          </a:prstGeom>
        </p:spPr>
        <p:txBody>
          <a:bodyPr lIns="0" tIns="0" rIns="0" bIns="0" rtlCol="0" anchor="t">
            <a:spAutoFit/>
          </a:bodyPr>
          <a:lstStyle/>
          <a:p>
            <a:pPr algn="l">
              <a:lnSpc>
                <a:spcPts val="2400"/>
              </a:lnSpc>
            </a:pPr>
            <a:r>
              <a:rPr lang="en-US" sz="2400" b="1" spc="-72">
                <a:solidFill>
                  <a:srgbClr val="33372C"/>
                </a:solidFill>
                <a:latin typeface="Montserrat Medium"/>
                <a:ea typeface="Montserrat Medium"/>
                <a:cs typeface="Montserrat Medium"/>
                <a:sym typeface="Montserrat Medium"/>
              </a:rPr>
              <a:t>DES GRAPHIQUES VARIÉS </a:t>
            </a:r>
          </a:p>
        </p:txBody>
      </p:sp>
      <p:sp>
        <p:nvSpPr>
          <p:cNvPr id="18" name="TextBox 18"/>
          <p:cNvSpPr txBox="1"/>
          <p:nvPr/>
        </p:nvSpPr>
        <p:spPr>
          <a:xfrm>
            <a:off x="4557282" y="7782863"/>
            <a:ext cx="3971420" cy="318135"/>
          </a:xfrm>
          <a:prstGeom prst="rect">
            <a:avLst/>
          </a:prstGeom>
        </p:spPr>
        <p:txBody>
          <a:bodyPr lIns="0" tIns="0" rIns="0" bIns="0" rtlCol="0" anchor="t">
            <a:spAutoFit/>
          </a:bodyPr>
          <a:lstStyle/>
          <a:p>
            <a:pPr algn="l">
              <a:lnSpc>
                <a:spcPts val="2400"/>
              </a:lnSpc>
            </a:pPr>
            <a:r>
              <a:rPr lang="en-US" sz="2400" b="1" spc="-72">
                <a:solidFill>
                  <a:srgbClr val="33372C"/>
                </a:solidFill>
                <a:latin typeface="Montserrat Medium"/>
                <a:ea typeface="Montserrat Medium"/>
                <a:cs typeface="Montserrat Medium"/>
                <a:sym typeface="Montserrat Medium"/>
              </a:rPr>
              <a:t>DES STATISTIQUES CLÉS </a:t>
            </a:r>
          </a:p>
        </p:txBody>
      </p:sp>
      <p:sp>
        <p:nvSpPr>
          <p:cNvPr id="19" name="TextBox 19"/>
          <p:cNvSpPr txBox="1"/>
          <p:nvPr/>
        </p:nvSpPr>
        <p:spPr>
          <a:xfrm>
            <a:off x="3980887" y="1500729"/>
            <a:ext cx="3971420" cy="318135"/>
          </a:xfrm>
          <a:prstGeom prst="rect">
            <a:avLst/>
          </a:prstGeom>
        </p:spPr>
        <p:txBody>
          <a:bodyPr lIns="0" tIns="0" rIns="0" bIns="0" rtlCol="0" anchor="t">
            <a:spAutoFit/>
          </a:bodyPr>
          <a:lstStyle/>
          <a:p>
            <a:pPr algn="l">
              <a:lnSpc>
                <a:spcPts val="2400"/>
              </a:lnSpc>
            </a:pPr>
            <a:r>
              <a:rPr lang="en-US" sz="2400" spc="-72">
                <a:solidFill>
                  <a:srgbClr val="33372C"/>
                </a:solidFill>
                <a:latin typeface="Montserrat"/>
                <a:ea typeface="Montserrat"/>
                <a:cs typeface="Montserrat"/>
                <a:sym typeface="Montserrat"/>
              </a:rPr>
              <a:t>PYTHON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513911" y="-3487089"/>
            <a:ext cx="9258300" cy="17261177"/>
            <a:chOff x="0" y="0"/>
            <a:chExt cx="2438400" cy="4546154"/>
          </a:xfrm>
        </p:grpSpPr>
        <p:sp>
          <p:nvSpPr>
            <p:cNvPr id="3" name="Freeform 3"/>
            <p:cNvSpPr/>
            <p:nvPr/>
          </p:nvSpPr>
          <p:spPr>
            <a:xfrm>
              <a:off x="0" y="0"/>
              <a:ext cx="2438400" cy="4546154"/>
            </a:xfrm>
            <a:custGeom>
              <a:avLst/>
              <a:gdLst/>
              <a:ahLst/>
              <a:cxnLst/>
              <a:rect l="l" t="t" r="r" b="b"/>
              <a:pathLst>
                <a:path w="2438400" h="4546154">
                  <a:moveTo>
                    <a:pt x="0" y="0"/>
                  </a:moveTo>
                  <a:lnTo>
                    <a:pt x="2438400" y="0"/>
                  </a:lnTo>
                  <a:lnTo>
                    <a:pt x="2438400" y="4546154"/>
                  </a:lnTo>
                  <a:lnTo>
                    <a:pt x="0" y="4546154"/>
                  </a:lnTo>
                  <a:close/>
                </a:path>
              </a:pathLst>
            </a:custGeom>
            <a:solidFill>
              <a:srgbClr val="F8F5F1"/>
            </a:solidFill>
          </p:spPr>
        </p:sp>
        <p:sp>
          <p:nvSpPr>
            <p:cNvPr id="4" name="TextBox 4"/>
            <p:cNvSpPr txBox="1"/>
            <p:nvPr/>
          </p:nvSpPr>
          <p:spPr>
            <a:xfrm>
              <a:off x="0" y="-38100"/>
              <a:ext cx="2438400" cy="4584254"/>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349683" y="9345065"/>
            <a:ext cx="423967" cy="427585"/>
            <a:chOff x="0" y="0"/>
            <a:chExt cx="205716" cy="207472"/>
          </a:xfrm>
        </p:grpSpPr>
        <p:sp>
          <p:nvSpPr>
            <p:cNvPr id="6" name="Freeform 6"/>
            <p:cNvSpPr/>
            <p:nvPr/>
          </p:nvSpPr>
          <p:spPr>
            <a:xfrm>
              <a:off x="0" y="0"/>
              <a:ext cx="205716" cy="207472"/>
            </a:xfrm>
            <a:custGeom>
              <a:avLst/>
              <a:gdLst/>
              <a:ahLst/>
              <a:cxnLst/>
              <a:rect l="l" t="t" r="r" b="b"/>
              <a:pathLst>
                <a:path w="205716" h="207472">
                  <a:moveTo>
                    <a:pt x="0" y="0"/>
                  </a:moveTo>
                  <a:lnTo>
                    <a:pt x="205716" y="0"/>
                  </a:lnTo>
                  <a:lnTo>
                    <a:pt x="205716" y="207472"/>
                  </a:lnTo>
                  <a:lnTo>
                    <a:pt x="0" y="207472"/>
                  </a:lnTo>
                  <a:close/>
                </a:path>
              </a:pathLst>
            </a:custGeom>
            <a:solidFill>
              <a:srgbClr val="000000">
                <a:alpha val="0"/>
              </a:srgbClr>
            </a:solidFill>
          </p:spPr>
        </p:sp>
        <p:sp>
          <p:nvSpPr>
            <p:cNvPr id="7" name="TextBox 7"/>
            <p:cNvSpPr txBox="1"/>
            <p:nvPr/>
          </p:nvSpPr>
          <p:spPr>
            <a:xfrm>
              <a:off x="0" y="-38100"/>
              <a:ext cx="205716" cy="245572"/>
            </a:xfrm>
            <a:prstGeom prst="rect">
              <a:avLst/>
            </a:prstGeom>
          </p:spPr>
          <p:txBody>
            <a:bodyPr lIns="50800" tIns="50800" rIns="50800" bIns="50800" rtlCol="0" anchor="ctr"/>
            <a:lstStyle/>
            <a:p>
              <a:pPr algn="ctr">
                <a:lnSpc>
                  <a:spcPts val="2100"/>
                </a:lnSpc>
              </a:pPr>
              <a:r>
                <a:rPr lang="en-US" sz="1500">
                  <a:solidFill>
                    <a:srgbClr val="000000"/>
                  </a:solidFill>
                  <a:latin typeface="Lato"/>
                  <a:ea typeface="Lato"/>
                  <a:cs typeface="Lato"/>
                  <a:sym typeface="Lato"/>
                </a:rPr>
                <a:t>7</a:t>
              </a:r>
            </a:p>
          </p:txBody>
        </p:sp>
      </p:grpSp>
      <p:sp>
        <p:nvSpPr>
          <p:cNvPr id="8" name="TextBox 8"/>
          <p:cNvSpPr txBox="1"/>
          <p:nvPr/>
        </p:nvSpPr>
        <p:spPr>
          <a:xfrm>
            <a:off x="1344772" y="7536358"/>
            <a:ext cx="3106559" cy="1054099"/>
          </a:xfrm>
          <a:prstGeom prst="rect">
            <a:avLst/>
          </a:prstGeom>
        </p:spPr>
        <p:txBody>
          <a:bodyPr lIns="0" tIns="0" rIns="0" bIns="0" rtlCol="0" anchor="t">
            <a:spAutoFit/>
          </a:bodyPr>
          <a:lstStyle/>
          <a:p>
            <a:pPr marL="431807" lvl="1" indent="-215904" algn="just">
              <a:lnSpc>
                <a:spcPts val="2800"/>
              </a:lnSpc>
              <a:buFont typeface="Arial"/>
              <a:buChar char="•"/>
            </a:pPr>
            <a:r>
              <a:rPr lang="en-US" sz="2000">
                <a:solidFill>
                  <a:srgbClr val="000000"/>
                </a:solidFill>
                <a:latin typeface="Lato"/>
                <a:ea typeface="Lato"/>
                <a:cs typeface="Lato"/>
                <a:sym typeface="Lato"/>
              </a:rPr>
              <a:t>Sources des données</a:t>
            </a:r>
          </a:p>
          <a:p>
            <a:pPr marL="431807" lvl="1" indent="-215904" algn="just">
              <a:lnSpc>
                <a:spcPts val="2800"/>
              </a:lnSpc>
              <a:buFont typeface="Arial"/>
              <a:buChar char="•"/>
            </a:pPr>
            <a:r>
              <a:rPr lang="en-US" sz="2000">
                <a:solidFill>
                  <a:srgbClr val="000000"/>
                </a:solidFill>
                <a:latin typeface="Lato"/>
                <a:ea typeface="Lato"/>
                <a:cs typeface="Lato"/>
                <a:sym typeface="Lato"/>
              </a:rPr>
              <a:t>Traitement</a:t>
            </a:r>
          </a:p>
          <a:p>
            <a:pPr marL="431807" lvl="1" indent="-215904" algn="just">
              <a:lnSpc>
                <a:spcPts val="2800"/>
              </a:lnSpc>
              <a:buFont typeface="Arial"/>
              <a:buChar char="•"/>
            </a:pPr>
            <a:r>
              <a:rPr lang="en-US" sz="2000">
                <a:solidFill>
                  <a:srgbClr val="000000"/>
                </a:solidFill>
                <a:latin typeface="Lato"/>
                <a:ea typeface="Lato"/>
                <a:cs typeface="Lato"/>
                <a:sym typeface="Lato"/>
              </a:rPr>
              <a:t>Formatage</a:t>
            </a:r>
          </a:p>
        </p:txBody>
      </p:sp>
      <p:sp>
        <p:nvSpPr>
          <p:cNvPr id="9" name="TextBox 9"/>
          <p:cNvSpPr txBox="1"/>
          <p:nvPr/>
        </p:nvSpPr>
        <p:spPr>
          <a:xfrm>
            <a:off x="13609707" y="7469683"/>
            <a:ext cx="3649593" cy="1406524"/>
          </a:xfrm>
          <a:prstGeom prst="rect">
            <a:avLst/>
          </a:prstGeom>
        </p:spPr>
        <p:txBody>
          <a:bodyPr lIns="0" tIns="0" rIns="0" bIns="0" rtlCol="0" anchor="t">
            <a:spAutoFit/>
          </a:bodyPr>
          <a:lstStyle/>
          <a:p>
            <a:pPr marL="431807" lvl="1" indent="-215904" algn="l">
              <a:lnSpc>
                <a:spcPts val="2800"/>
              </a:lnSpc>
              <a:buFont typeface="Arial"/>
              <a:buChar char="•"/>
            </a:pPr>
            <a:r>
              <a:rPr lang="en-US" sz="2000">
                <a:solidFill>
                  <a:srgbClr val="000000"/>
                </a:solidFill>
                <a:latin typeface="Lato"/>
                <a:ea typeface="Lato"/>
                <a:cs typeface="Lato"/>
                <a:sym typeface="Lato"/>
              </a:rPr>
              <a:t>Tests Techniques </a:t>
            </a:r>
          </a:p>
          <a:p>
            <a:pPr marL="431807" lvl="1" indent="-215904" algn="l">
              <a:lnSpc>
                <a:spcPts val="2800"/>
              </a:lnSpc>
              <a:buFont typeface="Arial"/>
              <a:buChar char="•"/>
            </a:pPr>
            <a:r>
              <a:rPr lang="en-US" sz="2000">
                <a:solidFill>
                  <a:srgbClr val="000000"/>
                </a:solidFill>
                <a:latin typeface="Lato"/>
                <a:ea typeface="Lato"/>
                <a:cs typeface="Lato"/>
                <a:sym typeface="Lato"/>
              </a:rPr>
              <a:t>Tests utilisateur</a:t>
            </a:r>
          </a:p>
          <a:p>
            <a:pPr marL="431807" lvl="1" indent="-215904" algn="l">
              <a:lnSpc>
                <a:spcPts val="2800"/>
              </a:lnSpc>
              <a:buFont typeface="Arial"/>
              <a:buChar char="•"/>
            </a:pPr>
            <a:r>
              <a:rPr lang="en-US" sz="2000">
                <a:solidFill>
                  <a:srgbClr val="000000"/>
                </a:solidFill>
                <a:latin typeface="Lato"/>
                <a:ea typeface="Lato"/>
                <a:cs typeface="Lato"/>
                <a:sym typeface="Lato"/>
              </a:rPr>
              <a:t>Ameliorations Apportees </a:t>
            </a:r>
          </a:p>
          <a:p>
            <a:pPr algn="l">
              <a:lnSpc>
                <a:spcPts val="2800"/>
              </a:lnSpc>
            </a:pPr>
            <a:endParaRPr lang="en-US" sz="2000">
              <a:solidFill>
                <a:srgbClr val="000000"/>
              </a:solidFill>
              <a:latin typeface="Lato"/>
              <a:ea typeface="Lato"/>
              <a:cs typeface="Lato"/>
              <a:sym typeface="Lato"/>
            </a:endParaRPr>
          </a:p>
        </p:txBody>
      </p:sp>
      <p:sp>
        <p:nvSpPr>
          <p:cNvPr id="10" name="TextBox 10"/>
          <p:cNvSpPr txBox="1"/>
          <p:nvPr/>
        </p:nvSpPr>
        <p:spPr>
          <a:xfrm>
            <a:off x="5734352" y="7536358"/>
            <a:ext cx="3106559" cy="1054099"/>
          </a:xfrm>
          <a:prstGeom prst="rect">
            <a:avLst/>
          </a:prstGeom>
        </p:spPr>
        <p:txBody>
          <a:bodyPr lIns="0" tIns="0" rIns="0" bIns="0" rtlCol="0" anchor="t">
            <a:spAutoFit/>
          </a:bodyPr>
          <a:lstStyle/>
          <a:p>
            <a:pPr marL="431807" lvl="1" indent="-215904" algn="l">
              <a:lnSpc>
                <a:spcPts val="2800"/>
              </a:lnSpc>
              <a:buFont typeface="Arial"/>
              <a:buChar char="•"/>
            </a:pPr>
            <a:r>
              <a:rPr lang="en-US" sz="2000">
                <a:solidFill>
                  <a:srgbClr val="000000"/>
                </a:solidFill>
                <a:latin typeface="Lato"/>
                <a:ea typeface="Lato"/>
                <a:cs typeface="Lato"/>
                <a:sym typeface="Lato"/>
              </a:rPr>
              <a:t>Architecture  Technique </a:t>
            </a:r>
          </a:p>
          <a:p>
            <a:pPr marL="431807" lvl="1" indent="-215904" algn="l">
              <a:lnSpc>
                <a:spcPts val="2800"/>
              </a:lnSpc>
              <a:buFont typeface="Arial"/>
              <a:buChar char="•"/>
            </a:pPr>
            <a:r>
              <a:rPr lang="en-US" sz="2000">
                <a:solidFill>
                  <a:srgbClr val="000000"/>
                </a:solidFill>
                <a:latin typeface="Lato"/>
                <a:ea typeface="Lato"/>
                <a:cs typeface="Lato"/>
                <a:sym typeface="Lato"/>
              </a:rPr>
              <a:t>Structure Modulaire</a:t>
            </a:r>
          </a:p>
        </p:txBody>
      </p:sp>
      <p:sp>
        <p:nvSpPr>
          <p:cNvPr id="11" name="TextBox 11"/>
          <p:cNvSpPr txBox="1"/>
          <p:nvPr/>
        </p:nvSpPr>
        <p:spPr>
          <a:xfrm>
            <a:off x="9373255" y="7382370"/>
            <a:ext cx="3915617" cy="2463799"/>
          </a:xfrm>
          <a:prstGeom prst="rect">
            <a:avLst/>
          </a:prstGeom>
        </p:spPr>
        <p:txBody>
          <a:bodyPr lIns="0" tIns="0" rIns="0" bIns="0" rtlCol="0" anchor="t">
            <a:spAutoFit/>
          </a:bodyPr>
          <a:lstStyle/>
          <a:p>
            <a:pPr marL="431807" lvl="1" indent="-215904" algn="l">
              <a:lnSpc>
                <a:spcPts val="2800"/>
              </a:lnSpc>
              <a:buFont typeface="Arial"/>
              <a:buChar char="•"/>
            </a:pPr>
            <a:r>
              <a:rPr lang="en-US" sz="2000">
                <a:solidFill>
                  <a:srgbClr val="000000"/>
                </a:solidFill>
                <a:latin typeface="Lato"/>
                <a:ea typeface="Lato"/>
                <a:cs typeface="Lato"/>
                <a:sym typeface="Lato"/>
              </a:rPr>
              <a:t>Visualisation</a:t>
            </a:r>
          </a:p>
          <a:p>
            <a:pPr marL="431807" lvl="1" indent="-215904" algn="l">
              <a:lnSpc>
                <a:spcPts val="2800"/>
              </a:lnSpc>
              <a:buFont typeface="Arial"/>
              <a:buChar char="•"/>
            </a:pPr>
            <a:r>
              <a:rPr lang="en-US" sz="2000">
                <a:solidFill>
                  <a:srgbClr val="000000"/>
                </a:solidFill>
                <a:latin typeface="Lato"/>
                <a:ea typeface="Lato"/>
                <a:cs typeface="Lato"/>
                <a:sym typeface="Lato"/>
              </a:rPr>
              <a:t>Graphiques</a:t>
            </a:r>
          </a:p>
          <a:p>
            <a:pPr marL="431807" lvl="1" indent="-215904" algn="l">
              <a:lnSpc>
                <a:spcPts val="2800"/>
              </a:lnSpc>
              <a:buFont typeface="Arial"/>
              <a:buChar char="•"/>
            </a:pPr>
            <a:r>
              <a:rPr lang="en-US" sz="2000">
                <a:solidFill>
                  <a:srgbClr val="000000"/>
                </a:solidFill>
                <a:latin typeface="Lato"/>
                <a:ea typeface="Lato"/>
                <a:cs typeface="Lato"/>
                <a:sym typeface="Lato"/>
              </a:rPr>
              <a:t>KPI(Indicateurs clés)</a:t>
            </a:r>
          </a:p>
          <a:p>
            <a:pPr marL="431807" lvl="1" indent="-215904" algn="l">
              <a:lnSpc>
                <a:spcPts val="2800"/>
              </a:lnSpc>
              <a:buFont typeface="Arial"/>
              <a:buChar char="•"/>
            </a:pPr>
            <a:r>
              <a:rPr lang="en-US" sz="2000">
                <a:solidFill>
                  <a:srgbClr val="000000"/>
                </a:solidFill>
                <a:latin typeface="Lato"/>
                <a:ea typeface="Lato"/>
                <a:cs typeface="Lato"/>
                <a:sym typeface="Lato"/>
              </a:rPr>
              <a:t>Filtres Dynamiques</a:t>
            </a:r>
          </a:p>
          <a:p>
            <a:pPr marL="431807" lvl="1" indent="-215904" algn="l">
              <a:lnSpc>
                <a:spcPts val="2800"/>
              </a:lnSpc>
              <a:buFont typeface="Arial"/>
              <a:buChar char="•"/>
            </a:pPr>
            <a:r>
              <a:rPr lang="en-US" sz="2000">
                <a:solidFill>
                  <a:srgbClr val="000000"/>
                </a:solidFill>
                <a:latin typeface="Lato"/>
                <a:ea typeface="Lato"/>
                <a:cs typeface="Lato"/>
                <a:sym typeface="Lato"/>
              </a:rPr>
              <a:t>Exportation des données</a:t>
            </a:r>
          </a:p>
          <a:p>
            <a:pPr marL="431807" lvl="1" indent="-215904" algn="l">
              <a:lnSpc>
                <a:spcPts val="2800"/>
              </a:lnSpc>
              <a:buFont typeface="Arial"/>
              <a:buChar char="•"/>
            </a:pPr>
            <a:r>
              <a:rPr lang="en-US" sz="2000">
                <a:solidFill>
                  <a:srgbClr val="000000"/>
                </a:solidFill>
                <a:latin typeface="Lato"/>
                <a:ea typeface="Lato"/>
                <a:cs typeface="Lato"/>
                <a:sym typeface="Lato"/>
              </a:rPr>
              <a:t>Alertes Dynamiques</a:t>
            </a:r>
          </a:p>
          <a:p>
            <a:pPr algn="l">
              <a:lnSpc>
                <a:spcPts val="2800"/>
              </a:lnSpc>
            </a:pPr>
            <a:endParaRPr lang="en-US" sz="2000">
              <a:solidFill>
                <a:srgbClr val="000000"/>
              </a:solidFill>
              <a:latin typeface="Lato"/>
              <a:ea typeface="Lato"/>
              <a:cs typeface="Lato"/>
              <a:sym typeface="Lato"/>
            </a:endParaRPr>
          </a:p>
        </p:txBody>
      </p:sp>
      <p:sp>
        <p:nvSpPr>
          <p:cNvPr id="12" name="TextBox 12"/>
          <p:cNvSpPr txBox="1"/>
          <p:nvPr/>
        </p:nvSpPr>
        <p:spPr>
          <a:xfrm>
            <a:off x="1028700" y="6539003"/>
            <a:ext cx="4095576" cy="663980"/>
          </a:xfrm>
          <a:prstGeom prst="rect">
            <a:avLst/>
          </a:prstGeom>
        </p:spPr>
        <p:txBody>
          <a:bodyPr lIns="0" tIns="0" rIns="0" bIns="0" rtlCol="0" anchor="t">
            <a:spAutoFit/>
          </a:bodyPr>
          <a:lstStyle/>
          <a:p>
            <a:pPr algn="ctr">
              <a:lnSpc>
                <a:spcPts val="2505"/>
              </a:lnSpc>
            </a:pPr>
            <a:r>
              <a:rPr lang="en-US" sz="2257" b="1">
                <a:solidFill>
                  <a:srgbClr val="000000"/>
                </a:solidFill>
                <a:latin typeface="Poppins Semi-Bold"/>
                <a:ea typeface="Poppins Semi-Bold"/>
                <a:cs typeface="Poppins Semi-Bold"/>
                <a:sym typeface="Poppins Semi-Bold"/>
              </a:rPr>
              <a:t>COLLECTE ET TRAITEMENT DES DONNEES</a:t>
            </a:r>
          </a:p>
        </p:txBody>
      </p:sp>
      <p:sp>
        <p:nvSpPr>
          <p:cNvPr id="13" name="TextBox 13"/>
          <p:cNvSpPr txBox="1"/>
          <p:nvPr/>
        </p:nvSpPr>
        <p:spPr>
          <a:xfrm>
            <a:off x="5945861" y="6539003"/>
            <a:ext cx="2348037" cy="663980"/>
          </a:xfrm>
          <a:prstGeom prst="rect">
            <a:avLst/>
          </a:prstGeom>
        </p:spPr>
        <p:txBody>
          <a:bodyPr lIns="0" tIns="0" rIns="0" bIns="0" rtlCol="0" anchor="t">
            <a:spAutoFit/>
          </a:bodyPr>
          <a:lstStyle/>
          <a:p>
            <a:pPr algn="ctr">
              <a:lnSpc>
                <a:spcPts val="2505"/>
              </a:lnSpc>
            </a:pPr>
            <a:r>
              <a:rPr lang="en-US" sz="2257" b="1">
                <a:solidFill>
                  <a:srgbClr val="000000"/>
                </a:solidFill>
                <a:latin typeface="Poppins Semi-Bold"/>
                <a:ea typeface="Poppins Semi-Bold"/>
                <a:cs typeface="Poppins Semi-Bold"/>
                <a:sym typeface="Poppins Semi-Bold"/>
              </a:rPr>
              <a:t>CONCEPTION DE L’APPLICATION</a:t>
            </a:r>
          </a:p>
        </p:txBody>
      </p:sp>
      <p:sp>
        <p:nvSpPr>
          <p:cNvPr id="14" name="TextBox 14"/>
          <p:cNvSpPr txBox="1"/>
          <p:nvPr/>
        </p:nvSpPr>
        <p:spPr>
          <a:xfrm>
            <a:off x="9013648" y="6539003"/>
            <a:ext cx="4290073" cy="978305"/>
          </a:xfrm>
          <a:prstGeom prst="rect">
            <a:avLst/>
          </a:prstGeom>
        </p:spPr>
        <p:txBody>
          <a:bodyPr lIns="0" tIns="0" rIns="0" bIns="0" rtlCol="0" anchor="t">
            <a:spAutoFit/>
          </a:bodyPr>
          <a:lstStyle/>
          <a:p>
            <a:pPr algn="ctr">
              <a:lnSpc>
                <a:spcPts val="2505"/>
              </a:lnSpc>
            </a:pPr>
            <a:r>
              <a:rPr lang="en-US" sz="2257" b="1">
                <a:solidFill>
                  <a:srgbClr val="000000"/>
                </a:solidFill>
                <a:latin typeface="Poppins Semi-Bold"/>
                <a:ea typeface="Poppins Semi-Bold"/>
                <a:cs typeface="Poppins Semi-Bold"/>
                <a:sym typeface="Poppins Semi-Bold"/>
              </a:rPr>
              <a:t>IMPLEMENTATION DES FONCTIONNALITES</a:t>
            </a:r>
          </a:p>
          <a:p>
            <a:pPr algn="ctr">
              <a:lnSpc>
                <a:spcPts val="2505"/>
              </a:lnSpc>
            </a:pPr>
            <a:endParaRPr lang="en-US" sz="2257" b="1">
              <a:solidFill>
                <a:srgbClr val="000000"/>
              </a:solidFill>
              <a:latin typeface="Poppins Semi-Bold"/>
              <a:ea typeface="Poppins Semi-Bold"/>
              <a:cs typeface="Poppins Semi-Bold"/>
              <a:sym typeface="Poppins Semi-Bold"/>
            </a:endParaRPr>
          </a:p>
        </p:txBody>
      </p:sp>
      <p:sp>
        <p:nvSpPr>
          <p:cNvPr id="15" name="TextBox 15"/>
          <p:cNvSpPr txBox="1"/>
          <p:nvPr/>
        </p:nvSpPr>
        <p:spPr>
          <a:xfrm>
            <a:off x="13605932" y="6558053"/>
            <a:ext cx="3106559" cy="349655"/>
          </a:xfrm>
          <a:prstGeom prst="rect">
            <a:avLst/>
          </a:prstGeom>
        </p:spPr>
        <p:txBody>
          <a:bodyPr lIns="0" tIns="0" rIns="0" bIns="0" rtlCol="0" anchor="t">
            <a:spAutoFit/>
          </a:bodyPr>
          <a:lstStyle/>
          <a:p>
            <a:pPr algn="ctr">
              <a:lnSpc>
                <a:spcPts val="2505"/>
              </a:lnSpc>
            </a:pPr>
            <a:r>
              <a:rPr lang="en-US" sz="2257" b="1">
                <a:solidFill>
                  <a:srgbClr val="000000"/>
                </a:solidFill>
                <a:latin typeface="Poppins Semi-Bold"/>
                <a:ea typeface="Poppins Semi-Bold"/>
                <a:cs typeface="Poppins Semi-Bold"/>
                <a:sym typeface="Poppins Semi-Bold"/>
              </a:rPr>
              <a:t>TEST ET VALIDATION</a:t>
            </a:r>
          </a:p>
        </p:txBody>
      </p:sp>
      <p:sp>
        <p:nvSpPr>
          <p:cNvPr id="16" name="AutoShape 16"/>
          <p:cNvSpPr/>
          <p:nvPr/>
        </p:nvSpPr>
        <p:spPr>
          <a:xfrm>
            <a:off x="1909555" y="5662703"/>
            <a:ext cx="14468890" cy="0"/>
          </a:xfrm>
          <a:prstGeom prst="line">
            <a:avLst/>
          </a:prstGeom>
          <a:ln w="38100" cap="flat">
            <a:solidFill>
              <a:srgbClr val="000000"/>
            </a:solidFill>
            <a:prstDash val="solid"/>
            <a:headEnd type="none" w="sm" len="sm"/>
            <a:tailEnd type="none" w="sm" len="sm"/>
          </a:ln>
        </p:spPr>
      </p:sp>
      <p:grpSp>
        <p:nvGrpSpPr>
          <p:cNvPr id="17" name="Group 17"/>
          <p:cNvGrpSpPr/>
          <p:nvPr/>
        </p:nvGrpSpPr>
        <p:grpSpPr>
          <a:xfrm>
            <a:off x="2516348" y="4056508"/>
            <a:ext cx="1223009" cy="122300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grpSp>
        <p:nvGrpSpPr>
          <p:cNvPr id="20" name="Group 20"/>
          <p:cNvGrpSpPr/>
          <p:nvPr/>
        </p:nvGrpSpPr>
        <p:grpSpPr>
          <a:xfrm>
            <a:off x="1645946" y="5488771"/>
            <a:ext cx="345718" cy="34571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grpSp>
        <p:nvGrpSpPr>
          <p:cNvPr id="23" name="Group 23"/>
          <p:cNvGrpSpPr/>
          <p:nvPr/>
        </p:nvGrpSpPr>
        <p:grpSpPr>
          <a:xfrm>
            <a:off x="16370549" y="5488771"/>
            <a:ext cx="345718" cy="34571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grpSp>
        <p:nvGrpSpPr>
          <p:cNvPr id="26" name="Group 26"/>
          <p:cNvGrpSpPr/>
          <p:nvPr/>
        </p:nvGrpSpPr>
        <p:grpSpPr>
          <a:xfrm>
            <a:off x="6531201" y="4037100"/>
            <a:ext cx="1223009" cy="122300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FAB2"/>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grpSp>
        <p:nvGrpSpPr>
          <p:cNvPr id="29" name="Group 29"/>
          <p:cNvGrpSpPr/>
          <p:nvPr/>
        </p:nvGrpSpPr>
        <p:grpSpPr>
          <a:xfrm>
            <a:off x="10541341" y="4036742"/>
            <a:ext cx="1223009" cy="122300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grpSp>
        <p:nvGrpSpPr>
          <p:cNvPr id="32" name="Group 32"/>
          <p:cNvGrpSpPr/>
          <p:nvPr/>
        </p:nvGrpSpPr>
        <p:grpSpPr>
          <a:xfrm>
            <a:off x="14551482" y="4036385"/>
            <a:ext cx="1223009" cy="1223009"/>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FAB2"/>
            </a:solidFill>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2240"/>
                </a:lnSpc>
              </a:pPr>
              <a:endParaRPr/>
            </a:p>
          </p:txBody>
        </p:sp>
      </p:grpSp>
      <p:sp>
        <p:nvSpPr>
          <p:cNvPr id="35" name="AutoShape 35"/>
          <p:cNvSpPr/>
          <p:nvPr/>
        </p:nvSpPr>
        <p:spPr>
          <a:xfrm flipH="1">
            <a:off x="3113514" y="5279458"/>
            <a:ext cx="5690" cy="402296"/>
          </a:xfrm>
          <a:prstGeom prst="line">
            <a:avLst/>
          </a:prstGeom>
          <a:ln w="38100" cap="flat">
            <a:solidFill>
              <a:srgbClr val="000000"/>
            </a:solidFill>
            <a:prstDash val="solid"/>
            <a:headEnd type="none" w="sm" len="sm"/>
            <a:tailEnd type="none" w="sm" len="sm"/>
          </a:ln>
        </p:spPr>
      </p:sp>
      <p:sp>
        <p:nvSpPr>
          <p:cNvPr id="36" name="AutoShape 36"/>
          <p:cNvSpPr/>
          <p:nvPr/>
        </p:nvSpPr>
        <p:spPr>
          <a:xfrm flipH="1">
            <a:off x="7123655" y="5260004"/>
            <a:ext cx="7561" cy="402342"/>
          </a:xfrm>
          <a:prstGeom prst="line">
            <a:avLst/>
          </a:prstGeom>
          <a:ln w="38100" cap="flat">
            <a:solidFill>
              <a:srgbClr val="000000"/>
            </a:solidFill>
            <a:prstDash val="solid"/>
            <a:headEnd type="none" w="sm" len="sm"/>
            <a:tailEnd type="none" w="sm" len="sm"/>
          </a:ln>
        </p:spPr>
      </p:sp>
      <p:sp>
        <p:nvSpPr>
          <p:cNvPr id="37" name="AutoShape 37"/>
          <p:cNvSpPr/>
          <p:nvPr/>
        </p:nvSpPr>
        <p:spPr>
          <a:xfrm flipH="1">
            <a:off x="11133796" y="5259646"/>
            <a:ext cx="7561" cy="402342"/>
          </a:xfrm>
          <a:prstGeom prst="line">
            <a:avLst/>
          </a:prstGeom>
          <a:ln w="38100" cap="flat">
            <a:solidFill>
              <a:srgbClr val="000000"/>
            </a:solidFill>
            <a:prstDash val="solid"/>
            <a:headEnd type="none" w="sm" len="sm"/>
            <a:tailEnd type="none" w="sm" len="sm"/>
          </a:ln>
        </p:spPr>
      </p:sp>
      <p:sp>
        <p:nvSpPr>
          <p:cNvPr id="38" name="AutoShape 38"/>
          <p:cNvSpPr/>
          <p:nvPr/>
        </p:nvSpPr>
        <p:spPr>
          <a:xfrm flipH="1">
            <a:off x="15143937" y="5259288"/>
            <a:ext cx="7561" cy="402342"/>
          </a:xfrm>
          <a:prstGeom prst="line">
            <a:avLst/>
          </a:prstGeom>
          <a:ln w="38100" cap="flat">
            <a:solidFill>
              <a:srgbClr val="000000"/>
            </a:solidFill>
            <a:prstDash val="solid"/>
            <a:headEnd type="none" w="sm" len="sm"/>
            <a:tailEnd type="none" w="sm" len="sm"/>
          </a:ln>
        </p:spPr>
      </p:sp>
      <p:sp>
        <p:nvSpPr>
          <p:cNvPr id="39" name="TextBox 39"/>
          <p:cNvSpPr txBox="1"/>
          <p:nvPr/>
        </p:nvSpPr>
        <p:spPr>
          <a:xfrm>
            <a:off x="2613036" y="4464801"/>
            <a:ext cx="1029632" cy="434998"/>
          </a:xfrm>
          <a:prstGeom prst="rect">
            <a:avLst/>
          </a:prstGeom>
        </p:spPr>
        <p:txBody>
          <a:bodyPr lIns="0" tIns="0" rIns="0" bIns="0" rtlCol="0" anchor="t">
            <a:spAutoFit/>
          </a:bodyPr>
          <a:lstStyle/>
          <a:p>
            <a:pPr algn="ctr">
              <a:lnSpc>
                <a:spcPts val="3393"/>
              </a:lnSpc>
            </a:pPr>
            <a:r>
              <a:rPr lang="en-US" sz="3057" i="1">
                <a:solidFill>
                  <a:srgbClr val="EBE2D6"/>
                </a:solidFill>
                <a:latin typeface="Lato Italics"/>
                <a:ea typeface="Lato Italics"/>
                <a:cs typeface="Lato Italics"/>
                <a:sym typeface="Lato Italics"/>
              </a:rPr>
              <a:t>1</a:t>
            </a:r>
          </a:p>
        </p:txBody>
      </p:sp>
      <p:sp>
        <p:nvSpPr>
          <p:cNvPr id="40" name="TextBox 40"/>
          <p:cNvSpPr txBox="1"/>
          <p:nvPr/>
        </p:nvSpPr>
        <p:spPr>
          <a:xfrm>
            <a:off x="6627889" y="4464801"/>
            <a:ext cx="1029632" cy="434998"/>
          </a:xfrm>
          <a:prstGeom prst="rect">
            <a:avLst/>
          </a:prstGeom>
        </p:spPr>
        <p:txBody>
          <a:bodyPr lIns="0" tIns="0" rIns="0" bIns="0" rtlCol="0" anchor="t">
            <a:spAutoFit/>
          </a:bodyPr>
          <a:lstStyle/>
          <a:p>
            <a:pPr algn="ctr">
              <a:lnSpc>
                <a:spcPts val="3393"/>
              </a:lnSpc>
            </a:pPr>
            <a:r>
              <a:rPr lang="en-US" sz="3057" i="1">
                <a:solidFill>
                  <a:srgbClr val="000000"/>
                </a:solidFill>
                <a:latin typeface="Lato Italics"/>
                <a:ea typeface="Lato Italics"/>
                <a:cs typeface="Lato Italics"/>
                <a:sym typeface="Lato Italics"/>
              </a:rPr>
              <a:t>2</a:t>
            </a:r>
          </a:p>
        </p:txBody>
      </p:sp>
      <p:sp>
        <p:nvSpPr>
          <p:cNvPr id="41" name="TextBox 41"/>
          <p:cNvSpPr txBox="1"/>
          <p:nvPr/>
        </p:nvSpPr>
        <p:spPr>
          <a:xfrm>
            <a:off x="10626541" y="4464801"/>
            <a:ext cx="1029632" cy="434998"/>
          </a:xfrm>
          <a:prstGeom prst="rect">
            <a:avLst/>
          </a:prstGeom>
        </p:spPr>
        <p:txBody>
          <a:bodyPr lIns="0" tIns="0" rIns="0" bIns="0" rtlCol="0" anchor="t">
            <a:spAutoFit/>
          </a:bodyPr>
          <a:lstStyle/>
          <a:p>
            <a:pPr algn="ctr">
              <a:lnSpc>
                <a:spcPts val="3393"/>
              </a:lnSpc>
            </a:pPr>
            <a:r>
              <a:rPr lang="en-US" sz="3057" i="1">
                <a:solidFill>
                  <a:srgbClr val="EBE2D6"/>
                </a:solidFill>
                <a:latin typeface="Lato Italics"/>
                <a:ea typeface="Lato Italics"/>
                <a:cs typeface="Lato Italics"/>
                <a:sym typeface="Lato Italics"/>
              </a:rPr>
              <a:t>3</a:t>
            </a:r>
          </a:p>
        </p:txBody>
      </p:sp>
      <p:sp>
        <p:nvSpPr>
          <p:cNvPr id="42" name="TextBox 42"/>
          <p:cNvSpPr txBox="1"/>
          <p:nvPr/>
        </p:nvSpPr>
        <p:spPr>
          <a:xfrm>
            <a:off x="14640901" y="4444677"/>
            <a:ext cx="1029632" cy="434998"/>
          </a:xfrm>
          <a:prstGeom prst="rect">
            <a:avLst/>
          </a:prstGeom>
        </p:spPr>
        <p:txBody>
          <a:bodyPr lIns="0" tIns="0" rIns="0" bIns="0" rtlCol="0" anchor="t">
            <a:spAutoFit/>
          </a:bodyPr>
          <a:lstStyle/>
          <a:p>
            <a:pPr algn="ctr">
              <a:lnSpc>
                <a:spcPts val="3393"/>
              </a:lnSpc>
            </a:pPr>
            <a:r>
              <a:rPr lang="en-US" sz="3057" i="1">
                <a:solidFill>
                  <a:srgbClr val="000000"/>
                </a:solidFill>
                <a:latin typeface="Lato Italics"/>
                <a:ea typeface="Lato Italics"/>
                <a:cs typeface="Lato Italics"/>
                <a:sym typeface="Lato Italics"/>
              </a:rPr>
              <a:t>4</a:t>
            </a:r>
          </a:p>
        </p:txBody>
      </p:sp>
      <p:grpSp>
        <p:nvGrpSpPr>
          <p:cNvPr id="43" name="Group 43"/>
          <p:cNvGrpSpPr/>
          <p:nvPr/>
        </p:nvGrpSpPr>
        <p:grpSpPr>
          <a:xfrm>
            <a:off x="5567079" y="1028700"/>
            <a:ext cx="7153843" cy="1565913"/>
            <a:chOff x="0" y="0"/>
            <a:chExt cx="9538457" cy="2087884"/>
          </a:xfrm>
        </p:grpSpPr>
        <p:sp>
          <p:nvSpPr>
            <p:cNvPr id="44" name="TextBox 44"/>
            <p:cNvSpPr txBox="1"/>
            <p:nvPr/>
          </p:nvSpPr>
          <p:spPr>
            <a:xfrm>
              <a:off x="62532" y="-152400"/>
              <a:ext cx="9413394" cy="1675983"/>
            </a:xfrm>
            <a:prstGeom prst="rect">
              <a:avLst/>
            </a:prstGeom>
          </p:spPr>
          <p:txBody>
            <a:bodyPr lIns="0" tIns="0" rIns="0" bIns="0" rtlCol="0" anchor="t">
              <a:spAutoFit/>
            </a:bodyPr>
            <a:lstStyle/>
            <a:p>
              <a:pPr algn="just">
                <a:lnSpc>
                  <a:spcPts val="10517"/>
                </a:lnSpc>
              </a:pPr>
              <a:r>
                <a:rPr lang="en-US" sz="7512" b="1" spc="-247">
                  <a:solidFill>
                    <a:srgbClr val="000000"/>
                  </a:solidFill>
                  <a:latin typeface="Roboto Bold"/>
                  <a:ea typeface="Roboto Bold"/>
                  <a:cs typeface="Roboto Bold"/>
                  <a:sym typeface="Roboto Bold"/>
                </a:rPr>
                <a:t>MÉTHODOLOGIE</a:t>
              </a:r>
            </a:p>
          </p:txBody>
        </p:sp>
        <p:sp>
          <p:nvSpPr>
            <p:cNvPr id="45" name="TextBox 45"/>
            <p:cNvSpPr txBox="1"/>
            <p:nvPr/>
          </p:nvSpPr>
          <p:spPr>
            <a:xfrm>
              <a:off x="0" y="1543691"/>
              <a:ext cx="9538457" cy="544193"/>
            </a:xfrm>
            <a:prstGeom prst="rect">
              <a:avLst/>
            </a:prstGeom>
          </p:spPr>
          <p:txBody>
            <a:bodyPr lIns="0" tIns="0" rIns="0" bIns="0" rtlCol="0" anchor="t">
              <a:spAutoFit/>
            </a:bodyPr>
            <a:lstStyle/>
            <a:p>
              <a:pPr algn="ctr">
                <a:lnSpc>
                  <a:spcPts val="33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0" y="1576151"/>
            <a:ext cx="6096000" cy="2259330"/>
            <a:chOff x="0" y="0"/>
            <a:chExt cx="944430" cy="350029"/>
          </a:xfrm>
        </p:grpSpPr>
        <p:sp>
          <p:nvSpPr>
            <p:cNvPr id="3" name="Freeform 3"/>
            <p:cNvSpPr/>
            <p:nvPr/>
          </p:nvSpPr>
          <p:spPr>
            <a:xfrm>
              <a:off x="0" y="0"/>
              <a:ext cx="944430" cy="350029"/>
            </a:xfrm>
            <a:custGeom>
              <a:avLst/>
              <a:gdLst/>
              <a:ahLst/>
              <a:cxnLst/>
              <a:rect l="l" t="t" r="r" b="b"/>
              <a:pathLst>
                <a:path w="944430" h="350029">
                  <a:moveTo>
                    <a:pt x="0" y="0"/>
                  </a:moveTo>
                  <a:lnTo>
                    <a:pt x="944430" y="0"/>
                  </a:lnTo>
                  <a:lnTo>
                    <a:pt x="944430" y="350029"/>
                  </a:lnTo>
                  <a:lnTo>
                    <a:pt x="0" y="350029"/>
                  </a:lnTo>
                  <a:close/>
                </a:path>
              </a:pathLst>
            </a:custGeom>
            <a:blipFill>
              <a:blip r:embed="rId2"/>
              <a:stretch>
                <a:fillRect t="-39875" b="-39875"/>
              </a:stretch>
            </a:blipFill>
          </p:spPr>
        </p:sp>
      </p:grpSp>
      <p:grpSp>
        <p:nvGrpSpPr>
          <p:cNvPr id="4" name="Group 4"/>
          <p:cNvGrpSpPr/>
          <p:nvPr/>
        </p:nvGrpSpPr>
        <p:grpSpPr>
          <a:xfrm>
            <a:off x="12192000" y="1481043"/>
            <a:ext cx="6096000" cy="2354437"/>
            <a:chOff x="0" y="0"/>
            <a:chExt cx="944430" cy="364764"/>
          </a:xfrm>
        </p:grpSpPr>
        <p:sp>
          <p:nvSpPr>
            <p:cNvPr id="5" name="Freeform 5"/>
            <p:cNvSpPr/>
            <p:nvPr/>
          </p:nvSpPr>
          <p:spPr>
            <a:xfrm>
              <a:off x="0" y="0"/>
              <a:ext cx="944430" cy="364764"/>
            </a:xfrm>
            <a:custGeom>
              <a:avLst/>
              <a:gdLst/>
              <a:ahLst/>
              <a:cxnLst/>
              <a:rect l="l" t="t" r="r" b="b"/>
              <a:pathLst>
                <a:path w="944430" h="364764">
                  <a:moveTo>
                    <a:pt x="0" y="0"/>
                  </a:moveTo>
                  <a:lnTo>
                    <a:pt x="944430" y="0"/>
                  </a:lnTo>
                  <a:lnTo>
                    <a:pt x="944430" y="364764"/>
                  </a:lnTo>
                  <a:lnTo>
                    <a:pt x="0" y="364764"/>
                  </a:lnTo>
                  <a:close/>
                </a:path>
              </a:pathLst>
            </a:custGeom>
            <a:blipFill>
              <a:blip r:embed="rId3"/>
              <a:stretch>
                <a:fillRect t="-36305" b="-36305"/>
              </a:stretch>
            </a:blipFill>
          </p:spPr>
        </p:sp>
      </p:grpSp>
      <p:grpSp>
        <p:nvGrpSpPr>
          <p:cNvPr id="6" name="Group 6"/>
          <p:cNvGrpSpPr/>
          <p:nvPr/>
        </p:nvGrpSpPr>
        <p:grpSpPr>
          <a:xfrm>
            <a:off x="6096000" y="7200900"/>
            <a:ext cx="6096000" cy="2571750"/>
            <a:chOff x="0" y="0"/>
            <a:chExt cx="944430" cy="398431"/>
          </a:xfrm>
        </p:grpSpPr>
        <p:sp>
          <p:nvSpPr>
            <p:cNvPr id="7" name="Freeform 7"/>
            <p:cNvSpPr/>
            <p:nvPr/>
          </p:nvSpPr>
          <p:spPr>
            <a:xfrm>
              <a:off x="0" y="0"/>
              <a:ext cx="944430" cy="398431"/>
            </a:xfrm>
            <a:custGeom>
              <a:avLst/>
              <a:gdLst/>
              <a:ahLst/>
              <a:cxnLst/>
              <a:rect l="l" t="t" r="r" b="b"/>
              <a:pathLst>
                <a:path w="944430" h="398431">
                  <a:moveTo>
                    <a:pt x="0" y="0"/>
                  </a:moveTo>
                  <a:lnTo>
                    <a:pt x="944430" y="0"/>
                  </a:lnTo>
                  <a:lnTo>
                    <a:pt x="944430" y="398431"/>
                  </a:lnTo>
                  <a:lnTo>
                    <a:pt x="0" y="398431"/>
                  </a:lnTo>
                  <a:close/>
                </a:path>
              </a:pathLst>
            </a:custGeom>
            <a:blipFill>
              <a:blip r:embed="rId4"/>
              <a:stretch>
                <a:fillRect t="-28962" b="-28962"/>
              </a:stretch>
            </a:blipFill>
          </p:spPr>
        </p:sp>
      </p:grpSp>
      <p:grpSp>
        <p:nvGrpSpPr>
          <p:cNvPr id="8" name="Group 8"/>
          <p:cNvGrpSpPr/>
          <p:nvPr/>
        </p:nvGrpSpPr>
        <p:grpSpPr>
          <a:xfrm>
            <a:off x="6096000" y="9622012"/>
            <a:ext cx="6096000" cy="664988"/>
            <a:chOff x="0" y="0"/>
            <a:chExt cx="1605531" cy="175141"/>
          </a:xfrm>
        </p:grpSpPr>
        <p:sp>
          <p:nvSpPr>
            <p:cNvPr id="9" name="Freeform 9"/>
            <p:cNvSpPr/>
            <p:nvPr/>
          </p:nvSpPr>
          <p:spPr>
            <a:xfrm>
              <a:off x="0" y="0"/>
              <a:ext cx="1605531" cy="175141"/>
            </a:xfrm>
            <a:custGeom>
              <a:avLst/>
              <a:gdLst/>
              <a:ahLst/>
              <a:cxnLst/>
              <a:rect l="l" t="t" r="r" b="b"/>
              <a:pathLst>
                <a:path w="1605531" h="175141">
                  <a:moveTo>
                    <a:pt x="0" y="0"/>
                  </a:moveTo>
                  <a:lnTo>
                    <a:pt x="1605531" y="0"/>
                  </a:lnTo>
                  <a:lnTo>
                    <a:pt x="1605531" y="175141"/>
                  </a:lnTo>
                  <a:lnTo>
                    <a:pt x="0" y="175141"/>
                  </a:lnTo>
                  <a:close/>
                </a:path>
              </a:pathLst>
            </a:custGeom>
            <a:solidFill>
              <a:srgbClr val="EAFAB2"/>
            </a:solidFill>
          </p:spPr>
        </p:sp>
        <p:sp>
          <p:nvSpPr>
            <p:cNvPr id="10" name="TextBox 10"/>
            <p:cNvSpPr txBox="1"/>
            <p:nvPr/>
          </p:nvSpPr>
          <p:spPr>
            <a:xfrm>
              <a:off x="0" y="-38100"/>
              <a:ext cx="1605531" cy="213241"/>
            </a:xfrm>
            <a:prstGeom prst="rect">
              <a:avLst/>
            </a:prstGeom>
          </p:spPr>
          <p:txBody>
            <a:bodyPr lIns="50800" tIns="50800" rIns="50800" bIns="50800" rtlCol="0" anchor="ctr"/>
            <a:lstStyle/>
            <a:p>
              <a:pPr algn="ctr">
                <a:lnSpc>
                  <a:spcPts val="2775"/>
                </a:lnSpc>
              </a:pPr>
              <a:endParaRPr/>
            </a:p>
          </p:txBody>
        </p:sp>
      </p:grpSp>
      <p:grpSp>
        <p:nvGrpSpPr>
          <p:cNvPr id="11" name="Group 11"/>
          <p:cNvGrpSpPr/>
          <p:nvPr/>
        </p:nvGrpSpPr>
        <p:grpSpPr>
          <a:xfrm>
            <a:off x="0" y="3852392"/>
            <a:ext cx="6096000" cy="664988"/>
            <a:chOff x="0" y="0"/>
            <a:chExt cx="1605531" cy="175141"/>
          </a:xfrm>
        </p:grpSpPr>
        <p:sp>
          <p:nvSpPr>
            <p:cNvPr id="12" name="Freeform 12"/>
            <p:cNvSpPr/>
            <p:nvPr/>
          </p:nvSpPr>
          <p:spPr>
            <a:xfrm>
              <a:off x="0" y="0"/>
              <a:ext cx="1605531" cy="175141"/>
            </a:xfrm>
            <a:custGeom>
              <a:avLst/>
              <a:gdLst/>
              <a:ahLst/>
              <a:cxnLst/>
              <a:rect l="l" t="t" r="r" b="b"/>
              <a:pathLst>
                <a:path w="1605531" h="175141">
                  <a:moveTo>
                    <a:pt x="0" y="0"/>
                  </a:moveTo>
                  <a:lnTo>
                    <a:pt x="1605531" y="0"/>
                  </a:lnTo>
                  <a:lnTo>
                    <a:pt x="1605531" y="175141"/>
                  </a:lnTo>
                  <a:lnTo>
                    <a:pt x="0" y="175141"/>
                  </a:lnTo>
                  <a:close/>
                </a:path>
              </a:pathLst>
            </a:custGeom>
            <a:solidFill>
              <a:srgbClr val="EAFAB2"/>
            </a:solidFill>
          </p:spPr>
        </p:sp>
        <p:sp>
          <p:nvSpPr>
            <p:cNvPr id="13" name="TextBox 13"/>
            <p:cNvSpPr txBox="1"/>
            <p:nvPr/>
          </p:nvSpPr>
          <p:spPr>
            <a:xfrm>
              <a:off x="0" y="-38100"/>
              <a:ext cx="1605531" cy="213241"/>
            </a:xfrm>
            <a:prstGeom prst="rect">
              <a:avLst/>
            </a:prstGeom>
          </p:spPr>
          <p:txBody>
            <a:bodyPr lIns="50800" tIns="50800" rIns="50800" bIns="50800" rtlCol="0" anchor="ctr"/>
            <a:lstStyle/>
            <a:p>
              <a:pPr algn="ctr">
                <a:lnSpc>
                  <a:spcPts val="2775"/>
                </a:lnSpc>
              </a:pPr>
              <a:endParaRPr/>
            </a:p>
          </p:txBody>
        </p:sp>
      </p:grpSp>
      <p:grpSp>
        <p:nvGrpSpPr>
          <p:cNvPr id="14" name="Group 14"/>
          <p:cNvGrpSpPr/>
          <p:nvPr/>
        </p:nvGrpSpPr>
        <p:grpSpPr>
          <a:xfrm>
            <a:off x="12191931" y="3835481"/>
            <a:ext cx="6096000" cy="664988"/>
            <a:chOff x="0" y="0"/>
            <a:chExt cx="1605531" cy="175141"/>
          </a:xfrm>
        </p:grpSpPr>
        <p:sp>
          <p:nvSpPr>
            <p:cNvPr id="15" name="Freeform 15"/>
            <p:cNvSpPr/>
            <p:nvPr/>
          </p:nvSpPr>
          <p:spPr>
            <a:xfrm>
              <a:off x="0" y="0"/>
              <a:ext cx="1605531" cy="175141"/>
            </a:xfrm>
            <a:custGeom>
              <a:avLst/>
              <a:gdLst/>
              <a:ahLst/>
              <a:cxnLst/>
              <a:rect l="l" t="t" r="r" b="b"/>
              <a:pathLst>
                <a:path w="1605531" h="175141">
                  <a:moveTo>
                    <a:pt x="0" y="0"/>
                  </a:moveTo>
                  <a:lnTo>
                    <a:pt x="1605531" y="0"/>
                  </a:lnTo>
                  <a:lnTo>
                    <a:pt x="1605531" y="175141"/>
                  </a:lnTo>
                  <a:lnTo>
                    <a:pt x="0" y="175141"/>
                  </a:lnTo>
                  <a:close/>
                </a:path>
              </a:pathLst>
            </a:custGeom>
            <a:solidFill>
              <a:srgbClr val="EAFAB2"/>
            </a:solidFill>
          </p:spPr>
        </p:sp>
        <p:sp>
          <p:nvSpPr>
            <p:cNvPr id="16" name="TextBox 16"/>
            <p:cNvSpPr txBox="1"/>
            <p:nvPr/>
          </p:nvSpPr>
          <p:spPr>
            <a:xfrm>
              <a:off x="0" y="-38100"/>
              <a:ext cx="1605531" cy="213241"/>
            </a:xfrm>
            <a:prstGeom prst="rect">
              <a:avLst/>
            </a:prstGeom>
          </p:spPr>
          <p:txBody>
            <a:bodyPr lIns="50800" tIns="50800" rIns="50800" bIns="50800" rtlCol="0" anchor="ctr"/>
            <a:lstStyle/>
            <a:p>
              <a:pPr algn="ctr">
                <a:lnSpc>
                  <a:spcPts val="2775"/>
                </a:lnSpc>
              </a:pPr>
              <a:endParaRPr/>
            </a:p>
          </p:txBody>
        </p:sp>
      </p:grpSp>
      <p:sp>
        <p:nvSpPr>
          <p:cNvPr id="17" name="TextBox 17"/>
          <p:cNvSpPr txBox="1"/>
          <p:nvPr/>
        </p:nvSpPr>
        <p:spPr>
          <a:xfrm>
            <a:off x="6504429" y="2137015"/>
            <a:ext cx="5253532" cy="4722630"/>
          </a:xfrm>
          <a:prstGeom prst="rect">
            <a:avLst/>
          </a:prstGeom>
        </p:spPr>
        <p:txBody>
          <a:bodyPr lIns="0" tIns="0" rIns="0" bIns="0" rtlCol="0" anchor="t">
            <a:spAutoFit/>
          </a:bodyPr>
          <a:lstStyle/>
          <a:p>
            <a:pPr marL="417683" lvl="1" indent="-208842" algn="l">
              <a:lnSpc>
                <a:spcPts val="2708"/>
              </a:lnSpc>
              <a:buAutoNum type="arabicPeriod"/>
            </a:pPr>
            <a:r>
              <a:rPr lang="en-US" sz="1934" b="1">
                <a:solidFill>
                  <a:srgbClr val="000000"/>
                </a:solidFill>
                <a:latin typeface="Lato Bold"/>
                <a:ea typeface="Lato Bold"/>
                <a:cs typeface="Lato Bold"/>
                <a:sym typeface="Lato Bold"/>
              </a:rPr>
              <a:t> Nettoyage des Données : </a:t>
            </a:r>
          </a:p>
          <a:p>
            <a:pPr marL="417683" lvl="1" indent="-208842" algn="l">
              <a:lnSpc>
                <a:spcPts val="2708"/>
              </a:lnSpc>
              <a:buFont typeface="Arial"/>
              <a:buChar char="•"/>
            </a:pPr>
            <a:r>
              <a:rPr lang="en-US" sz="1934">
                <a:solidFill>
                  <a:srgbClr val="000000"/>
                </a:solidFill>
                <a:latin typeface="Lato"/>
                <a:ea typeface="Lato"/>
                <a:cs typeface="Lato"/>
                <a:sym typeface="Lato"/>
              </a:rPr>
              <a:t>Suppression des valeurs manquantes et aberrantes.</a:t>
            </a:r>
          </a:p>
          <a:p>
            <a:pPr marL="417683" lvl="1" indent="-208842" algn="l">
              <a:lnSpc>
                <a:spcPts val="2708"/>
              </a:lnSpc>
              <a:buFont typeface="Arial"/>
              <a:buChar char="•"/>
            </a:pPr>
            <a:r>
              <a:rPr lang="en-US" sz="1934">
                <a:solidFill>
                  <a:srgbClr val="000000"/>
                </a:solidFill>
                <a:latin typeface="Lato"/>
                <a:ea typeface="Lato"/>
                <a:cs typeface="Lato"/>
                <a:sym typeface="Lato"/>
              </a:rPr>
              <a:t>Uniformisation des noms de colonnes (ex. "région" au lieu de variations typo ou orthographiques).</a:t>
            </a:r>
          </a:p>
          <a:p>
            <a:pPr marL="417683" lvl="1" indent="-208842" algn="l">
              <a:lnSpc>
                <a:spcPts val="2708"/>
              </a:lnSpc>
              <a:buAutoNum type="arabicPeriod"/>
            </a:pPr>
            <a:r>
              <a:rPr lang="en-US" sz="1934">
                <a:solidFill>
                  <a:srgbClr val="000000"/>
                </a:solidFill>
                <a:latin typeface="Lato"/>
                <a:ea typeface="Lato"/>
                <a:cs typeface="Lato"/>
                <a:sym typeface="Lato"/>
              </a:rPr>
              <a:t> </a:t>
            </a:r>
            <a:r>
              <a:rPr lang="en-US" sz="1934" b="1">
                <a:solidFill>
                  <a:srgbClr val="000000"/>
                </a:solidFill>
                <a:latin typeface="Lato Bold"/>
                <a:ea typeface="Lato Bold"/>
                <a:cs typeface="Lato Bold"/>
                <a:sym typeface="Lato Bold"/>
              </a:rPr>
              <a:t>Ajout des Coordonnées GPS :</a:t>
            </a:r>
          </a:p>
          <a:p>
            <a:pPr marL="417683" lvl="1" indent="-208842" algn="l">
              <a:lnSpc>
                <a:spcPts val="2708"/>
              </a:lnSpc>
              <a:buFont typeface="Arial"/>
              <a:buChar char="•"/>
            </a:pPr>
            <a:r>
              <a:rPr lang="en-US" sz="1934">
                <a:solidFill>
                  <a:srgbClr val="000000"/>
                </a:solidFill>
                <a:latin typeface="Lato"/>
                <a:ea typeface="Lato"/>
                <a:cs typeface="Lato"/>
                <a:sym typeface="Lato"/>
              </a:rPr>
              <a:t>Association des villes avec leurs latitudes et longitudes.</a:t>
            </a:r>
          </a:p>
          <a:p>
            <a:pPr marL="417683" lvl="1" indent="-208842" algn="l">
              <a:lnSpc>
                <a:spcPts val="2708"/>
              </a:lnSpc>
              <a:buAutoNum type="arabicPeriod"/>
            </a:pPr>
            <a:r>
              <a:rPr lang="en-US" sz="1934" b="1">
                <a:solidFill>
                  <a:srgbClr val="000000"/>
                </a:solidFill>
                <a:latin typeface="Lato Bold"/>
                <a:ea typeface="Lato Bold"/>
                <a:cs typeface="Lato Bold"/>
                <a:sym typeface="Lato Bold"/>
              </a:rPr>
              <a:t>Normalisation Temporelle :</a:t>
            </a:r>
          </a:p>
          <a:p>
            <a:pPr marL="417683" lvl="1" indent="-208842" algn="l">
              <a:lnSpc>
                <a:spcPts val="2708"/>
              </a:lnSpc>
              <a:buFont typeface="Arial"/>
              <a:buChar char="•"/>
            </a:pPr>
            <a:r>
              <a:rPr lang="en-US" sz="1934">
                <a:solidFill>
                  <a:srgbClr val="000000"/>
                </a:solidFill>
                <a:latin typeface="Lato"/>
                <a:ea typeface="Lato"/>
                <a:cs typeface="Lato"/>
                <a:sym typeface="Lato"/>
              </a:rPr>
              <a:t>Conversion des dates au format ISO (AAAA-MM-JJ) pour une analyse uniforme.</a:t>
            </a:r>
          </a:p>
          <a:p>
            <a:pPr algn="l">
              <a:lnSpc>
                <a:spcPts val="2708"/>
              </a:lnSpc>
            </a:pPr>
            <a:endParaRPr lang="en-US" sz="1934">
              <a:solidFill>
                <a:srgbClr val="000000"/>
              </a:solidFill>
              <a:latin typeface="Lato"/>
              <a:ea typeface="Lato"/>
              <a:cs typeface="Lato"/>
              <a:sym typeface="Lato"/>
            </a:endParaRPr>
          </a:p>
          <a:p>
            <a:pPr algn="l">
              <a:lnSpc>
                <a:spcPts val="2708"/>
              </a:lnSpc>
            </a:pPr>
            <a:endParaRPr lang="en-US" sz="1934">
              <a:solidFill>
                <a:srgbClr val="000000"/>
              </a:solidFill>
              <a:latin typeface="Lato"/>
              <a:ea typeface="Lato"/>
              <a:cs typeface="Lato"/>
              <a:sym typeface="Lato"/>
            </a:endParaRPr>
          </a:p>
        </p:txBody>
      </p:sp>
      <p:sp>
        <p:nvSpPr>
          <p:cNvPr id="18" name="TextBox 18"/>
          <p:cNvSpPr txBox="1"/>
          <p:nvPr/>
        </p:nvSpPr>
        <p:spPr>
          <a:xfrm>
            <a:off x="433088" y="4799062"/>
            <a:ext cx="5169179" cy="3709034"/>
          </a:xfrm>
          <a:prstGeom prst="rect">
            <a:avLst/>
          </a:prstGeom>
        </p:spPr>
        <p:txBody>
          <a:bodyPr lIns="0" tIns="0" rIns="0" bIns="0" rtlCol="0" anchor="t">
            <a:spAutoFit/>
          </a:bodyPr>
          <a:lstStyle/>
          <a:p>
            <a:pPr marL="453396" lvl="1" indent="-226698" algn="l">
              <a:lnSpc>
                <a:spcPts val="2940"/>
              </a:lnSpc>
              <a:buAutoNum type="arabicPeriod"/>
            </a:pPr>
            <a:r>
              <a:rPr lang="en-US" sz="2100">
                <a:solidFill>
                  <a:srgbClr val="000000"/>
                </a:solidFill>
                <a:latin typeface="Lato"/>
                <a:ea typeface="Lato"/>
                <a:cs typeface="Lato"/>
                <a:sym typeface="Lato"/>
              </a:rPr>
              <a:t>Rapports gouvernementaux et académiques (Ministère de la Santé, OMS, FAO, ONSSA)</a:t>
            </a:r>
          </a:p>
          <a:p>
            <a:pPr marL="453396" lvl="1" indent="-226698" algn="l">
              <a:lnSpc>
                <a:spcPts val="2940"/>
              </a:lnSpc>
              <a:buAutoNum type="arabicPeriod"/>
            </a:pPr>
            <a:r>
              <a:rPr lang="en-US" sz="2100">
                <a:solidFill>
                  <a:srgbClr val="000000"/>
                </a:solidFill>
                <a:latin typeface="Lato"/>
                <a:ea typeface="Lato"/>
                <a:cs typeface="Lato"/>
                <a:sym typeface="Lato"/>
              </a:rPr>
              <a:t>Articles de presse locale rapportant des cas spécifiques (Le Matin, L’Économiste)</a:t>
            </a:r>
          </a:p>
          <a:p>
            <a:pPr marL="453396" lvl="1" indent="-226698" algn="l">
              <a:lnSpc>
                <a:spcPts val="2940"/>
              </a:lnSpc>
              <a:buAutoNum type="arabicPeriod"/>
            </a:pPr>
            <a:r>
              <a:rPr lang="en-US" sz="2100">
                <a:solidFill>
                  <a:srgbClr val="000000"/>
                </a:solidFill>
                <a:latin typeface="Lato"/>
                <a:ea typeface="Lato"/>
                <a:cs typeface="Lato"/>
                <a:sym typeface="Lato"/>
              </a:rPr>
              <a:t>Données géographiques pour représenter les cas par ville ou région (coordonnées GPS fournies par des bases publiques ou calculées). </a:t>
            </a:r>
          </a:p>
          <a:p>
            <a:pPr algn="l">
              <a:lnSpc>
                <a:spcPts val="2940"/>
              </a:lnSpc>
            </a:pPr>
            <a:endParaRPr lang="en-US" sz="2100">
              <a:solidFill>
                <a:srgbClr val="000000"/>
              </a:solidFill>
              <a:latin typeface="Lato"/>
              <a:ea typeface="Lato"/>
              <a:cs typeface="Lato"/>
              <a:sym typeface="Lato"/>
            </a:endParaRPr>
          </a:p>
        </p:txBody>
      </p:sp>
      <p:sp>
        <p:nvSpPr>
          <p:cNvPr id="19" name="TextBox 19"/>
          <p:cNvSpPr txBox="1"/>
          <p:nvPr/>
        </p:nvSpPr>
        <p:spPr>
          <a:xfrm>
            <a:off x="12888692" y="4799062"/>
            <a:ext cx="4880758" cy="2966084"/>
          </a:xfrm>
          <a:prstGeom prst="rect">
            <a:avLst/>
          </a:prstGeom>
        </p:spPr>
        <p:txBody>
          <a:bodyPr lIns="0" tIns="0" rIns="0" bIns="0" rtlCol="0" anchor="t">
            <a:spAutoFit/>
          </a:bodyPr>
          <a:lstStyle/>
          <a:p>
            <a:pPr marL="453396" lvl="1" indent="-226698" algn="l">
              <a:lnSpc>
                <a:spcPts val="2940"/>
              </a:lnSpc>
              <a:buAutoNum type="arabicPeriod"/>
            </a:pPr>
            <a:r>
              <a:rPr lang="en-US" sz="2100" b="1">
                <a:solidFill>
                  <a:srgbClr val="000000"/>
                </a:solidFill>
                <a:latin typeface="Lato Bold"/>
                <a:ea typeface="Lato Bold"/>
                <a:cs typeface="Lato Bold"/>
                <a:sym typeface="Lato Bold"/>
              </a:rPr>
              <a:t>Structure tabulaire en CSV :</a:t>
            </a:r>
          </a:p>
          <a:p>
            <a:pPr marL="453396" lvl="1" indent="-226698" algn="l">
              <a:lnSpc>
                <a:spcPts val="2940"/>
              </a:lnSpc>
              <a:buFont typeface="Arial"/>
              <a:buChar char="•"/>
            </a:pPr>
            <a:r>
              <a:rPr lang="en-US" sz="2100">
                <a:solidFill>
                  <a:srgbClr val="000000"/>
                </a:solidFill>
                <a:latin typeface="Lato"/>
                <a:ea typeface="Lato"/>
                <a:cs typeface="Lato"/>
                <a:sym typeface="Lato"/>
              </a:rPr>
              <a:t>Colonnes principales : Région, Ville, Date, Aliments suspects, Nombre de cas,Gravité, Hospitalisation.</a:t>
            </a:r>
          </a:p>
          <a:p>
            <a:pPr marL="453396" lvl="1" indent="-226698" algn="l">
              <a:lnSpc>
                <a:spcPts val="2940"/>
              </a:lnSpc>
              <a:buAutoNum type="arabicPeriod"/>
            </a:pPr>
            <a:r>
              <a:rPr lang="en-US" sz="2100">
                <a:solidFill>
                  <a:srgbClr val="000000"/>
                </a:solidFill>
                <a:latin typeface="Lato"/>
                <a:ea typeface="Lato"/>
                <a:cs typeface="Lato"/>
                <a:sym typeface="Lato"/>
              </a:rPr>
              <a:t>Ajout des métadonnées nécessaires pour l’analyse (identifiants uniques, origine des données). </a:t>
            </a:r>
          </a:p>
          <a:p>
            <a:pPr algn="l">
              <a:lnSpc>
                <a:spcPts val="2940"/>
              </a:lnSpc>
            </a:pPr>
            <a:endParaRPr lang="en-US" sz="2100">
              <a:solidFill>
                <a:srgbClr val="000000"/>
              </a:solidFill>
              <a:latin typeface="Lato"/>
              <a:ea typeface="Lato"/>
              <a:cs typeface="Lato"/>
              <a:sym typeface="Lato"/>
            </a:endParaRPr>
          </a:p>
        </p:txBody>
      </p:sp>
      <p:sp>
        <p:nvSpPr>
          <p:cNvPr id="20" name="TextBox 20"/>
          <p:cNvSpPr txBox="1"/>
          <p:nvPr/>
        </p:nvSpPr>
        <p:spPr>
          <a:xfrm>
            <a:off x="7121032" y="9733343"/>
            <a:ext cx="4128319" cy="375651"/>
          </a:xfrm>
          <a:prstGeom prst="rect">
            <a:avLst/>
          </a:prstGeom>
        </p:spPr>
        <p:txBody>
          <a:bodyPr lIns="0" tIns="0" rIns="0" bIns="0" rtlCol="0" anchor="t">
            <a:spAutoFit/>
          </a:bodyPr>
          <a:lstStyle/>
          <a:p>
            <a:pPr algn="l">
              <a:lnSpc>
                <a:spcPts val="2919"/>
              </a:lnSpc>
            </a:pPr>
            <a:r>
              <a:rPr lang="en-US" sz="2085" b="1">
                <a:solidFill>
                  <a:srgbClr val="000000"/>
                </a:solidFill>
                <a:latin typeface="Poppins Bold"/>
                <a:ea typeface="Poppins Bold"/>
                <a:cs typeface="Poppins Bold"/>
                <a:sym typeface="Poppins Bold"/>
              </a:rPr>
              <a:t>/ Traitement</a:t>
            </a:r>
          </a:p>
        </p:txBody>
      </p:sp>
      <p:sp>
        <p:nvSpPr>
          <p:cNvPr id="21" name="TextBox 21"/>
          <p:cNvSpPr txBox="1"/>
          <p:nvPr/>
        </p:nvSpPr>
        <p:spPr>
          <a:xfrm>
            <a:off x="6525421" y="9738721"/>
            <a:ext cx="595612" cy="422045"/>
          </a:xfrm>
          <a:prstGeom prst="rect">
            <a:avLst/>
          </a:prstGeom>
        </p:spPr>
        <p:txBody>
          <a:bodyPr lIns="0" tIns="0" rIns="0" bIns="0" rtlCol="0" anchor="t">
            <a:spAutoFit/>
          </a:bodyPr>
          <a:lstStyle/>
          <a:p>
            <a:pPr algn="ctr">
              <a:lnSpc>
                <a:spcPts val="3060"/>
              </a:lnSpc>
            </a:pPr>
            <a:r>
              <a:rPr lang="en-US" sz="2757" b="1">
                <a:solidFill>
                  <a:srgbClr val="000000"/>
                </a:solidFill>
                <a:latin typeface="Poppins Bold"/>
                <a:ea typeface="Poppins Bold"/>
                <a:cs typeface="Poppins Bold"/>
                <a:sym typeface="Poppins Bold"/>
              </a:rPr>
              <a:t>2</a:t>
            </a:r>
          </a:p>
        </p:txBody>
      </p:sp>
      <p:sp>
        <p:nvSpPr>
          <p:cNvPr id="22" name="TextBox 22"/>
          <p:cNvSpPr txBox="1"/>
          <p:nvPr/>
        </p:nvSpPr>
        <p:spPr>
          <a:xfrm>
            <a:off x="1028700" y="3939765"/>
            <a:ext cx="4128319" cy="375651"/>
          </a:xfrm>
          <a:prstGeom prst="rect">
            <a:avLst/>
          </a:prstGeom>
        </p:spPr>
        <p:txBody>
          <a:bodyPr lIns="0" tIns="0" rIns="0" bIns="0" rtlCol="0" anchor="t">
            <a:spAutoFit/>
          </a:bodyPr>
          <a:lstStyle/>
          <a:p>
            <a:pPr algn="l">
              <a:lnSpc>
                <a:spcPts val="2919"/>
              </a:lnSpc>
            </a:pPr>
            <a:r>
              <a:rPr lang="en-US" sz="2085" b="1">
                <a:solidFill>
                  <a:srgbClr val="000000"/>
                </a:solidFill>
                <a:latin typeface="Poppins Bold"/>
                <a:ea typeface="Poppins Bold"/>
                <a:cs typeface="Poppins Bold"/>
                <a:sym typeface="Poppins Bold"/>
              </a:rPr>
              <a:t>/SOURCES DES DONNÉES</a:t>
            </a:r>
          </a:p>
        </p:txBody>
      </p:sp>
      <p:sp>
        <p:nvSpPr>
          <p:cNvPr id="23" name="TextBox 23"/>
          <p:cNvSpPr txBox="1"/>
          <p:nvPr/>
        </p:nvSpPr>
        <p:spPr>
          <a:xfrm>
            <a:off x="433088" y="3923615"/>
            <a:ext cx="595612" cy="422045"/>
          </a:xfrm>
          <a:prstGeom prst="rect">
            <a:avLst/>
          </a:prstGeom>
        </p:spPr>
        <p:txBody>
          <a:bodyPr lIns="0" tIns="0" rIns="0" bIns="0" rtlCol="0" anchor="t">
            <a:spAutoFit/>
          </a:bodyPr>
          <a:lstStyle/>
          <a:p>
            <a:pPr algn="ctr">
              <a:lnSpc>
                <a:spcPts val="3060"/>
              </a:lnSpc>
            </a:pPr>
            <a:r>
              <a:rPr lang="en-US" sz="2757" b="1">
                <a:solidFill>
                  <a:srgbClr val="000000"/>
                </a:solidFill>
                <a:latin typeface="Poppins Bold"/>
                <a:ea typeface="Poppins Bold"/>
                <a:cs typeface="Poppins Bold"/>
                <a:sym typeface="Poppins Bold"/>
              </a:rPr>
              <a:t>1</a:t>
            </a:r>
          </a:p>
        </p:txBody>
      </p:sp>
      <p:sp>
        <p:nvSpPr>
          <p:cNvPr id="24" name="TextBox 24"/>
          <p:cNvSpPr txBox="1"/>
          <p:nvPr/>
        </p:nvSpPr>
        <p:spPr>
          <a:xfrm>
            <a:off x="13975657" y="3949290"/>
            <a:ext cx="2528549" cy="396370"/>
          </a:xfrm>
          <a:prstGeom prst="rect">
            <a:avLst/>
          </a:prstGeom>
        </p:spPr>
        <p:txBody>
          <a:bodyPr lIns="0" tIns="0" rIns="0" bIns="0" rtlCol="0" anchor="t">
            <a:spAutoFit/>
          </a:bodyPr>
          <a:lstStyle/>
          <a:p>
            <a:pPr algn="l">
              <a:lnSpc>
                <a:spcPts val="3205"/>
              </a:lnSpc>
            </a:pPr>
            <a:r>
              <a:rPr lang="en-US" sz="2289" b="1">
                <a:solidFill>
                  <a:srgbClr val="000000"/>
                </a:solidFill>
                <a:latin typeface="Poppins Bold"/>
                <a:ea typeface="Poppins Bold"/>
                <a:cs typeface="Poppins Bold"/>
                <a:sym typeface="Poppins Bold"/>
              </a:rPr>
              <a:t>/ FORMATAGE</a:t>
            </a:r>
          </a:p>
        </p:txBody>
      </p:sp>
      <p:sp>
        <p:nvSpPr>
          <p:cNvPr id="25" name="TextBox 25"/>
          <p:cNvSpPr txBox="1"/>
          <p:nvPr/>
        </p:nvSpPr>
        <p:spPr>
          <a:xfrm>
            <a:off x="13380045" y="3952190"/>
            <a:ext cx="595612" cy="422045"/>
          </a:xfrm>
          <a:prstGeom prst="rect">
            <a:avLst/>
          </a:prstGeom>
        </p:spPr>
        <p:txBody>
          <a:bodyPr lIns="0" tIns="0" rIns="0" bIns="0" rtlCol="0" anchor="t">
            <a:spAutoFit/>
          </a:bodyPr>
          <a:lstStyle/>
          <a:p>
            <a:pPr algn="ctr">
              <a:lnSpc>
                <a:spcPts val="3060"/>
              </a:lnSpc>
            </a:pPr>
            <a:r>
              <a:rPr lang="en-US" sz="2757" b="1">
                <a:solidFill>
                  <a:srgbClr val="000000"/>
                </a:solidFill>
                <a:latin typeface="Poppins Bold"/>
                <a:ea typeface="Poppins Bold"/>
                <a:cs typeface="Poppins Bold"/>
                <a:sym typeface="Poppins Bold"/>
              </a:rPr>
              <a:t>3</a:t>
            </a:r>
          </a:p>
        </p:txBody>
      </p:sp>
      <p:sp>
        <p:nvSpPr>
          <p:cNvPr id="26" name="TextBox 26"/>
          <p:cNvSpPr txBox="1"/>
          <p:nvPr/>
        </p:nvSpPr>
        <p:spPr>
          <a:xfrm>
            <a:off x="5874174" y="255373"/>
            <a:ext cx="5883787" cy="773327"/>
          </a:xfrm>
          <a:prstGeom prst="rect">
            <a:avLst/>
          </a:prstGeom>
        </p:spPr>
        <p:txBody>
          <a:bodyPr lIns="0" tIns="0" rIns="0" bIns="0" rtlCol="0" anchor="t">
            <a:spAutoFit/>
          </a:bodyPr>
          <a:lstStyle/>
          <a:p>
            <a:pPr algn="ctr">
              <a:lnSpc>
                <a:spcPts val="2949"/>
              </a:lnSpc>
            </a:pPr>
            <a:r>
              <a:rPr lang="en-US" sz="2657" b="1">
                <a:solidFill>
                  <a:srgbClr val="000000"/>
                </a:solidFill>
                <a:latin typeface="Poppins Semi-Bold"/>
                <a:ea typeface="Poppins Semi-Bold"/>
                <a:cs typeface="Poppins Semi-Bold"/>
                <a:sym typeface="Poppins Semi-Bold"/>
              </a:rPr>
              <a:t>COLLECTE ET TRAITEMENT DES DONNEES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7354191" y="1570338"/>
            <a:ext cx="405578" cy="405578"/>
          </a:xfrm>
          <a:custGeom>
            <a:avLst/>
            <a:gdLst/>
            <a:ahLst/>
            <a:cxnLst/>
            <a:rect l="l" t="t" r="r" b="b"/>
            <a:pathLst>
              <a:path w="405578" h="405578">
                <a:moveTo>
                  <a:pt x="0" y="0"/>
                </a:moveTo>
                <a:lnTo>
                  <a:pt x="405577" y="0"/>
                </a:lnTo>
                <a:lnTo>
                  <a:pt x="405577" y="405577"/>
                </a:lnTo>
                <a:lnTo>
                  <a:pt x="0" y="4055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77661" y="3701059"/>
            <a:ext cx="5929847" cy="3709034"/>
          </a:xfrm>
          <a:prstGeom prst="rect">
            <a:avLst/>
          </a:prstGeom>
        </p:spPr>
        <p:txBody>
          <a:bodyPr lIns="0" tIns="0" rIns="0" bIns="0" rtlCol="0" anchor="t">
            <a:spAutoFit/>
          </a:bodyPr>
          <a:lstStyle/>
          <a:p>
            <a:pPr marL="453396" lvl="1" indent="-226698" algn="just">
              <a:lnSpc>
                <a:spcPts val="2940"/>
              </a:lnSpc>
              <a:buAutoNum type="arabicPeriod"/>
            </a:pPr>
            <a:r>
              <a:rPr lang="en-US" sz="2100" b="1">
                <a:solidFill>
                  <a:srgbClr val="000000"/>
                </a:solidFill>
                <a:latin typeface="Lato Bold"/>
                <a:ea typeface="Lato Bold"/>
                <a:cs typeface="Lato Bold"/>
                <a:sym typeface="Lato Bold"/>
              </a:rPr>
              <a:t>Backend :</a:t>
            </a:r>
          </a:p>
          <a:p>
            <a:pPr marL="453396" lvl="1" indent="-226698" algn="just">
              <a:lnSpc>
                <a:spcPts val="2940"/>
              </a:lnSpc>
              <a:buFont typeface="Arial"/>
              <a:buChar char="•"/>
            </a:pPr>
            <a:r>
              <a:rPr lang="en-US" sz="2100">
                <a:solidFill>
                  <a:srgbClr val="000000"/>
                </a:solidFill>
                <a:latin typeface="Lato"/>
                <a:ea typeface="Lato"/>
                <a:cs typeface="Lato"/>
                <a:sym typeface="Lato"/>
              </a:rPr>
              <a:t>Manipulation et préparation des données avec Pandas.</a:t>
            </a:r>
          </a:p>
          <a:p>
            <a:pPr marL="453396" lvl="1" indent="-226698" algn="just">
              <a:lnSpc>
                <a:spcPts val="2940"/>
              </a:lnSpc>
              <a:buFont typeface="Arial"/>
              <a:buChar char="•"/>
            </a:pPr>
            <a:r>
              <a:rPr lang="en-US" sz="2100">
                <a:solidFill>
                  <a:srgbClr val="000000"/>
                </a:solidFill>
                <a:latin typeface="Lato"/>
                <a:ea typeface="Lato"/>
                <a:cs typeface="Lato"/>
                <a:sym typeface="Lato"/>
              </a:rPr>
              <a:t>Gestion des filtres et des requêtes utilisateu</a:t>
            </a:r>
            <a:r>
              <a:rPr lang="en-US" sz="2100" b="1">
                <a:solidFill>
                  <a:srgbClr val="000000"/>
                </a:solidFill>
                <a:latin typeface="Lato Bold"/>
                <a:ea typeface="Lato Bold"/>
                <a:cs typeface="Lato Bold"/>
                <a:sym typeface="Lato Bold"/>
              </a:rPr>
              <a:t>r.</a:t>
            </a:r>
          </a:p>
          <a:p>
            <a:pPr marL="453396" lvl="1" indent="-226698" algn="just">
              <a:lnSpc>
                <a:spcPts val="2940"/>
              </a:lnSpc>
              <a:buAutoNum type="arabicPeriod"/>
            </a:pPr>
            <a:r>
              <a:rPr lang="en-US" sz="2100" b="1">
                <a:solidFill>
                  <a:srgbClr val="000000"/>
                </a:solidFill>
                <a:latin typeface="Lato Bold"/>
                <a:ea typeface="Lato Bold"/>
                <a:cs typeface="Lato Bold"/>
                <a:sym typeface="Lato Bold"/>
              </a:rPr>
              <a:t>Frontend :</a:t>
            </a:r>
          </a:p>
          <a:p>
            <a:pPr marL="453396" lvl="1" indent="-226698" algn="just">
              <a:lnSpc>
                <a:spcPts val="2940"/>
              </a:lnSpc>
              <a:buFont typeface="Arial"/>
              <a:buChar char="•"/>
            </a:pPr>
            <a:r>
              <a:rPr lang="en-US" sz="2100">
                <a:solidFill>
                  <a:srgbClr val="000000"/>
                </a:solidFill>
                <a:latin typeface="Lato"/>
                <a:ea typeface="Lato"/>
                <a:cs typeface="Lato"/>
                <a:sym typeface="Lato"/>
              </a:rPr>
              <a:t>Interface interactive développée avec Dash et stylisée via CSS pour une meilleure</a:t>
            </a:r>
          </a:p>
          <a:p>
            <a:pPr algn="just">
              <a:lnSpc>
                <a:spcPts val="2940"/>
              </a:lnSpc>
            </a:pPr>
            <a:r>
              <a:rPr lang="en-US" sz="2100">
                <a:solidFill>
                  <a:srgbClr val="000000"/>
                </a:solidFill>
                <a:latin typeface="Lato"/>
                <a:ea typeface="Lato"/>
                <a:cs typeface="Lato"/>
                <a:sym typeface="Lato"/>
              </a:rPr>
              <a:t>       expérience utilisateur.</a:t>
            </a:r>
          </a:p>
          <a:p>
            <a:pPr algn="just">
              <a:lnSpc>
                <a:spcPts val="2940"/>
              </a:lnSpc>
            </a:pPr>
            <a:endParaRPr lang="en-US" sz="2100">
              <a:solidFill>
                <a:srgbClr val="000000"/>
              </a:solidFill>
              <a:latin typeface="Lato"/>
              <a:ea typeface="Lato"/>
              <a:cs typeface="Lato"/>
              <a:sym typeface="Lato"/>
            </a:endParaRPr>
          </a:p>
          <a:p>
            <a:pPr algn="just">
              <a:lnSpc>
                <a:spcPts val="2940"/>
              </a:lnSpc>
            </a:pPr>
            <a:endParaRPr lang="en-US" sz="2100">
              <a:solidFill>
                <a:srgbClr val="000000"/>
              </a:solidFill>
              <a:latin typeface="Lato"/>
              <a:ea typeface="Lato"/>
              <a:cs typeface="Lato"/>
              <a:sym typeface="Lato"/>
            </a:endParaRPr>
          </a:p>
        </p:txBody>
      </p:sp>
      <p:sp>
        <p:nvSpPr>
          <p:cNvPr id="4" name="Freeform 4"/>
          <p:cNvSpPr/>
          <p:nvPr/>
        </p:nvSpPr>
        <p:spPr>
          <a:xfrm>
            <a:off x="15739709" y="1544291"/>
            <a:ext cx="338318" cy="461724"/>
          </a:xfrm>
          <a:custGeom>
            <a:avLst/>
            <a:gdLst/>
            <a:ahLst/>
            <a:cxnLst/>
            <a:rect l="l" t="t" r="r" b="b"/>
            <a:pathLst>
              <a:path w="338318" h="461724">
                <a:moveTo>
                  <a:pt x="0" y="0"/>
                </a:moveTo>
                <a:lnTo>
                  <a:pt x="338318" y="0"/>
                </a:lnTo>
                <a:lnTo>
                  <a:pt x="338318" y="461724"/>
                </a:lnTo>
                <a:lnTo>
                  <a:pt x="0" y="4617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3304520" y="3701059"/>
            <a:ext cx="3611225" cy="3337559"/>
          </a:xfrm>
          <a:prstGeom prst="rect">
            <a:avLst/>
          </a:prstGeom>
        </p:spPr>
        <p:txBody>
          <a:bodyPr lIns="0" tIns="0" rIns="0" bIns="0" rtlCol="0" anchor="t">
            <a:spAutoFit/>
          </a:bodyPr>
          <a:lstStyle/>
          <a:p>
            <a:pPr marL="453396" lvl="1" indent="-226698" algn="ctr">
              <a:lnSpc>
                <a:spcPts val="2940"/>
              </a:lnSpc>
              <a:buAutoNum type="arabicPeriod"/>
            </a:pPr>
            <a:r>
              <a:rPr lang="en-US" sz="2100">
                <a:solidFill>
                  <a:srgbClr val="000000"/>
                </a:solidFill>
                <a:latin typeface="Lato"/>
                <a:ea typeface="Lato"/>
                <a:cs typeface="Lato"/>
                <a:sym typeface="Lato"/>
              </a:rPr>
              <a:t>Module de chargement et nettoyage des données.</a:t>
            </a:r>
          </a:p>
          <a:p>
            <a:pPr marL="453396" lvl="1" indent="-226698" algn="l">
              <a:lnSpc>
                <a:spcPts val="2940"/>
              </a:lnSpc>
              <a:buAutoNum type="arabicPeriod"/>
            </a:pPr>
            <a:r>
              <a:rPr lang="en-US" sz="2100">
                <a:solidFill>
                  <a:srgbClr val="000000"/>
                </a:solidFill>
                <a:latin typeface="Lato"/>
                <a:ea typeface="Lato"/>
                <a:cs typeface="Lato"/>
                <a:sym typeface="Lato"/>
              </a:rPr>
              <a:t>Module de génération de graphiques et de cartes.</a:t>
            </a:r>
          </a:p>
          <a:p>
            <a:pPr marL="453396" lvl="1" indent="-226698" algn="l">
              <a:lnSpc>
                <a:spcPts val="2940"/>
              </a:lnSpc>
              <a:buAutoNum type="arabicPeriod"/>
            </a:pPr>
            <a:r>
              <a:rPr lang="en-US" sz="2100">
                <a:solidFill>
                  <a:srgbClr val="000000"/>
                </a:solidFill>
                <a:latin typeface="Lato"/>
                <a:ea typeface="Lato"/>
                <a:cs typeface="Lato"/>
                <a:sym typeface="Lato"/>
              </a:rPr>
              <a:t>Module de gestion des interactions (callbacks entre filtres et visualisations).</a:t>
            </a:r>
          </a:p>
          <a:p>
            <a:pPr algn="ctr">
              <a:lnSpc>
                <a:spcPts val="2940"/>
              </a:lnSpc>
            </a:pPr>
            <a:endParaRPr lang="en-US" sz="2100">
              <a:solidFill>
                <a:srgbClr val="000000"/>
              </a:solidFill>
              <a:latin typeface="Lato"/>
              <a:ea typeface="Lato"/>
              <a:cs typeface="Lato"/>
              <a:sym typeface="Lato"/>
            </a:endParaRPr>
          </a:p>
        </p:txBody>
      </p:sp>
      <p:sp>
        <p:nvSpPr>
          <p:cNvPr id="6" name="Freeform 6"/>
          <p:cNvSpPr/>
          <p:nvPr/>
        </p:nvSpPr>
        <p:spPr>
          <a:xfrm>
            <a:off x="11528094" y="1573068"/>
            <a:ext cx="404170" cy="404170"/>
          </a:xfrm>
          <a:custGeom>
            <a:avLst/>
            <a:gdLst/>
            <a:ahLst/>
            <a:cxnLst/>
            <a:rect l="l" t="t" r="r" b="b"/>
            <a:pathLst>
              <a:path w="404170" h="404170">
                <a:moveTo>
                  <a:pt x="0" y="0"/>
                </a:moveTo>
                <a:lnTo>
                  <a:pt x="404171" y="0"/>
                </a:lnTo>
                <a:lnTo>
                  <a:pt x="404171" y="404170"/>
                </a:lnTo>
                <a:lnTo>
                  <a:pt x="0" y="4041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5136777" y="766624"/>
            <a:ext cx="7075927" cy="514627"/>
          </a:xfrm>
          <a:prstGeom prst="rect">
            <a:avLst/>
          </a:prstGeom>
        </p:spPr>
        <p:txBody>
          <a:bodyPr lIns="0" tIns="0" rIns="0" bIns="0" rtlCol="0" anchor="t">
            <a:spAutoFit/>
          </a:bodyPr>
          <a:lstStyle/>
          <a:p>
            <a:pPr algn="ctr">
              <a:lnSpc>
                <a:spcPts val="3726"/>
              </a:lnSpc>
            </a:pPr>
            <a:r>
              <a:rPr lang="en-US" sz="3357" b="1">
                <a:solidFill>
                  <a:srgbClr val="000000"/>
                </a:solidFill>
                <a:latin typeface="Poppins Semi-Bold"/>
                <a:ea typeface="Poppins Semi-Bold"/>
                <a:cs typeface="Poppins Semi-Bold"/>
                <a:sym typeface="Poppins Semi-Bold"/>
              </a:rPr>
              <a:t>CONCEPTION DE L’APPLICATION</a:t>
            </a:r>
          </a:p>
        </p:txBody>
      </p:sp>
      <p:grpSp>
        <p:nvGrpSpPr>
          <p:cNvPr id="8" name="Group 8"/>
          <p:cNvGrpSpPr/>
          <p:nvPr/>
        </p:nvGrpSpPr>
        <p:grpSpPr>
          <a:xfrm>
            <a:off x="0" y="2465011"/>
            <a:ext cx="6307509" cy="664988"/>
            <a:chOff x="0" y="0"/>
            <a:chExt cx="1661237" cy="175141"/>
          </a:xfrm>
        </p:grpSpPr>
        <p:sp>
          <p:nvSpPr>
            <p:cNvPr id="9" name="Freeform 9"/>
            <p:cNvSpPr/>
            <p:nvPr/>
          </p:nvSpPr>
          <p:spPr>
            <a:xfrm>
              <a:off x="0" y="0"/>
              <a:ext cx="1661237" cy="175141"/>
            </a:xfrm>
            <a:custGeom>
              <a:avLst/>
              <a:gdLst/>
              <a:ahLst/>
              <a:cxnLst/>
              <a:rect l="l" t="t" r="r" b="b"/>
              <a:pathLst>
                <a:path w="1661237" h="175141">
                  <a:moveTo>
                    <a:pt x="0" y="0"/>
                  </a:moveTo>
                  <a:lnTo>
                    <a:pt x="1661237" y="0"/>
                  </a:lnTo>
                  <a:lnTo>
                    <a:pt x="1661237" y="175141"/>
                  </a:lnTo>
                  <a:lnTo>
                    <a:pt x="0" y="175141"/>
                  </a:lnTo>
                  <a:close/>
                </a:path>
              </a:pathLst>
            </a:custGeom>
            <a:solidFill>
              <a:srgbClr val="EAFAB2"/>
            </a:solidFill>
          </p:spPr>
        </p:sp>
        <p:sp>
          <p:nvSpPr>
            <p:cNvPr id="10" name="TextBox 10"/>
            <p:cNvSpPr txBox="1"/>
            <p:nvPr/>
          </p:nvSpPr>
          <p:spPr>
            <a:xfrm>
              <a:off x="0" y="-38100"/>
              <a:ext cx="1661237" cy="213241"/>
            </a:xfrm>
            <a:prstGeom prst="rect">
              <a:avLst/>
            </a:prstGeom>
          </p:spPr>
          <p:txBody>
            <a:bodyPr lIns="50800" tIns="50800" rIns="50800" bIns="50800" rtlCol="0" anchor="ctr"/>
            <a:lstStyle/>
            <a:p>
              <a:pPr algn="ctr">
                <a:lnSpc>
                  <a:spcPts val="2775"/>
                </a:lnSpc>
              </a:pPr>
              <a:endParaRPr/>
            </a:p>
          </p:txBody>
        </p:sp>
      </p:grpSp>
      <p:sp>
        <p:nvSpPr>
          <p:cNvPr id="11" name="TextBox 11"/>
          <p:cNvSpPr txBox="1"/>
          <p:nvPr/>
        </p:nvSpPr>
        <p:spPr>
          <a:xfrm>
            <a:off x="0" y="2502413"/>
            <a:ext cx="6307509" cy="905510"/>
          </a:xfrm>
          <a:prstGeom prst="rect">
            <a:avLst/>
          </a:prstGeom>
        </p:spPr>
        <p:txBody>
          <a:bodyPr lIns="0" tIns="0" rIns="0" bIns="0" rtlCol="0" anchor="t">
            <a:spAutoFit/>
          </a:bodyPr>
          <a:lstStyle/>
          <a:p>
            <a:pPr algn="ctr">
              <a:lnSpc>
                <a:spcPts val="3640"/>
              </a:lnSpc>
            </a:pPr>
            <a:r>
              <a:rPr lang="en-US" sz="2600" b="1">
                <a:solidFill>
                  <a:srgbClr val="000000"/>
                </a:solidFill>
                <a:latin typeface="Lato Bold"/>
                <a:ea typeface="Lato Bold"/>
                <a:cs typeface="Lato Bold"/>
                <a:sym typeface="Lato Bold"/>
              </a:rPr>
              <a:t>/Architecture Technique :</a:t>
            </a:r>
          </a:p>
          <a:p>
            <a:pPr algn="ctr">
              <a:lnSpc>
                <a:spcPts val="3640"/>
              </a:lnSpc>
              <a:spcBef>
                <a:spcPct val="0"/>
              </a:spcBef>
            </a:pPr>
            <a:endParaRPr lang="en-US" sz="2600" b="1">
              <a:solidFill>
                <a:srgbClr val="000000"/>
              </a:solidFill>
              <a:latin typeface="Lato Bold"/>
              <a:ea typeface="Lato Bold"/>
              <a:cs typeface="Lato Bold"/>
              <a:sym typeface="Lato Bold"/>
            </a:endParaRPr>
          </a:p>
        </p:txBody>
      </p:sp>
      <p:grpSp>
        <p:nvGrpSpPr>
          <p:cNvPr id="12" name="Group 12"/>
          <p:cNvGrpSpPr/>
          <p:nvPr/>
        </p:nvGrpSpPr>
        <p:grpSpPr>
          <a:xfrm>
            <a:off x="11932265" y="2465011"/>
            <a:ext cx="6355735" cy="664988"/>
            <a:chOff x="0" y="0"/>
            <a:chExt cx="1673939" cy="175141"/>
          </a:xfrm>
        </p:grpSpPr>
        <p:sp>
          <p:nvSpPr>
            <p:cNvPr id="13" name="Freeform 13"/>
            <p:cNvSpPr/>
            <p:nvPr/>
          </p:nvSpPr>
          <p:spPr>
            <a:xfrm>
              <a:off x="0" y="0"/>
              <a:ext cx="1673939" cy="175141"/>
            </a:xfrm>
            <a:custGeom>
              <a:avLst/>
              <a:gdLst/>
              <a:ahLst/>
              <a:cxnLst/>
              <a:rect l="l" t="t" r="r" b="b"/>
              <a:pathLst>
                <a:path w="1673939" h="175141">
                  <a:moveTo>
                    <a:pt x="0" y="0"/>
                  </a:moveTo>
                  <a:lnTo>
                    <a:pt x="1673939" y="0"/>
                  </a:lnTo>
                  <a:lnTo>
                    <a:pt x="1673939" y="175141"/>
                  </a:lnTo>
                  <a:lnTo>
                    <a:pt x="0" y="175141"/>
                  </a:lnTo>
                  <a:close/>
                </a:path>
              </a:pathLst>
            </a:custGeom>
            <a:solidFill>
              <a:srgbClr val="EAFAB2"/>
            </a:solidFill>
          </p:spPr>
        </p:sp>
        <p:sp>
          <p:nvSpPr>
            <p:cNvPr id="14" name="TextBox 14"/>
            <p:cNvSpPr txBox="1"/>
            <p:nvPr/>
          </p:nvSpPr>
          <p:spPr>
            <a:xfrm>
              <a:off x="0" y="-38100"/>
              <a:ext cx="1673939" cy="213241"/>
            </a:xfrm>
            <a:prstGeom prst="rect">
              <a:avLst/>
            </a:prstGeom>
          </p:spPr>
          <p:txBody>
            <a:bodyPr lIns="50800" tIns="50800" rIns="50800" bIns="50800" rtlCol="0" anchor="ctr"/>
            <a:lstStyle/>
            <a:p>
              <a:pPr algn="ctr">
                <a:lnSpc>
                  <a:spcPts val="2775"/>
                </a:lnSpc>
              </a:pPr>
              <a:endParaRPr/>
            </a:p>
          </p:txBody>
        </p:sp>
      </p:grpSp>
      <p:sp>
        <p:nvSpPr>
          <p:cNvPr id="15" name="TextBox 15"/>
          <p:cNvSpPr txBox="1"/>
          <p:nvPr/>
        </p:nvSpPr>
        <p:spPr>
          <a:xfrm>
            <a:off x="13412562" y="2544775"/>
            <a:ext cx="3846738" cy="905510"/>
          </a:xfrm>
          <a:prstGeom prst="rect">
            <a:avLst/>
          </a:prstGeom>
        </p:spPr>
        <p:txBody>
          <a:bodyPr lIns="0" tIns="0" rIns="0" bIns="0" rtlCol="0" anchor="t">
            <a:spAutoFit/>
          </a:bodyPr>
          <a:lstStyle/>
          <a:p>
            <a:pPr algn="l">
              <a:lnSpc>
                <a:spcPts val="3640"/>
              </a:lnSpc>
            </a:pPr>
            <a:r>
              <a:rPr lang="en-US" sz="2600" b="1">
                <a:solidFill>
                  <a:srgbClr val="000000"/>
                </a:solidFill>
                <a:latin typeface="Lato Bold"/>
                <a:ea typeface="Lato Bold"/>
                <a:cs typeface="Lato Bold"/>
                <a:sym typeface="Lato Bold"/>
              </a:rPr>
              <a:t> /Structure Modulaire :</a:t>
            </a:r>
          </a:p>
          <a:p>
            <a:pPr algn="l">
              <a:lnSpc>
                <a:spcPts val="3640"/>
              </a:lnSpc>
            </a:pPr>
            <a:endParaRPr lang="en-US" sz="2600" b="1">
              <a:solidFill>
                <a:srgbClr val="000000"/>
              </a:solidFill>
              <a:latin typeface="Lato Bold"/>
              <a:ea typeface="Lato Bold"/>
              <a:cs typeface="Lato Bold"/>
              <a:sym typeface="Lato Bold"/>
            </a:endParaRPr>
          </a:p>
        </p:txBody>
      </p:sp>
      <p:sp>
        <p:nvSpPr>
          <p:cNvPr id="16" name="TextBox 16"/>
          <p:cNvSpPr txBox="1"/>
          <p:nvPr/>
        </p:nvSpPr>
        <p:spPr>
          <a:xfrm>
            <a:off x="606141" y="2561699"/>
            <a:ext cx="595612" cy="422045"/>
          </a:xfrm>
          <a:prstGeom prst="rect">
            <a:avLst/>
          </a:prstGeom>
        </p:spPr>
        <p:txBody>
          <a:bodyPr lIns="0" tIns="0" rIns="0" bIns="0" rtlCol="0" anchor="t">
            <a:spAutoFit/>
          </a:bodyPr>
          <a:lstStyle/>
          <a:p>
            <a:pPr algn="ctr">
              <a:lnSpc>
                <a:spcPts val="3060"/>
              </a:lnSpc>
            </a:pPr>
            <a:r>
              <a:rPr lang="en-US" sz="2757" b="1">
                <a:solidFill>
                  <a:srgbClr val="000000"/>
                </a:solidFill>
                <a:latin typeface="Poppins Bold"/>
                <a:ea typeface="Poppins Bold"/>
                <a:cs typeface="Poppins Bold"/>
                <a:sym typeface="Poppins Bold"/>
              </a:rPr>
              <a:t>1</a:t>
            </a:r>
          </a:p>
        </p:txBody>
      </p:sp>
      <p:sp>
        <p:nvSpPr>
          <p:cNvPr id="17" name="TextBox 17"/>
          <p:cNvSpPr txBox="1"/>
          <p:nvPr/>
        </p:nvSpPr>
        <p:spPr>
          <a:xfrm>
            <a:off x="13006714" y="2561699"/>
            <a:ext cx="595612" cy="422045"/>
          </a:xfrm>
          <a:prstGeom prst="rect">
            <a:avLst/>
          </a:prstGeom>
        </p:spPr>
        <p:txBody>
          <a:bodyPr lIns="0" tIns="0" rIns="0" bIns="0" rtlCol="0" anchor="t">
            <a:spAutoFit/>
          </a:bodyPr>
          <a:lstStyle/>
          <a:p>
            <a:pPr algn="ctr">
              <a:lnSpc>
                <a:spcPts val="3060"/>
              </a:lnSpc>
            </a:pPr>
            <a:r>
              <a:rPr lang="en-US" sz="2757" b="1">
                <a:solidFill>
                  <a:srgbClr val="000000"/>
                </a:solidFill>
                <a:latin typeface="Poppins Bold"/>
                <a:ea typeface="Poppins Bold"/>
                <a:cs typeface="Poppins Bold"/>
                <a:sym typeface="Poppins Bold"/>
              </a:rP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TextBox 2"/>
          <p:cNvSpPr txBox="1"/>
          <p:nvPr/>
        </p:nvSpPr>
        <p:spPr>
          <a:xfrm>
            <a:off x="333570" y="1892678"/>
            <a:ext cx="3461444" cy="3896968"/>
          </a:xfrm>
          <a:prstGeom prst="rect">
            <a:avLst/>
          </a:prstGeom>
        </p:spPr>
        <p:txBody>
          <a:bodyPr lIns="0" tIns="0" rIns="0" bIns="0" rtlCol="0" anchor="t">
            <a:spAutoFit/>
          </a:bodyPr>
          <a:lstStyle/>
          <a:p>
            <a:pPr marL="434591" lvl="1" indent="-217295" algn="l">
              <a:lnSpc>
                <a:spcPts val="2818"/>
              </a:lnSpc>
              <a:buAutoNum type="arabicPeriod"/>
            </a:pPr>
            <a:r>
              <a:rPr lang="en-US" sz="2012" b="1">
                <a:solidFill>
                  <a:srgbClr val="000000"/>
                </a:solidFill>
                <a:latin typeface="Lato Bold"/>
                <a:ea typeface="Lato Bold"/>
                <a:cs typeface="Lato Bold"/>
                <a:sym typeface="Lato Bold"/>
              </a:rPr>
              <a:t>Outils Utilisés :</a:t>
            </a:r>
          </a:p>
          <a:p>
            <a:pPr marL="434591" lvl="1" indent="-217295" algn="l">
              <a:lnSpc>
                <a:spcPts val="2818"/>
              </a:lnSpc>
              <a:buFont typeface="Arial"/>
              <a:buChar char="•"/>
            </a:pPr>
            <a:r>
              <a:rPr lang="en-US" sz="2012">
                <a:solidFill>
                  <a:srgbClr val="000000"/>
                </a:solidFill>
                <a:latin typeface="Lato"/>
                <a:ea typeface="Lato"/>
                <a:cs typeface="Lato"/>
                <a:sym typeface="Lato"/>
              </a:rPr>
              <a:t>Plotly Express pour scatter_mapbox</a:t>
            </a:r>
          </a:p>
          <a:p>
            <a:pPr marL="434591" lvl="1" indent="-217295" algn="l">
              <a:lnSpc>
                <a:spcPts val="2818"/>
              </a:lnSpc>
              <a:buFont typeface="Arial"/>
              <a:buChar char="•"/>
            </a:pPr>
            <a:r>
              <a:rPr lang="en-US" sz="2012">
                <a:solidFill>
                  <a:srgbClr val="000000"/>
                </a:solidFill>
                <a:latin typeface="Lato"/>
                <a:ea typeface="Lato"/>
                <a:cs typeface="Lato"/>
                <a:sym typeface="Lato"/>
              </a:rPr>
              <a:t>Mapbox pour les bases cartographiques.</a:t>
            </a:r>
          </a:p>
          <a:p>
            <a:pPr marL="434591" lvl="1" indent="-217295" algn="l">
              <a:lnSpc>
                <a:spcPts val="2818"/>
              </a:lnSpc>
              <a:buAutoNum type="arabicPeriod"/>
            </a:pPr>
            <a:r>
              <a:rPr lang="en-US" sz="2012" b="1">
                <a:solidFill>
                  <a:srgbClr val="000000"/>
                </a:solidFill>
                <a:latin typeface="Lato Bold"/>
                <a:ea typeface="Lato Bold"/>
                <a:cs typeface="Lato Bold"/>
                <a:sym typeface="Lato Bold"/>
              </a:rPr>
              <a:t>Personnalisation :</a:t>
            </a:r>
          </a:p>
          <a:p>
            <a:pPr marL="434591" lvl="1" indent="-217295" algn="l">
              <a:lnSpc>
                <a:spcPts val="2818"/>
              </a:lnSpc>
              <a:buFont typeface="Arial"/>
              <a:buChar char="•"/>
            </a:pPr>
            <a:r>
              <a:rPr lang="en-US" sz="2012">
                <a:solidFill>
                  <a:srgbClr val="000000"/>
                </a:solidFill>
                <a:latin typeface="Lato"/>
                <a:ea typeface="Lato"/>
                <a:cs typeface="Lato"/>
                <a:sym typeface="Lato"/>
              </a:rPr>
              <a:t>Taille des points </a:t>
            </a:r>
          </a:p>
          <a:p>
            <a:pPr marL="434591" lvl="1" indent="-217295" algn="l">
              <a:lnSpc>
                <a:spcPts val="2818"/>
              </a:lnSpc>
              <a:buFont typeface="Arial"/>
              <a:buChar char="•"/>
            </a:pPr>
            <a:r>
              <a:rPr lang="en-US" sz="2012">
                <a:solidFill>
                  <a:srgbClr val="000000"/>
                </a:solidFill>
                <a:latin typeface="Lato"/>
                <a:ea typeface="Lato"/>
                <a:cs typeface="Lato"/>
                <a:sym typeface="Lato"/>
              </a:rPr>
              <a:t>Couleurs correspondant aux différents niveaux de gravité</a:t>
            </a:r>
          </a:p>
          <a:p>
            <a:pPr marL="434591" lvl="1" indent="-217295" algn="l">
              <a:lnSpc>
                <a:spcPts val="2818"/>
              </a:lnSpc>
              <a:buFont typeface="Arial"/>
              <a:buChar char="•"/>
            </a:pPr>
            <a:endParaRPr lang="en-US" sz="2012">
              <a:solidFill>
                <a:srgbClr val="000000"/>
              </a:solidFill>
              <a:latin typeface="Lato"/>
              <a:ea typeface="Lato"/>
              <a:cs typeface="Lato"/>
              <a:sym typeface="Lato"/>
            </a:endParaRPr>
          </a:p>
        </p:txBody>
      </p:sp>
      <p:sp>
        <p:nvSpPr>
          <p:cNvPr id="3" name="Freeform 3"/>
          <p:cNvSpPr/>
          <p:nvPr/>
        </p:nvSpPr>
        <p:spPr>
          <a:xfrm>
            <a:off x="15739709" y="1544291"/>
            <a:ext cx="338318" cy="461724"/>
          </a:xfrm>
          <a:custGeom>
            <a:avLst/>
            <a:gdLst/>
            <a:ahLst/>
            <a:cxnLst/>
            <a:rect l="l" t="t" r="r" b="b"/>
            <a:pathLst>
              <a:path w="338318" h="461724">
                <a:moveTo>
                  <a:pt x="0" y="0"/>
                </a:moveTo>
                <a:lnTo>
                  <a:pt x="338318" y="0"/>
                </a:lnTo>
                <a:lnTo>
                  <a:pt x="338318" y="461724"/>
                </a:lnTo>
                <a:lnTo>
                  <a:pt x="0" y="4617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4102842" y="2424393"/>
            <a:ext cx="3611225" cy="2223134"/>
          </a:xfrm>
          <a:prstGeom prst="rect">
            <a:avLst/>
          </a:prstGeom>
        </p:spPr>
        <p:txBody>
          <a:bodyPr lIns="0" tIns="0" rIns="0" bIns="0" rtlCol="0" anchor="t">
            <a:spAutoFit/>
          </a:bodyPr>
          <a:lstStyle/>
          <a:p>
            <a:pPr marL="453396" lvl="1" indent="-226698" algn="l">
              <a:lnSpc>
                <a:spcPts val="2940"/>
              </a:lnSpc>
              <a:buAutoNum type="arabicPeriod"/>
            </a:pPr>
            <a:r>
              <a:rPr lang="en-US" sz="2100">
                <a:solidFill>
                  <a:srgbClr val="000000"/>
                </a:solidFill>
                <a:latin typeface="Lato"/>
                <a:ea typeface="Lato"/>
                <a:cs typeface="Lato"/>
                <a:sym typeface="Lato"/>
              </a:rPr>
              <a:t>Calculs automatisés pour :</a:t>
            </a:r>
          </a:p>
          <a:p>
            <a:pPr marL="453396" lvl="1" indent="-226698" algn="just">
              <a:lnSpc>
                <a:spcPts val="2940"/>
              </a:lnSpc>
              <a:buFont typeface="Arial"/>
              <a:buChar char="•"/>
            </a:pPr>
            <a:r>
              <a:rPr lang="en-US" sz="2100">
                <a:solidFill>
                  <a:srgbClr val="000000"/>
                </a:solidFill>
                <a:latin typeface="Lato"/>
                <a:ea typeface="Lato"/>
                <a:cs typeface="Lato"/>
                <a:sym typeface="Lato"/>
              </a:rPr>
              <a:t>Nombre total de cas.</a:t>
            </a:r>
          </a:p>
          <a:p>
            <a:pPr marL="453396" lvl="1" indent="-226698" algn="just">
              <a:lnSpc>
                <a:spcPts val="2940"/>
              </a:lnSpc>
              <a:buFont typeface="Arial"/>
              <a:buChar char="•"/>
            </a:pPr>
            <a:r>
              <a:rPr lang="en-US" sz="2100">
                <a:solidFill>
                  <a:srgbClr val="000000"/>
                </a:solidFill>
                <a:latin typeface="Lato"/>
                <a:ea typeface="Lato"/>
                <a:cs typeface="Lato"/>
                <a:sym typeface="Lato"/>
              </a:rPr>
              <a:t>Taux d’hospitalisation.</a:t>
            </a:r>
          </a:p>
          <a:p>
            <a:pPr marL="453396" lvl="1" indent="-226698" algn="just">
              <a:lnSpc>
                <a:spcPts val="2940"/>
              </a:lnSpc>
              <a:buFont typeface="Arial"/>
              <a:buChar char="•"/>
            </a:pPr>
            <a:r>
              <a:rPr lang="en-US" sz="2100">
                <a:solidFill>
                  <a:srgbClr val="000000"/>
                </a:solidFill>
                <a:latin typeface="Lato"/>
                <a:ea typeface="Lato"/>
                <a:cs typeface="Lato"/>
                <a:sym typeface="Lato"/>
              </a:rPr>
              <a:t>Répartition par aliment ou région.</a:t>
            </a:r>
          </a:p>
          <a:p>
            <a:pPr algn="just">
              <a:lnSpc>
                <a:spcPts val="2940"/>
              </a:lnSpc>
            </a:pPr>
            <a:endParaRPr lang="en-US" sz="2100">
              <a:solidFill>
                <a:srgbClr val="000000"/>
              </a:solidFill>
              <a:latin typeface="Lato"/>
              <a:ea typeface="Lato"/>
              <a:cs typeface="Lato"/>
              <a:sym typeface="Lato"/>
            </a:endParaRPr>
          </a:p>
        </p:txBody>
      </p:sp>
      <p:sp>
        <p:nvSpPr>
          <p:cNvPr id="5" name="TextBox 5"/>
          <p:cNvSpPr txBox="1"/>
          <p:nvPr/>
        </p:nvSpPr>
        <p:spPr>
          <a:xfrm>
            <a:off x="6800526" y="2271632"/>
            <a:ext cx="4715111" cy="3864103"/>
          </a:xfrm>
          <a:prstGeom prst="rect">
            <a:avLst/>
          </a:prstGeom>
        </p:spPr>
        <p:txBody>
          <a:bodyPr lIns="0" tIns="0" rIns="0" bIns="0" rtlCol="0" anchor="t">
            <a:spAutoFit/>
          </a:bodyPr>
          <a:lstStyle/>
          <a:p>
            <a:pPr marL="430714" lvl="1" indent="-215357" algn="just">
              <a:lnSpc>
                <a:spcPts val="2792"/>
              </a:lnSpc>
              <a:buAutoNum type="arabicPeriod"/>
            </a:pPr>
            <a:r>
              <a:rPr lang="en-US" sz="1994" b="1">
                <a:solidFill>
                  <a:srgbClr val="000000"/>
                </a:solidFill>
                <a:latin typeface="Lato Bold"/>
                <a:ea typeface="Lato Bold"/>
                <a:cs typeface="Lato Bold"/>
                <a:sym typeface="Lato Bold"/>
              </a:rPr>
              <a:t>Histogrammes :</a:t>
            </a:r>
          </a:p>
          <a:p>
            <a:pPr marL="430714" lvl="1" indent="-215357" algn="just">
              <a:lnSpc>
                <a:spcPts val="2792"/>
              </a:lnSpc>
              <a:buFont typeface="Arial"/>
              <a:buChar char="•"/>
            </a:pPr>
            <a:r>
              <a:rPr lang="en-US" sz="1994">
                <a:solidFill>
                  <a:srgbClr val="000000"/>
                </a:solidFill>
                <a:latin typeface="Lato"/>
                <a:ea typeface="Lato"/>
                <a:cs typeface="Lato"/>
                <a:sym typeface="Lato"/>
              </a:rPr>
              <a:t>Visualisation des cas d’intoxication par type d’aliment.</a:t>
            </a:r>
          </a:p>
          <a:p>
            <a:pPr marL="430714" lvl="1" indent="-215357" algn="just">
              <a:lnSpc>
                <a:spcPts val="2792"/>
              </a:lnSpc>
              <a:buAutoNum type="arabicPeriod"/>
            </a:pPr>
            <a:r>
              <a:rPr lang="en-US" sz="1994" b="1">
                <a:solidFill>
                  <a:srgbClr val="000000"/>
                </a:solidFill>
                <a:latin typeface="Lato Bold"/>
                <a:ea typeface="Lato Bold"/>
                <a:cs typeface="Lato Bold"/>
                <a:sym typeface="Lato Bold"/>
              </a:rPr>
              <a:t>Diagrammes Circulaires :</a:t>
            </a:r>
          </a:p>
          <a:p>
            <a:pPr marL="430714" lvl="1" indent="-215357" algn="just">
              <a:lnSpc>
                <a:spcPts val="2792"/>
              </a:lnSpc>
              <a:buFont typeface="Arial"/>
              <a:buChar char="•"/>
            </a:pPr>
            <a:r>
              <a:rPr lang="en-US" sz="1994">
                <a:solidFill>
                  <a:srgbClr val="000000"/>
                </a:solidFill>
                <a:latin typeface="Lato"/>
                <a:ea typeface="Lato"/>
                <a:cs typeface="Lato"/>
                <a:sym typeface="Lato"/>
              </a:rPr>
              <a:t>Distribution par gravité (léger, grave, fatal)</a:t>
            </a:r>
          </a:p>
          <a:p>
            <a:pPr marL="430714" lvl="1" indent="-215357" algn="just">
              <a:lnSpc>
                <a:spcPts val="2792"/>
              </a:lnSpc>
              <a:buAutoNum type="arabicPeriod"/>
            </a:pPr>
            <a:r>
              <a:rPr lang="en-US" sz="1994" b="1">
                <a:solidFill>
                  <a:srgbClr val="000000"/>
                </a:solidFill>
                <a:latin typeface="Lato Bold"/>
                <a:ea typeface="Lato Bold"/>
                <a:cs typeface="Lato Bold"/>
                <a:sym typeface="Lato Bold"/>
              </a:rPr>
              <a:t>Tendances Temporelles :</a:t>
            </a:r>
          </a:p>
          <a:p>
            <a:pPr marL="430714" lvl="1" indent="-215357" algn="just">
              <a:lnSpc>
                <a:spcPts val="2792"/>
              </a:lnSpc>
              <a:buFont typeface="Arial"/>
              <a:buChar char="•"/>
            </a:pPr>
            <a:r>
              <a:rPr lang="en-US" sz="1994">
                <a:solidFill>
                  <a:srgbClr val="000000"/>
                </a:solidFill>
                <a:latin typeface="Lato"/>
                <a:ea typeface="Lato"/>
                <a:cs typeface="Lato"/>
                <a:sym typeface="Lato"/>
              </a:rPr>
              <a:t>Analyse des pics de cas par mois ou saison.</a:t>
            </a:r>
          </a:p>
          <a:p>
            <a:pPr marL="430714" lvl="1" indent="-215357" algn="just">
              <a:lnSpc>
                <a:spcPts val="2792"/>
              </a:lnSpc>
              <a:buFont typeface="Arial"/>
              <a:buChar char="•"/>
            </a:pPr>
            <a:endParaRPr lang="en-US" sz="1994">
              <a:solidFill>
                <a:srgbClr val="000000"/>
              </a:solidFill>
              <a:latin typeface="Lato"/>
              <a:ea typeface="Lato"/>
              <a:cs typeface="Lato"/>
              <a:sym typeface="Lato"/>
            </a:endParaRPr>
          </a:p>
          <a:p>
            <a:pPr algn="just">
              <a:lnSpc>
                <a:spcPts val="2792"/>
              </a:lnSpc>
            </a:pPr>
            <a:endParaRPr lang="en-US" sz="1994">
              <a:solidFill>
                <a:srgbClr val="000000"/>
              </a:solidFill>
              <a:latin typeface="Lato"/>
              <a:ea typeface="Lato"/>
              <a:cs typeface="Lato"/>
              <a:sym typeface="Lato"/>
            </a:endParaRPr>
          </a:p>
        </p:txBody>
      </p:sp>
      <p:sp>
        <p:nvSpPr>
          <p:cNvPr id="6" name="Freeform 6"/>
          <p:cNvSpPr/>
          <p:nvPr/>
        </p:nvSpPr>
        <p:spPr>
          <a:xfrm>
            <a:off x="15662892" y="6298232"/>
            <a:ext cx="491125" cy="524502"/>
          </a:xfrm>
          <a:custGeom>
            <a:avLst/>
            <a:gdLst/>
            <a:ahLst/>
            <a:cxnLst/>
            <a:rect l="l" t="t" r="r" b="b"/>
            <a:pathLst>
              <a:path w="491125" h="524502">
                <a:moveTo>
                  <a:pt x="0" y="0"/>
                </a:moveTo>
                <a:lnTo>
                  <a:pt x="491125" y="0"/>
                </a:lnTo>
                <a:lnTo>
                  <a:pt x="491125" y="524502"/>
                </a:lnTo>
                <a:lnTo>
                  <a:pt x="0" y="52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3881362" y="6304166"/>
            <a:ext cx="3611225" cy="2594609"/>
          </a:xfrm>
          <a:prstGeom prst="rect">
            <a:avLst/>
          </a:prstGeom>
        </p:spPr>
        <p:txBody>
          <a:bodyPr lIns="0" tIns="0" rIns="0" bIns="0" rtlCol="0" anchor="t">
            <a:spAutoFit/>
          </a:bodyPr>
          <a:lstStyle/>
          <a:p>
            <a:pPr marL="453396" lvl="1" indent="-226698" algn="just">
              <a:lnSpc>
                <a:spcPts val="2940"/>
              </a:lnSpc>
              <a:buAutoNum type="arabicPeriod"/>
            </a:pPr>
            <a:r>
              <a:rPr lang="en-US" sz="2100">
                <a:solidFill>
                  <a:srgbClr val="000000"/>
                </a:solidFill>
                <a:latin typeface="Lato"/>
                <a:ea typeface="Lato"/>
                <a:cs typeface="Lato"/>
                <a:sym typeface="Lato"/>
              </a:rPr>
              <a:t>Génération d’alertes pour signaler :</a:t>
            </a:r>
          </a:p>
          <a:p>
            <a:pPr marL="453396" lvl="1" indent="-226698" algn="just">
              <a:lnSpc>
                <a:spcPts val="2940"/>
              </a:lnSpc>
              <a:buFont typeface="Arial"/>
              <a:buChar char="•"/>
            </a:pPr>
            <a:r>
              <a:rPr lang="en-US" sz="2100">
                <a:solidFill>
                  <a:srgbClr val="000000"/>
                </a:solidFill>
                <a:latin typeface="Lato"/>
                <a:ea typeface="Lato"/>
                <a:cs typeface="Lato"/>
                <a:sym typeface="Lato"/>
              </a:rPr>
              <a:t>Les régions avec des pics d’incidents.</a:t>
            </a:r>
          </a:p>
          <a:p>
            <a:pPr marL="453396" lvl="1" indent="-226698" algn="just">
              <a:lnSpc>
                <a:spcPts val="2940"/>
              </a:lnSpc>
              <a:buFont typeface="Arial"/>
              <a:buChar char="•"/>
            </a:pPr>
            <a:r>
              <a:rPr lang="en-US" sz="2100">
                <a:solidFill>
                  <a:srgbClr val="000000"/>
                </a:solidFill>
                <a:latin typeface="Lato"/>
                <a:ea typeface="Lato"/>
                <a:cs typeface="Lato"/>
                <a:sym typeface="Lato"/>
              </a:rPr>
              <a:t>es aliments les plus suspects.</a:t>
            </a:r>
          </a:p>
          <a:p>
            <a:pPr algn="just">
              <a:lnSpc>
                <a:spcPts val="2940"/>
              </a:lnSpc>
            </a:pPr>
            <a:endParaRPr lang="en-US" sz="2100">
              <a:solidFill>
                <a:srgbClr val="000000"/>
              </a:solidFill>
              <a:latin typeface="Lato"/>
              <a:ea typeface="Lato"/>
              <a:cs typeface="Lato"/>
              <a:sym typeface="Lato"/>
            </a:endParaRPr>
          </a:p>
        </p:txBody>
      </p:sp>
      <p:sp>
        <p:nvSpPr>
          <p:cNvPr id="8" name="Freeform 8"/>
          <p:cNvSpPr/>
          <p:nvPr/>
        </p:nvSpPr>
        <p:spPr>
          <a:xfrm>
            <a:off x="11515637" y="6351791"/>
            <a:ext cx="429084" cy="417382"/>
          </a:xfrm>
          <a:custGeom>
            <a:avLst/>
            <a:gdLst/>
            <a:ahLst/>
            <a:cxnLst/>
            <a:rect l="l" t="t" r="r" b="b"/>
            <a:pathLst>
              <a:path w="429084" h="417382">
                <a:moveTo>
                  <a:pt x="0" y="0"/>
                </a:moveTo>
                <a:lnTo>
                  <a:pt x="429085" y="0"/>
                </a:lnTo>
                <a:lnTo>
                  <a:pt x="429085" y="417383"/>
                </a:lnTo>
                <a:lnTo>
                  <a:pt x="0" y="4173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7130346" y="6304166"/>
            <a:ext cx="3611225" cy="2223134"/>
          </a:xfrm>
          <a:prstGeom prst="rect">
            <a:avLst/>
          </a:prstGeom>
        </p:spPr>
        <p:txBody>
          <a:bodyPr lIns="0" tIns="0" rIns="0" bIns="0" rtlCol="0" anchor="t">
            <a:spAutoFit/>
          </a:bodyPr>
          <a:lstStyle/>
          <a:p>
            <a:pPr marL="453396" lvl="1" indent="-226698" algn="l">
              <a:lnSpc>
                <a:spcPts val="2940"/>
              </a:lnSpc>
              <a:buAutoNum type="arabicPeriod"/>
            </a:pPr>
            <a:r>
              <a:rPr lang="en-US" sz="2100">
                <a:solidFill>
                  <a:srgbClr val="000000"/>
                </a:solidFill>
                <a:latin typeface="Lato"/>
                <a:ea typeface="Lato"/>
                <a:cs typeface="Lato"/>
                <a:sym typeface="Lato"/>
              </a:rPr>
              <a:t>Intégration d’un bouton permettant aux utilisateurs de télécharger les données affichées au format CSV.</a:t>
            </a:r>
          </a:p>
          <a:p>
            <a:pPr algn="l">
              <a:lnSpc>
                <a:spcPts val="2940"/>
              </a:lnSpc>
            </a:pPr>
            <a:endParaRPr lang="en-US" sz="2100">
              <a:solidFill>
                <a:srgbClr val="000000"/>
              </a:solidFill>
              <a:latin typeface="Lato"/>
              <a:ea typeface="Lato"/>
              <a:cs typeface="Lato"/>
              <a:sym typeface="Lato"/>
            </a:endParaRPr>
          </a:p>
          <a:p>
            <a:pPr algn="l">
              <a:lnSpc>
                <a:spcPts val="2940"/>
              </a:lnSpc>
            </a:pPr>
            <a:endParaRPr lang="en-US" sz="2100">
              <a:solidFill>
                <a:srgbClr val="000000"/>
              </a:solidFill>
              <a:latin typeface="Lato"/>
              <a:ea typeface="Lato"/>
              <a:cs typeface="Lato"/>
              <a:sym typeface="Lato"/>
            </a:endParaRPr>
          </a:p>
        </p:txBody>
      </p:sp>
      <p:sp>
        <p:nvSpPr>
          <p:cNvPr id="10" name="Freeform 10"/>
          <p:cNvSpPr/>
          <p:nvPr/>
        </p:nvSpPr>
        <p:spPr>
          <a:xfrm>
            <a:off x="7322381" y="6304979"/>
            <a:ext cx="469198" cy="511008"/>
          </a:xfrm>
          <a:custGeom>
            <a:avLst/>
            <a:gdLst/>
            <a:ahLst/>
            <a:cxnLst/>
            <a:rect l="l" t="t" r="r" b="b"/>
            <a:pathLst>
              <a:path w="469198" h="511008">
                <a:moveTo>
                  <a:pt x="0" y="0"/>
                </a:moveTo>
                <a:lnTo>
                  <a:pt x="469198" y="0"/>
                </a:lnTo>
                <a:lnTo>
                  <a:pt x="469198" y="511007"/>
                </a:lnTo>
                <a:lnTo>
                  <a:pt x="0" y="5110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713030" y="6304166"/>
            <a:ext cx="3611225" cy="2966084"/>
          </a:xfrm>
          <a:prstGeom prst="rect">
            <a:avLst/>
          </a:prstGeom>
        </p:spPr>
        <p:txBody>
          <a:bodyPr lIns="0" tIns="0" rIns="0" bIns="0" rtlCol="0" anchor="t">
            <a:spAutoFit/>
          </a:bodyPr>
          <a:lstStyle/>
          <a:p>
            <a:pPr marL="453396" lvl="1" indent="-226698" algn="l">
              <a:lnSpc>
                <a:spcPts val="2940"/>
              </a:lnSpc>
              <a:buAutoNum type="arabicPeriod"/>
            </a:pPr>
            <a:r>
              <a:rPr lang="en-US" sz="2100">
                <a:solidFill>
                  <a:srgbClr val="000000"/>
                </a:solidFill>
                <a:latin typeface="Lato"/>
                <a:ea typeface="Lato"/>
                <a:cs typeface="Lato"/>
                <a:sym typeface="Lato"/>
              </a:rPr>
              <a:t>Gestion des filtres interactifs :</a:t>
            </a:r>
          </a:p>
          <a:p>
            <a:pPr marL="453396" lvl="1" indent="-226698" algn="l">
              <a:lnSpc>
                <a:spcPts val="2940"/>
              </a:lnSpc>
              <a:buFont typeface="Arial"/>
              <a:buChar char="•"/>
            </a:pPr>
            <a:r>
              <a:rPr lang="en-US" sz="2100">
                <a:solidFill>
                  <a:srgbClr val="000000"/>
                </a:solidFill>
                <a:latin typeface="Lato"/>
                <a:ea typeface="Lato"/>
                <a:cs typeface="Lato"/>
                <a:sym typeface="Lato"/>
              </a:rPr>
              <a:t>Sélection multiple par région, date, ou gravité.</a:t>
            </a:r>
          </a:p>
          <a:p>
            <a:pPr marL="453396" lvl="1" indent="-226698" algn="l">
              <a:lnSpc>
                <a:spcPts val="2940"/>
              </a:lnSpc>
              <a:buFont typeface="Arial"/>
              <a:buChar char="•"/>
            </a:pPr>
            <a:r>
              <a:rPr lang="en-US" sz="2100">
                <a:solidFill>
                  <a:srgbClr val="000000"/>
                </a:solidFill>
                <a:latin typeface="Lato"/>
                <a:ea typeface="Lato"/>
                <a:cs typeface="Lato"/>
                <a:sym typeface="Lato"/>
              </a:rPr>
              <a:t>Mise à jour instantanée des graphiques et de la carte.</a:t>
            </a:r>
          </a:p>
          <a:p>
            <a:pPr algn="l">
              <a:lnSpc>
                <a:spcPts val="2940"/>
              </a:lnSpc>
            </a:pPr>
            <a:endParaRPr lang="en-US" sz="2100">
              <a:solidFill>
                <a:srgbClr val="000000"/>
              </a:solidFill>
              <a:latin typeface="Lato"/>
              <a:ea typeface="Lato"/>
              <a:cs typeface="Lato"/>
              <a:sym typeface="Lato"/>
            </a:endParaRPr>
          </a:p>
        </p:txBody>
      </p:sp>
      <p:sp>
        <p:nvSpPr>
          <p:cNvPr id="12" name="TextBox 12"/>
          <p:cNvSpPr txBox="1"/>
          <p:nvPr/>
        </p:nvSpPr>
        <p:spPr>
          <a:xfrm>
            <a:off x="4644636" y="272867"/>
            <a:ext cx="8518033" cy="981352"/>
          </a:xfrm>
          <a:prstGeom prst="rect">
            <a:avLst/>
          </a:prstGeom>
        </p:spPr>
        <p:txBody>
          <a:bodyPr lIns="0" tIns="0" rIns="0" bIns="0" rtlCol="0" anchor="t">
            <a:spAutoFit/>
          </a:bodyPr>
          <a:lstStyle/>
          <a:p>
            <a:pPr algn="ctr">
              <a:lnSpc>
                <a:spcPts val="3726"/>
              </a:lnSpc>
            </a:pPr>
            <a:r>
              <a:rPr lang="en-US" sz="3357" b="1">
                <a:solidFill>
                  <a:srgbClr val="000000"/>
                </a:solidFill>
                <a:latin typeface="Poppins Semi-Bold"/>
                <a:ea typeface="Poppins Semi-Bold"/>
                <a:cs typeface="Poppins Semi-Bold"/>
                <a:sym typeface="Poppins Semi-Bold"/>
              </a:rPr>
              <a:t>IMPLEMENTATION DES FONCTIONNALITES</a:t>
            </a:r>
          </a:p>
        </p:txBody>
      </p:sp>
      <p:grpSp>
        <p:nvGrpSpPr>
          <p:cNvPr id="13" name="Group 13"/>
          <p:cNvGrpSpPr/>
          <p:nvPr/>
        </p:nvGrpSpPr>
        <p:grpSpPr>
          <a:xfrm>
            <a:off x="0" y="1644744"/>
            <a:ext cx="5452016" cy="664988"/>
            <a:chOff x="0" y="0"/>
            <a:chExt cx="1435922" cy="175141"/>
          </a:xfrm>
        </p:grpSpPr>
        <p:sp>
          <p:nvSpPr>
            <p:cNvPr id="14" name="Freeform 14"/>
            <p:cNvSpPr/>
            <p:nvPr/>
          </p:nvSpPr>
          <p:spPr>
            <a:xfrm>
              <a:off x="0" y="0"/>
              <a:ext cx="1435922" cy="175141"/>
            </a:xfrm>
            <a:custGeom>
              <a:avLst/>
              <a:gdLst/>
              <a:ahLst/>
              <a:cxnLst/>
              <a:rect l="l" t="t" r="r" b="b"/>
              <a:pathLst>
                <a:path w="1435922" h="175141">
                  <a:moveTo>
                    <a:pt x="0" y="0"/>
                  </a:moveTo>
                  <a:lnTo>
                    <a:pt x="1435922" y="0"/>
                  </a:lnTo>
                  <a:lnTo>
                    <a:pt x="1435922" y="175141"/>
                  </a:lnTo>
                  <a:lnTo>
                    <a:pt x="0" y="175141"/>
                  </a:lnTo>
                  <a:close/>
                </a:path>
              </a:pathLst>
            </a:custGeom>
            <a:solidFill>
              <a:srgbClr val="EAFAB2"/>
            </a:solidFill>
          </p:spPr>
        </p:sp>
        <p:sp>
          <p:nvSpPr>
            <p:cNvPr id="15" name="TextBox 15"/>
            <p:cNvSpPr txBox="1"/>
            <p:nvPr/>
          </p:nvSpPr>
          <p:spPr>
            <a:xfrm>
              <a:off x="0" y="-38100"/>
              <a:ext cx="1435922" cy="213241"/>
            </a:xfrm>
            <a:prstGeom prst="rect">
              <a:avLst/>
            </a:prstGeom>
          </p:spPr>
          <p:txBody>
            <a:bodyPr lIns="50800" tIns="50800" rIns="50800" bIns="50800" rtlCol="0" anchor="ctr"/>
            <a:lstStyle/>
            <a:p>
              <a:pPr algn="ctr">
                <a:lnSpc>
                  <a:spcPts val="2775"/>
                </a:lnSpc>
              </a:pPr>
              <a:endParaRPr/>
            </a:p>
          </p:txBody>
        </p:sp>
      </p:grpSp>
      <p:sp>
        <p:nvSpPr>
          <p:cNvPr id="16" name="TextBox 16"/>
          <p:cNvSpPr txBox="1"/>
          <p:nvPr/>
        </p:nvSpPr>
        <p:spPr>
          <a:xfrm>
            <a:off x="-61036" y="1718003"/>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1/ Visualisation </a:t>
            </a:r>
          </a:p>
        </p:txBody>
      </p:sp>
      <p:grpSp>
        <p:nvGrpSpPr>
          <p:cNvPr id="17" name="Group 17"/>
          <p:cNvGrpSpPr/>
          <p:nvPr/>
        </p:nvGrpSpPr>
        <p:grpSpPr>
          <a:xfrm>
            <a:off x="6279211" y="1644744"/>
            <a:ext cx="5248883" cy="664988"/>
            <a:chOff x="0" y="0"/>
            <a:chExt cx="1382422" cy="175141"/>
          </a:xfrm>
        </p:grpSpPr>
        <p:sp>
          <p:nvSpPr>
            <p:cNvPr id="18" name="Freeform 18"/>
            <p:cNvSpPr/>
            <p:nvPr/>
          </p:nvSpPr>
          <p:spPr>
            <a:xfrm>
              <a:off x="0" y="0"/>
              <a:ext cx="1382422" cy="175141"/>
            </a:xfrm>
            <a:custGeom>
              <a:avLst/>
              <a:gdLst/>
              <a:ahLst/>
              <a:cxnLst/>
              <a:rect l="l" t="t" r="r" b="b"/>
              <a:pathLst>
                <a:path w="1382422" h="175141">
                  <a:moveTo>
                    <a:pt x="0" y="0"/>
                  </a:moveTo>
                  <a:lnTo>
                    <a:pt x="1382422" y="0"/>
                  </a:lnTo>
                  <a:lnTo>
                    <a:pt x="1382422" y="175141"/>
                  </a:lnTo>
                  <a:lnTo>
                    <a:pt x="0" y="175141"/>
                  </a:lnTo>
                  <a:close/>
                </a:path>
              </a:pathLst>
            </a:custGeom>
            <a:solidFill>
              <a:srgbClr val="EAFAB2"/>
            </a:solidFill>
          </p:spPr>
        </p:sp>
        <p:sp>
          <p:nvSpPr>
            <p:cNvPr id="19" name="TextBox 19"/>
            <p:cNvSpPr txBox="1"/>
            <p:nvPr/>
          </p:nvSpPr>
          <p:spPr>
            <a:xfrm>
              <a:off x="0" y="-38100"/>
              <a:ext cx="1382422" cy="213241"/>
            </a:xfrm>
            <a:prstGeom prst="rect">
              <a:avLst/>
            </a:prstGeom>
          </p:spPr>
          <p:txBody>
            <a:bodyPr lIns="50800" tIns="50800" rIns="50800" bIns="50800" rtlCol="0" anchor="ctr"/>
            <a:lstStyle/>
            <a:p>
              <a:pPr algn="ctr">
                <a:lnSpc>
                  <a:spcPts val="2775"/>
                </a:lnSpc>
              </a:pPr>
              <a:endParaRPr/>
            </a:p>
          </p:txBody>
        </p:sp>
      </p:grpSp>
      <p:grpSp>
        <p:nvGrpSpPr>
          <p:cNvPr id="20" name="Group 20"/>
          <p:cNvGrpSpPr/>
          <p:nvPr/>
        </p:nvGrpSpPr>
        <p:grpSpPr>
          <a:xfrm>
            <a:off x="13085949" y="1673521"/>
            <a:ext cx="5202051" cy="664988"/>
            <a:chOff x="0" y="0"/>
            <a:chExt cx="1370088" cy="175141"/>
          </a:xfrm>
        </p:grpSpPr>
        <p:sp>
          <p:nvSpPr>
            <p:cNvPr id="21" name="Freeform 21"/>
            <p:cNvSpPr/>
            <p:nvPr/>
          </p:nvSpPr>
          <p:spPr>
            <a:xfrm>
              <a:off x="0" y="0"/>
              <a:ext cx="1370087" cy="175141"/>
            </a:xfrm>
            <a:custGeom>
              <a:avLst/>
              <a:gdLst/>
              <a:ahLst/>
              <a:cxnLst/>
              <a:rect l="l" t="t" r="r" b="b"/>
              <a:pathLst>
                <a:path w="1370087" h="175141">
                  <a:moveTo>
                    <a:pt x="0" y="0"/>
                  </a:moveTo>
                  <a:lnTo>
                    <a:pt x="1370087" y="0"/>
                  </a:lnTo>
                  <a:lnTo>
                    <a:pt x="1370087" y="175141"/>
                  </a:lnTo>
                  <a:lnTo>
                    <a:pt x="0" y="175141"/>
                  </a:lnTo>
                  <a:close/>
                </a:path>
              </a:pathLst>
            </a:custGeom>
            <a:solidFill>
              <a:srgbClr val="EAFAB2"/>
            </a:solidFill>
          </p:spPr>
        </p:sp>
        <p:sp>
          <p:nvSpPr>
            <p:cNvPr id="22" name="TextBox 22"/>
            <p:cNvSpPr txBox="1"/>
            <p:nvPr/>
          </p:nvSpPr>
          <p:spPr>
            <a:xfrm>
              <a:off x="0" y="-38100"/>
              <a:ext cx="1370088" cy="213241"/>
            </a:xfrm>
            <a:prstGeom prst="rect">
              <a:avLst/>
            </a:prstGeom>
          </p:spPr>
          <p:txBody>
            <a:bodyPr lIns="50800" tIns="50800" rIns="50800" bIns="50800" rtlCol="0" anchor="ctr"/>
            <a:lstStyle/>
            <a:p>
              <a:pPr algn="ctr">
                <a:lnSpc>
                  <a:spcPts val="2775"/>
                </a:lnSpc>
              </a:pPr>
              <a:endParaRPr/>
            </a:p>
          </p:txBody>
        </p:sp>
      </p:grpSp>
      <p:grpSp>
        <p:nvGrpSpPr>
          <p:cNvPr id="23" name="Group 23"/>
          <p:cNvGrpSpPr/>
          <p:nvPr/>
        </p:nvGrpSpPr>
        <p:grpSpPr>
          <a:xfrm>
            <a:off x="0" y="5475871"/>
            <a:ext cx="5452016" cy="664988"/>
            <a:chOff x="0" y="0"/>
            <a:chExt cx="1435922" cy="175141"/>
          </a:xfrm>
        </p:grpSpPr>
        <p:sp>
          <p:nvSpPr>
            <p:cNvPr id="24" name="Freeform 24"/>
            <p:cNvSpPr/>
            <p:nvPr/>
          </p:nvSpPr>
          <p:spPr>
            <a:xfrm>
              <a:off x="0" y="0"/>
              <a:ext cx="1435922" cy="175141"/>
            </a:xfrm>
            <a:custGeom>
              <a:avLst/>
              <a:gdLst/>
              <a:ahLst/>
              <a:cxnLst/>
              <a:rect l="l" t="t" r="r" b="b"/>
              <a:pathLst>
                <a:path w="1435922" h="175141">
                  <a:moveTo>
                    <a:pt x="0" y="0"/>
                  </a:moveTo>
                  <a:lnTo>
                    <a:pt x="1435922" y="0"/>
                  </a:lnTo>
                  <a:lnTo>
                    <a:pt x="1435922" y="175141"/>
                  </a:lnTo>
                  <a:lnTo>
                    <a:pt x="0" y="175141"/>
                  </a:lnTo>
                  <a:close/>
                </a:path>
              </a:pathLst>
            </a:custGeom>
            <a:solidFill>
              <a:srgbClr val="EAFAB2"/>
            </a:solidFill>
          </p:spPr>
        </p:sp>
        <p:sp>
          <p:nvSpPr>
            <p:cNvPr id="25" name="TextBox 25"/>
            <p:cNvSpPr txBox="1"/>
            <p:nvPr/>
          </p:nvSpPr>
          <p:spPr>
            <a:xfrm>
              <a:off x="0" y="-38100"/>
              <a:ext cx="1435922" cy="213241"/>
            </a:xfrm>
            <a:prstGeom prst="rect">
              <a:avLst/>
            </a:prstGeom>
          </p:spPr>
          <p:txBody>
            <a:bodyPr lIns="50800" tIns="50800" rIns="50800" bIns="50800" rtlCol="0" anchor="ctr"/>
            <a:lstStyle/>
            <a:p>
              <a:pPr algn="ctr">
                <a:lnSpc>
                  <a:spcPts val="2775"/>
                </a:lnSpc>
              </a:pPr>
              <a:endParaRPr/>
            </a:p>
          </p:txBody>
        </p:sp>
      </p:grpSp>
      <p:grpSp>
        <p:nvGrpSpPr>
          <p:cNvPr id="26" name="Group 26"/>
          <p:cNvGrpSpPr/>
          <p:nvPr/>
        </p:nvGrpSpPr>
        <p:grpSpPr>
          <a:xfrm>
            <a:off x="6279211" y="5457153"/>
            <a:ext cx="5248883" cy="664988"/>
            <a:chOff x="0" y="0"/>
            <a:chExt cx="1382422" cy="175141"/>
          </a:xfrm>
        </p:grpSpPr>
        <p:sp>
          <p:nvSpPr>
            <p:cNvPr id="27" name="Freeform 27"/>
            <p:cNvSpPr/>
            <p:nvPr/>
          </p:nvSpPr>
          <p:spPr>
            <a:xfrm>
              <a:off x="0" y="0"/>
              <a:ext cx="1382422" cy="175141"/>
            </a:xfrm>
            <a:custGeom>
              <a:avLst/>
              <a:gdLst/>
              <a:ahLst/>
              <a:cxnLst/>
              <a:rect l="l" t="t" r="r" b="b"/>
              <a:pathLst>
                <a:path w="1382422" h="175141">
                  <a:moveTo>
                    <a:pt x="0" y="0"/>
                  </a:moveTo>
                  <a:lnTo>
                    <a:pt x="1382422" y="0"/>
                  </a:lnTo>
                  <a:lnTo>
                    <a:pt x="1382422" y="175141"/>
                  </a:lnTo>
                  <a:lnTo>
                    <a:pt x="0" y="175141"/>
                  </a:lnTo>
                  <a:close/>
                </a:path>
              </a:pathLst>
            </a:custGeom>
            <a:solidFill>
              <a:srgbClr val="EAFAB2"/>
            </a:solidFill>
          </p:spPr>
        </p:sp>
        <p:sp>
          <p:nvSpPr>
            <p:cNvPr id="28" name="TextBox 28"/>
            <p:cNvSpPr txBox="1"/>
            <p:nvPr/>
          </p:nvSpPr>
          <p:spPr>
            <a:xfrm>
              <a:off x="0" y="-38100"/>
              <a:ext cx="1382422" cy="213241"/>
            </a:xfrm>
            <a:prstGeom prst="rect">
              <a:avLst/>
            </a:prstGeom>
          </p:spPr>
          <p:txBody>
            <a:bodyPr lIns="50800" tIns="50800" rIns="50800" bIns="50800" rtlCol="0" anchor="ctr"/>
            <a:lstStyle/>
            <a:p>
              <a:pPr algn="ctr">
                <a:lnSpc>
                  <a:spcPts val="2775"/>
                </a:lnSpc>
              </a:pPr>
              <a:endParaRPr/>
            </a:p>
          </p:txBody>
        </p:sp>
      </p:grpSp>
      <p:grpSp>
        <p:nvGrpSpPr>
          <p:cNvPr id="29" name="Group 29"/>
          <p:cNvGrpSpPr/>
          <p:nvPr/>
        </p:nvGrpSpPr>
        <p:grpSpPr>
          <a:xfrm>
            <a:off x="13085949" y="5457153"/>
            <a:ext cx="5201385" cy="664988"/>
            <a:chOff x="0" y="0"/>
            <a:chExt cx="1369912" cy="175141"/>
          </a:xfrm>
        </p:grpSpPr>
        <p:sp>
          <p:nvSpPr>
            <p:cNvPr id="30" name="Freeform 30"/>
            <p:cNvSpPr/>
            <p:nvPr/>
          </p:nvSpPr>
          <p:spPr>
            <a:xfrm>
              <a:off x="0" y="0"/>
              <a:ext cx="1369912" cy="175141"/>
            </a:xfrm>
            <a:custGeom>
              <a:avLst/>
              <a:gdLst/>
              <a:ahLst/>
              <a:cxnLst/>
              <a:rect l="l" t="t" r="r" b="b"/>
              <a:pathLst>
                <a:path w="1369912" h="175141">
                  <a:moveTo>
                    <a:pt x="0" y="0"/>
                  </a:moveTo>
                  <a:lnTo>
                    <a:pt x="1369912" y="0"/>
                  </a:lnTo>
                  <a:lnTo>
                    <a:pt x="1369912" y="175141"/>
                  </a:lnTo>
                  <a:lnTo>
                    <a:pt x="0" y="175141"/>
                  </a:lnTo>
                  <a:close/>
                </a:path>
              </a:pathLst>
            </a:custGeom>
            <a:solidFill>
              <a:srgbClr val="EAFAB2"/>
            </a:solidFill>
          </p:spPr>
        </p:sp>
        <p:sp>
          <p:nvSpPr>
            <p:cNvPr id="31" name="TextBox 31"/>
            <p:cNvSpPr txBox="1"/>
            <p:nvPr/>
          </p:nvSpPr>
          <p:spPr>
            <a:xfrm>
              <a:off x="0" y="-38100"/>
              <a:ext cx="1369912" cy="213241"/>
            </a:xfrm>
            <a:prstGeom prst="rect">
              <a:avLst/>
            </a:prstGeom>
          </p:spPr>
          <p:txBody>
            <a:bodyPr lIns="50800" tIns="50800" rIns="50800" bIns="50800" rtlCol="0" anchor="ctr"/>
            <a:lstStyle/>
            <a:p>
              <a:pPr algn="ctr">
                <a:lnSpc>
                  <a:spcPts val="2775"/>
                </a:lnSpc>
              </a:pPr>
              <a:endParaRPr/>
            </a:p>
          </p:txBody>
        </p:sp>
      </p:grpSp>
      <p:sp>
        <p:nvSpPr>
          <p:cNvPr id="32" name="TextBox 32"/>
          <p:cNvSpPr txBox="1"/>
          <p:nvPr/>
        </p:nvSpPr>
        <p:spPr>
          <a:xfrm>
            <a:off x="6148207" y="1718003"/>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2/ Graphiques</a:t>
            </a:r>
          </a:p>
        </p:txBody>
      </p:sp>
      <p:sp>
        <p:nvSpPr>
          <p:cNvPr id="33" name="TextBox 33"/>
          <p:cNvSpPr txBox="1"/>
          <p:nvPr/>
        </p:nvSpPr>
        <p:spPr>
          <a:xfrm>
            <a:off x="13328776" y="5513971"/>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6/ Alertes Dynamiques</a:t>
            </a:r>
          </a:p>
        </p:txBody>
      </p:sp>
      <p:sp>
        <p:nvSpPr>
          <p:cNvPr id="34" name="TextBox 34"/>
          <p:cNvSpPr txBox="1"/>
          <p:nvPr/>
        </p:nvSpPr>
        <p:spPr>
          <a:xfrm>
            <a:off x="6356280" y="5513971"/>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5/ Exportation des données</a:t>
            </a:r>
          </a:p>
        </p:txBody>
      </p:sp>
      <p:sp>
        <p:nvSpPr>
          <p:cNvPr id="35" name="TextBox 35"/>
          <p:cNvSpPr txBox="1"/>
          <p:nvPr/>
        </p:nvSpPr>
        <p:spPr>
          <a:xfrm>
            <a:off x="0" y="5561149"/>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4/ Filtres Dynamiques</a:t>
            </a:r>
          </a:p>
        </p:txBody>
      </p:sp>
      <p:sp>
        <p:nvSpPr>
          <p:cNvPr id="36" name="TextBox 36"/>
          <p:cNvSpPr txBox="1"/>
          <p:nvPr/>
        </p:nvSpPr>
        <p:spPr>
          <a:xfrm>
            <a:off x="13106963" y="1718003"/>
            <a:ext cx="5159357" cy="448310"/>
          </a:xfrm>
          <a:prstGeom prst="rect">
            <a:avLst/>
          </a:prstGeom>
        </p:spPr>
        <p:txBody>
          <a:bodyPr lIns="0" tIns="0" rIns="0" bIns="0" rtlCol="0" anchor="t">
            <a:spAutoFit/>
          </a:bodyPr>
          <a:lstStyle/>
          <a:p>
            <a:pPr algn="ctr">
              <a:lnSpc>
                <a:spcPts val="3640"/>
              </a:lnSpc>
              <a:spcBef>
                <a:spcPct val="0"/>
              </a:spcBef>
            </a:pPr>
            <a:r>
              <a:rPr lang="en-US" sz="2600" b="1">
                <a:solidFill>
                  <a:srgbClr val="000000"/>
                </a:solidFill>
                <a:latin typeface="Lato Bold"/>
                <a:ea typeface="Lato Bold"/>
                <a:cs typeface="Lato Bold"/>
                <a:sym typeface="Lato Bold"/>
              </a:rPr>
              <a:t>3/ KPI(Indicateurs clés)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TextBox 2"/>
          <p:cNvSpPr txBox="1"/>
          <p:nvPr/>
        </p:nvSpPr>
        <p:spPr>
          <a:xfrm>
            <a:off x="662398" y="3907131"/>
            <a:ext cx="4207295" cy="2966084"/>
          </a:xfrm>
          <a:prstGeom prst="rect">
            <a:avLst/>
          </a:prstGeom>
        </p:spPr>
        <p:txBody>
          <a:bodyPr lIns="0" tIns="0" rIns="0" bIns="0" rtlCol="0" anchor="t">
            <a:spAutoFit/>
          </a:bodyPr>
          <a:lstStyle/>
          <a:p>
            <a:pPr marL="453396" lvl="1" indent="-226698" algn="l">
              <a:lnSpc>
                <a:spcPts val="2940"/>
              </a:lnSpc>
              <a:buAutoNum type="arabicPeriod"/>
            </a:pPr>
            <a:r>
              <a:rPr lang="en-US" sz="2100">
                <a:solidFill>
                  <a:srgbClr val="000000"/>
                </a:solidFill>
                <a:latin typeface="Lato"/>
                <a:ea typeface="Lato"/>
                <a:cs typeface="Lato"/>
                <a:sym typeface="Lato"/>
              </a:rPr>
              <a:t>Validation de chaque fonctionnalité (chargement de données, affichage des graphiques, filtres dynamiques).</a:t>
            </a:r>
          </a:p>
          <a:p>
            <a:pPr marL="453396" lvl="1" indent="-226698" algn="l">
              <a:lnSpc>
                <a:spcPts val="2940"/>
              </a:lnSpc>
              <a:buAutoNum type="arabicPeriod"/>
            </a:pPr>
            <a:r>
              <a:rPr lang="en-US" sz="2100">
                <a:solidFill>
                  <a:srgbClr val="000000"/>
                </a:solidFill>
                <a:latin typeface="Lato"/>
                <a:ea typeface="Lato"/>
                <a:cs typeface="Lato"/>
                <a:sym typeface="Lato"/>
              </a:rPr>
              <a:t>Analyse de performance avec des jeux de données volumineux.</a:t>
            </a:r>
          </a:p>
          <a:p>
            <a:pPr algn="l">
              <a:lnSpc>
                <a:spcPts val="2940"/>
              </a:lnSpc>
            </a:pPr>
            <a:endParaRPr lang="en-US" sz="2100">
              <a:solidFill>
                <a:srgbClr val="000000"/>
              </a:solidFill>
              <a:latin typeface="Lato"/>
              <a:ea typeface="Lato"/>
              <a:cs typeface="Lato"/>
              <a:sym typeface="Lato"/>
            </a:endParaRPr>
          </a:p>
        </p:txBody>
      </p:sp>
      <p:sp>
        <p:nvSpPr>
          <p:cNvPr id="3" name="TextBox 3"/>
          <p:cNvSpPr txBox="1"/>
          <p:nvPr/>
        </p:nvSpPr>
        <p:spPr>
          <a:xfrm>
            <a:off x="13043523" y="3907131"/>
            <a:ext cx="5187927" cy="2223134"/>
          </a:xfrm>
          <a:prstGeom prst="rect">
            <a:avLst/>
          </a:prstGeom>
        </p:spPr>
        <p:txBody>
          <a:bodyPr lIns="0" tIns="0" rIns="0" bIns="0" rtlCol="0" anchor="t">
            <a:spAutoFit/>
          </a:bodyPr>
          <a:lstStyle/>
          <a:p>
            <a:pPr marL="453396" lvl="1" indent="-226698" algn="just">
              <a:lnSpc>
                <a:spcPts val="2940"/>
              </a:lnSpc>
              <a:buAutoNum type="arabicPeriod"/>
            </a:pPr>
            <a:r>
              <a:rPr lang="en-US" sz="2100">
                <a:solidFill>
                  <a:srgbClr val="000000"/>
                </a:solidFill>
                <a:latin typeface="Lato"/>
                <a:ea typeface="Lato"/>
                <a:cs typeface="Lato"/>
                <a:sym typeface="Lato"/>
              </a:rPr>
              <a:t>Optimisation des temps de chargement.</a:t>
            </a:r>
          </a:p>
          <a:p>
            <a:pPr marL="453396" lvl="1" indent="-226698" algn="just">
              <a:lnSpc>
                <a:spcPts val="2940"/>
              </a:lnSpc>
              <a:buAutoNum type="arabicPeriod"/>
            </a:pPr>
            <a:r>
              <a:rPr lang="en-US" sz="2100">
                <a:solidFill>
                  <a:srgbClr val="000000"/>
                </a:solidFill>
                <a:latin typeface="Lato"/>
                <a:ea typeface="Lato"/>
                <a:cs typeface="Lato"/>
                <a:sym typeface="Lato"/>
              </a:rPr>
              <a:t>Ajustements des infobulles et des couleurs pour une meilleure lisibilité.</a:t>
            </a:r>
          </a:p>
          <a:p>
            <a:pPr marL="453396" lvl="1" indent="-226698" algn="just">
              <a:lnSpc>
                <a:spcPts val="2940"/>
              </a:lnSpc>
              <a:buAutoNum type="arabicPeriod"/>
            </a:pPr>
            <a:r>
              <a:rPr lang="en-US" sz="2100">
                <a:solidFill>
                  <a:srgbClr val="000000"/>
                </a:solidFill>
                <a:latin typeface="Lato"/>
                <a:ea typeface="Lato"/>
                <a:cs typeface="Lato"/>
                <a:sym typeface="Lato"/>
              </a:rPr>
              <a:t>Ajout d’instructions claires pour les utilisateurs.</a:t>
            </a:r>
          </a:p>
          <a:p>
            <a:pPr algn="just">
              <a:lnSpc>
                <a:spcPts val="2940"/>
              </a:lnSpc>
            </a:pPr>
            <a:endParaRPr lang="en-US" sz="2100">
              <a:solidFill>
                <a:srgbClr val="000000"/>
              </a:solidFill>
              <a:latin typeface="Lato"/>
              <a:ea typeface="Lato"/>
              <a:cs typeface="Lato"/>
              <a:sym typeface="Lato"/>
            </a:endParaRPr>
          </a:p>
        </p:txBody>
      </p:sp>
      <p:sp>
        <p:nvSpPr>
          <p:cNvPr id="4" name="TextBox 4"/>
          <p:cNvSpPr txBox="1"/>
          <p:nvPr/>
        </p:nvSpPr>
        <p:spPr>
          <a:xfrm>
            <a:off x="7027774" y="3907131"/>
            <a:ext cx="4201078" cy="2223134"/>
          </a:xfrm>
          <a:prstGeom prst="rect">
            <a:avLst/>
          </a:prstGeom>
        </p:spPr>
        <p:txBody>
          <a:bodyPr lIns="0" tIns="0" rIns="0" bIns="0" rtlCol="0" anchor="t">
            <a:spAutoFit/>
          </a:bodyPr>
          <a:lstStyle/>
          <a:p>
            <a:pPr algn="l">
              <a:lnSpc>
                <a:spcPts val="2940"/>
              </a:lnSpc>
            </a:pPr>
            <a:r>
              <a:rPr lang="en-US" sz="2100">
                <a:solidFill>
                  <a:srgbClr val="000000"/>
                </a:solidFill>
                <a:latin typeface="Lato"/>
                <a:ea typeface="Lato"/>
                <a:cs typeface="Lato"/>
                <a:sym typeface="Lato"/>
              </a:rPr>
              <a:t>Prise en main par des professionnels de santé et des étudiants pour recueillir des retours sur l’interface et l’utilité des visualisations.</a:t>
            </a:r>
          </a:p>
          <a:p>
            <a:pPr algn="l">
              <a:lnSpc>
                <a:spcPts val="2940"/>
              </a:lnSpc>
            </a:pPr>
            <a:endParaRPr lang="en-US" sz="2100">
              <a:solidFill>
                <a:srgbClr val="000000"/>
              </a:solidFill>
              <a:latin typeface="Lato"/>
              <a:ea typeface="Lato"/>
              <a:cs typeface="Lato"/>
              <a:sym typeface="Lato"/>
            </a:endParaRPr>
          </a:p>
        </p:txBody>
      </p:sp>
      <p:sp>
        <p:nvSpPr>
          <p:cNvPr id="5" name="TextBox 5"/>
          <p:cNvSpPr txBox="1"/>
          <p:nvPr/>
        </p:nvSpPr>
        <p:spPr>
          <a:xfrm>
            <a:off x="6315592" y="700731"/>
            <a:ext cx="5163969" cy="601337"/>
          </a:xfrm>
          <a:prstGeom prst="rect">
            <a:avLst/>
          </a:prstGeom>
        </p:spPr>
        <p:txBody>
          <a:bodyPr lIns="0" tIns="0" rIns="0" bIns="0" rtlCol="0" anchor="t">
            <a:spAutoFit/>
          </a:bodyPr>
          <a:lstStyle/>
          <a:p>
            <a:pPr algn="ctr">
              <a:lnSpc>
                <a:spcPts val="4655"/>
              </a:lnSpc>
            </a:pPr>
            <a:r>
              <a:rPr lang="en-US" sz="3325" b="1">
                <a:solidFill>
                  <a:srgbClr val="000000"/>
                </a:solidFill>
                <a:latin typeface="Poppins Bold"/>
                <a:ea typeface="Poppins Bold"/>
                <a:cs typeface="Poppins Bold"/>
                <a:sym typeface="Poppins Bold"/>
              </a:rPr>
              <a:t>TEST ET VALIDATION</a:t>
            </a:r>
          </a:p>
        </p:txBody>
      </p:sp>
      <p:grpSp>
        <p:nvGrpSpPr>
          <p:cNvPr id="6" name="Group 6"/>
          <p:cNvGrpSpPr/>
          <p:nvPr/>
        </p:nvGrpSpPr>
        <p:grpSpPr>
          <a:xfrm>
            <a:off x="17349683" y="9345065"/>
            <a:ext cx="423967" cy="427585"/>
            <a:chOff x="0" y="0"/>
            <a:chExt cx="205716" cy="207472"/>
          </a:xfrm>
        </p:grpSpPr>
        <p:sp>
          <p:nvSpPr>
            <p:cNvPr id="7" name="Freeform 7"/>
            <p:cNvSpPr/>
            <p:nvPr/>
          </p:nvSpPr>
          <p:spPr>
            <a:xfrm>
              <a:off x="0" y="0"/>
              <a:ext cx="205716" cy="207472"/>
            </a:xfrm>
            <a:custGeom>
              <a:avLst/>
              <a:gdLst/>
              <a:ahLst/>
              <a:cxnLst/>
              <a:rect l="l" t="t" r="r" b="b"/>
              <a:pathLst>
                <a:path w="205716" h="207472">
                  <a:moveTo>
                    <a:pt x="0" y="0"/>
                  </a:moveTo>
                  <a:lnTo>
                    <a:pt x="205716" y="0"/>
                  </a:lnTo>
                  <a:lnTo>
                    <a:pt x="205716" y="207472"/>
                  </a:lnTo>
                  <a:lnTo>
                    <a:pt x="0" y="207472"/>
                  </a:lnTo>
                  <a:close/>
                </a:path>
              </a:pathLst>
            </a:custGeom>
            <a:solidFill>
              <a:srgbClr val="000000">
                <a:alpha val="0"/>
              </a:srgbClr>
            </a:solidFill>
          </p:spPr>
        </p:sp>
        <p:sp>
          <p:nvSpPr>
            <p:cNvPr id="8" name="TextBox 8"/>
            <p:cNvSpPr txBox="1"/>
            <p:nvPr/>
          </p:nvSpPr>
          <p:spPr>
            <a:xfrm>
              <a:off x="0" y="-38100"/>
              <a:ext cx="205716" cy="245572"/>
            </a:xfrm>
            <a:prstGeom prst="rect">
              <a:avLst/>
            </a:prstGeom>
          </p:spPr>
          <p:txBody>
            <a:bodyPr lIns="50800" tIns="50800" rIns="50800" bIns="50800" rtlCol="0" anchor="ctr"/>
            <a:lstStyle/>
            <a:p>
              <a:pPr algn="ctr">
                <a:lnSpc>
                  <a:spcPts val="2100"/>
                </a:lnSpc>
              </a:pPr>
              <a:r>
                <a:rPr lang="en-US" sz="1500">
                  <a:solidFill>
                    <a:srgbClr val="000000"/>
                  </a:solidFill>
                  <a:latin typeface="Lato"/>
                  <a:ea typeface="Lato"/>
                  <a:cs typeface="Lato"/>
                  <a:sym typeface="Lato"/>
                </a:rPr>
                <a:t>13</a:t>
              </a:r>
            </a:p>
          </p:txBody>
        </p:sp>
      </p:grpSp>
      <p:grpSp>
        <p:nvGrpSpPr>
          <p:cNvPr id="9" name="Group 9"/>
          <p:cNvGrpSpPr/>
          <p:nvPr/>
        </p:nvGrpSpPr>
        <p:grpSpPr>
          <a:xfrm>
            <a:off x="0" y="1980176"/>
            <a:ext cx="5452016" cy="664988"/>
            <a:chOff x="0" y="0"/>
            <a:chExt cx="1435922" cy="175141"/>
          </a:xfrm>
        </p:grpSpPr>
        <p:sp>
          <p:nvSpPr>
            <p:cNvPr id="10" name="Freeform 10"/>
            <p:cNvSpPr/>
            <p:nvPr/>
          </p:nvSpPr>
          <p:spPr>
            <a:xfrm>
              <a:off x="0" y="0"/>
              <a:ext cx="1435922" cy="175141"/>
            </a:xfrm>
            <a:custGeom>
              <a:avLst/>
              <a:gdLst/>
              <a:ahLst/>
              <a:cxnLst/>
              <a:rect l="l" t="t" r="r" b="b"/>
              <a:pathLst>
                <a:path w="1435922" h="175141">
                  <a:moveTo>
                    <a:pt x="0" y="0"/>
                  </a:moveTo>
                  <a:lnTo>
                    <a:pt x="1435922" y="0"/>
                  </a:lnTo>
                  <a:lnTo>
                    <a:pt x="1435922" y="175141"/>
                  </a:lnTo>
                  <a:lnTo>
                    <a:pt x="0" y="175141"/>
                  </a:lnTo>
                  <a:close/>
                </a:path>
              </a:pathLst>
            </a:custGeom>
            <a:solidFill>
              <a:srgbClr val="EAFAB2"/>
            </a:solidFill>
          </p:spPr>
        </p:sp>
        <p:sp>
          <p:nvSpPr>
            <p:cNvPr id="11" name="TextBox 11"/>
            <p:cNvSpPr txBox="1"/>
            <p:nvPr/>
          </p:nvSpPr>
          <p:spPr>
            <a:xfrm>
              <a:off x="0" y="-38100"/>
              <a:ext cx="1435922" cy="213241"/>
            </a:xfrm>
            <a:prstGeom prst="rect">
              <a:avLst/>
            </a:prstGeom>
          </p:spPr>
          <p:txBody>
            <a:bodyPr lIns="50800" tIns="50800" rIns="50800" bIns="50800" rtlCol="0" anchor="ctr"/>
            <a:lstStyle/>
            <a:p>
              <a:pPr algn="ctr">
                <a:lnSpc>
                  <a:spcPts val="2775"/>
                </a:lnSpc>
              </a:pPr>
              <a:endParaRPr/>
            </a:p>
          </p:txBody>
        </p:sp>
      </p:grpSp>
      <p:grpSp>
        <p:nvGrpSpPr>
          <p:cNvPr id="12" name="Group 12"/>
          <p:cNvGrpSpPr/>
          <p:nvPr/>
        </p:nvGrpSpPr>
        <p:grpSpPr>
          <a:xfrm>
            <a:off x="6417992" y="1980176"/>
            <a:ext cx="5452016" cy="664988"/>
            <a:chOff x="0" y="0"/>
            <a:chExt cx="1435922" cy="175141"/>
          </a:xfrm>
        </p:grpSpPr>
        <p:sp>
          <p:nvSpPr>
            <p:cNvPr id="13" name="Freeform 13"/>
            <p:cNvSpPr/>
            <p:nvPr/>
          </p:nvSpPr>
          <p:spPr>
            <a:xfrm>
              <a:off x="0" y="0"/>
              <a:ext cx="1435922" cy="175141"/>
            </a:xfrm>
            <a:custGeom>
              <a:avLst/>
              <a:gdLst/>
              <a:ahLst/>
              <a:cxnLst/>
              <a:rect l="l" t="t" r="r" b="b"/>
              <a:pathLst>
                <a:path w="1435922" h="175141">
                  <a:moveTo>
                    <a:pt x="0" y="0"/>
                  </a:moveTo>
                  <a:lnTo>
                    <a:pt x="1435922" y="0"/>
                  </a:lnTo>
                  <a:lnTo>
                    <a:pt x="1435922" y="175141"/>
                  </a:lnTo>
                  <a:lnTo>
                    <a:pt x="0" y="175141"/>
                  </a:lnTo>
                  <a:close/>
                </a:path>
              </a:pathLst>
            </a:custGeom>
            <a:solidFill>
              <a:srgbClr val="EAFAB2"/>
            </a:solidFill>
          </p:spPr>
        </p:sp>
        <p:sp>
          <p:nvSpPr>
            <p:cNvPr id="14" name="TextBox 14"/>
            <p:cNvSpPr txBox="1"/>
            <p:nvPr/>
          </p:nvSpPr>
          <p:spPr>
            <a:xfrm>
              <a:off x="0" y="-38100"/>
              <a:ext cx="1435922" cy="213241"/>
            </a:xfrm>
            <a:prstGeom prst="rect">
              <a:avLst/>
            </a:prstGeom>
          </p:spPr>
          <p:txBody>
            <a:bodyPr lIns="50800" tIns="50800" rIns="50800" bIns="50800" rtlCol="0" anchor="ctr"/>
            <a:lstStyle/>
            <a:p>
              <a:pPr algn="ctr">
                <a:lnSpc>
                  <a:spcPts val="2775"/>
                </a:lnSpc>
              </a:pPr>
              <a:endParaRPr/>
            </a:p>
          </p:txBody>
        </p:sp>
      </p:grpSp>
      <p:grpSp>
        <p:nvGrpSpPr>
          <p:cNvPr id="15" name="Group 15"/>
          <p:cNvGrpSpPr/>
          <p:nvPr/>
        </p:nvGrpSpPr>
        <p:grpSpPr>
          <a:xfrm>
            <a:off x="12835984" y="1980176"/>
            <a:ext cx="5452016" cy="664988"/>
            <a:chOff x="0" y="0"/>
            <a:chExt cx="1435922" cy="175141"/>
          </a:xfrm>
        </p:grpSpPr>
        <p:sp>
          <p:nvSpPr>
            <p:cNvPr id="16" name="Freeform 16"/>
            <p:cNvSpPr/>
            <p:nvPr/>
          </p:nvSpPr>
          <p:spPr>
            <a:xfrm>
              <a:off x="0" y="0"/>
              <a:ext cx="1435922" cy="175141"/>
            </a:xfrm>
            <a:custGeom>
              <a:avLst/>
              <a:gdLst/>
              <a:ahLst/>
              <a:cxnLst/>
              <a:rect l="l" t="t" r="r" b="b"/>
              <a:pathLst>
                <a:path w="1435922" h="175141">
                  <a:moveTo>
                    <a:pt x="0" y="0"/>
                  </a:moveTo>
                  <a:lnTo>
                    <a:pt x="1435922" y="0"/>
                  </a:lnTo>
                  <a:lnTo>
                    <a:pt x="1435922" y="175141"/>
                  </a:lnTo>
                  <a:lnTo>
                    <a:pt x="0" y="175141"/>
                  </a:lnTo>
                  <a:close/>
                </a:path>
              </a:pathLst>
            </a:custGeom>
            <a:solidFill>
              <a:srgbClr val="EAFAB2"/>
            </a:solidFill>
          </p:spPr>
        </p:sp>
        <p:sp>
          <p:nvSpPr>
            <p:cNvPr id="17" name="TextBox 17"/>
            <p:cNvSpPr txBox="1"/>
            <p:nvPr/>
          </p:nvSpPr>
          <p:spPr>
            <a:xfrm>
              <a:off x="0" y="-38100"/>
              <a:ext cx="1435922" cy="213241"/>
            </a:xfrm>
            <a:prstGeom prst="rect">
              <a:avLst/>
            </a:prstGeom>
          </p:spPr>
          <p:txBody>
            <a:bodyPr lIns="50800" tIns="50800" rIns="50800" bIns="50800" rtlCol="0" anchor="ctr"/>
            <a:lstStyle/>
            <a:p>
              <a:pPr algn="ctr">
                <a:lnSpc>
                  <a:spcPts val="2775"/>
                </a:lnSpc>
              </a:pPr>
              <a:endParaRPr/>
            </a:p>
          </p:txBody>
        </p:sp>
      </p:grpSp>
      <p:sp>
        <p:nvSpPr>
          <p:cNvPr id="18" name="TextBox 18"/>
          <p:cNvSpPr txBox="1"/>
          <p:nvPr/>
        </p:nvSpPr>
        <p:spPr>
          <a:xfrm>
            <a:off x="1016087" y="2051464"/>
            <a:ext cx="3853607" cy="465263"/>
          </a:xfrm>
          <a:prstGeom prst="rect">
            <a:avLst/>
          </a:prstGeom>
        </p:spPr>
        <p:txBody>
          <a:bodyPr lIns="0" tIns="0" rIns="0" bIns="0" rtlCol="0" anchor="t">
            <a:spAutoFit/>
          </a:bodyPr>
          <a:lstStyle/>
          <a:p>
            <a:pPr algn="ctr">
              <a:lnSpc>
                <a:spcPts val="3755"/>
              </a:lnSpc>
              <a:spcBef>
                <a:spcPct val="0"/>
              </a:spcBef>
            </a:pPr>
            <a:r>
              <a:rPr lang="en-US" sz="2682" b="1">
                <a:solidFill>
                  <a:srgbClr val="000000"/>
                </a:solidFill>
                <a:latin typeface="Lato Bold"/>
                <a:ea typeface="Lato Bold"/>
                <a:cs typeface="Lato Bold"/>
                <a:sym typeface="Lato Bold"/>
              </a:rPr>
              <a:t>1/ TESTS TECHNIQUES  </a:t>
            </a:r>
          </a:p>
        </p:txBody>
      </p:sp>
      <p:sp>
        <p:nvSpPr>
          <p:cNvPr id="19" name="TextBox 19"/>
          <p:cNvSpPr txBox="1"/>
          <p:nvPr/>
        </p:nvSpPr>
        <p:spPr>
          <a:xfrm>
            <a:off x="7027774" y="2051464"/>
            <a:ext cx="3739604" cy="465263"/>
          </a:xfrm>
          <a:prstGeom prst="rect">
            <a:avLst/>
          </a:prstGeom>
        </p:spPr>
        <p:txBody>
          <a:bodyPr lIns="0" tIns="0" rIns="0" bIns="0" rtlCol="0" anchor="t">
            <a:spAutoFit/>
          </a:bodyPr>
          <a:lstStyle/>
          <a:p>
            <a:pPr algn="ctr">
              <a:lnSpc>
                <a:spcPts val="3755"/>
              </a:lnSpc>
              <a:spcBef>
                <a:spcPct val="0"/>
              </a:spcBef>
            </a:pPr>
            <a:r>
              <a:rPr lang="en-US" sz="2682" b="1">
                <a:solidFill>
                  <a:srgbClr val="000000"/>
                </a:solidFill>
                <a:latin typeface="Lato Bold"/>
                <a:ea typeface="Lato Bold"/>
                <a:cs typeface="Lato Bold"/>
                <a:sym typeface="Lato Bold"/>
              </a:rPr>
              <a:t>2/ TESTS UTILISATEUR </a:t>
            </a:r>
          </a:p>
        </p:txBody>
      </p:sp>
      <p:sp>
        <p:nvSpPr>
          <p:cNvPr id="20" name="TextBox 20"/>
          <p:cNvSpPr txBox="1"/>
          <p:nvPr/>
        </p:nvSpPr>
        <p:spPr>
          <a:xfrm>
            <a:off x="12832033" y="2051464"/>
            <a:ext cx="5610906" cy="465263"/>
          </a:xfrm>
          <a:prstGeom prst="rect">
            <a:avLst/>
          </a:prstGeom>
        </p:spPr>
        <p:txBody>
          <a:bodyPr lIns="0" tIns="0" rIns="0" bIns="0" rtlCol="0" anchor="t">
            <a:spAutoFit/>
          </a:bodyPr>
          <a:lstStyle/>
          <a:p>
            <a:pPr algn="ctr">
              <a:lnSpc>
                <a:spcPts val="3755"/>
              </a:lnSpc>
              <a:spcBef>
                <a:spcPct val="0"/>
              </a:spcBef>
            </a:pPr>
            <a:r>
              <a:rPr lang="en-US" sz="2682" b="1">
                <a:solidFill>
                  <a:srgbClr val="000000"/>
                </a:solidFill>
                <a:latin typeface="Lato Bold"/>
                <a:ea typeface="Lato Bold"/>
                <a:cs typeface="Lato Bold"/>
                <a:sym typeface="Lato Bold"/>
              </a:rPr>
              <a:t>3/ AMELIORATIONS APPORTEES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3206933">
            <a:off x="-4832165" y="16679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160485">
            <a:off x="12914598" y="4282502"/>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4093702" y="3506889"/>
            <a:ext cx="10405395" cy="3224121"/>
            <a:chOff x="0" y="0"/>
            <a:chExt cx="2419814" cy="749781"/>
          </a:xfrm>
        </p:grpSpPr>
        <p:sp>
          <p:nvSpPr>
            <p:cNvPr id="5" name="Freeform 5"/>
            <p:cNvSpPr/>
            <p:nvPr/>
          </p:nvSpPr>
          <p:spPr>
            <a:xfrm>
              <a:off x="0" y="0"/>
              <a:ext cx="2419814" cy="749781"/>
            </a:xfrm>
            <a:custGeom>
              <a:avLst/>
              <a:gdLst/>
              <a:ahLst/>
              <a:cxnLst/>
              <a:rect l="l" t="t" r="r" b="b"/>
              <a:pathLst>
                <a:path w="2419814" h="749781">
                  <a:moveTo>
                    <a:pt x="0" y="0"/>
                  </a:moveTo>
                  <a:lnTo>
                    <a:pt x="2419814" y="0"/>
                  </a:lnTo>
                  <a:lnTo>
                    <a:pt x="2419814" y="749781"/>
                  </a:lnTo>
                  <a:lnTo>
                    <a:pt x="0" y="749781"/>
                  </a:lnTo>
                  <a:close/>
                </a:path>
              </a:pathLst>
            </a:custGeom>
            <a:solidFill>
              <a:srgbClr val="EAFAB2"/>
            </a:solidFill>
            <a:ln w="28575" cap="sq">
              <a:solidFill>
                <a:srgbClr val="EAFAB2"/>
              </a:solidFill>
              <a:prstDash val="solid"/>
              <a:miter/>
            </a:ln>
          </p:spPr>
        </p:sp>
        <p:sp>
          <p:nvSpPr>
            <p:cNvPr id="6" name="TextBox 6"/>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7" name="TextBox 7"/>
          <p:cNvSpPr txBox="1"/>
          <p:nvPr/>
        </p:nvSpPr>
        <p:spPr>
          <a:xfrm>
            <a:off x="3941302" y="4740489"/>
            <a:ext cx="10405395" cy="424179"/>
          </a:xfrm>
          <a:prstGeom prst="rect">
            <a:avLst/>
          </a:prstGeom>
        </p:spPr>
        <p:txBody>
          <a:bodyPr lIns="0" tIns="0" rIns="0" bIns="0" rtlCol="0" anchor="t">
            <a:spAutoFit/>
          </a:bodyPr>
          <a:lstStyle/>
          <a:p>
            <a:pPr algn="ctr">
              <a:lnSpc>
                <a:spcPts val="3199"/>
              </a:lnSpc>
              <a:spcBef>
                <a:spcPct val="0"/>
              </a:spcBef>
            </a:pPr>
            <a:r>
              <a:rPr lang="en-US" sz="3199" b="1" spc="-95">
                <a:solidFill>
                  <a:srgbClr val="000000"/>
                </a:solidFill>
                <a:latin typeface="Neue Machina Ultra-Bold"/>
                <a:ea typeface="Neue Machina Ultra-Bold"/>
                <a:cs typeface="Neue Machina Ultra-Bold"/>
                <a:sym typeface="Neue Machina Ultra-Bold"/>
              </a:rPr>
              <a:t>PRÉPARATION ET TRAITEMENT DES DONNÉES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AFAB2"/>
        </a:solidFill>
        <a:effectLst/>
      </p:bgPr>
    </p:bg>
    <p:spTree>
      <p:nvGrpSpPr>
        <p:cNvPr id="1" name=""/>
        <p:cNvGrpSpPr/>
        <p:nvPr/>
      </p:nvGrpSpPr>
      <p:grpSpPr>
        <a:xfrm>
          <a:off x="0" y="0"/>
          <a:ext cx="0" cy="0"/>
          <a:chOff x="0" y="0"/>
          <a:chExt cx="0" cy="0"/>
        </a:xfrm>
      </p:grpSpPr>
      <p:sp>
        <p:nvSpPr>
          <p:cNvPr id="2" name="TextBox 2"/>
          <p:cNvSpPr txBox="1"/>
          <p:nvPr/>
        </p:nvSpPr>
        <p:spPr>
          <a:xfrm>
            <a:off x="1560746" y="1390657"/>
            <a:ext cx="7941475" cy="3079751"/>
          </a:xfrm>
          <a:prstGeom prst="rect">
            <a:avLst/>
          </a:prstGeom>
        </p:spPr>
        <p:txBody>
          <a:bodyPr lIns="0" tIns="0" rIns="0" bIns="0" rtlCol="0" anchor="t">
            <a:spAutoFit/>
          </a:bodyPr>
          <a:lstStyle/>
          <a:p>
            <a:pPr algn="l">
              <a:lnSpc>
                <a:spcPts val="8000"/>
              </a:lnSpc>
            </a:pPr>
            <a:r>
              <a:rPr lang="en-US" sz="8000" spc="-240">
                <a:solidFill>
                  <a:srgbClr val="33372C"/>
                </a:solidFill>
                <a:latin typeface="Montserrat Light"/>
                <a:ea typeface="Montserrat Light"/>
                <a:cs typeface="Montserrat Light"/>
                <a:sym typeface="Montserrat Light"/>
              </a:rPr>
              <a:t>NETTOYAGE ET PRÉPARATION DES DONNÉES</a:t>
            </a:r>
          </a:p>
        </p:txBody>
      </p:sp>
      <p:grpSp>
        <p:nvGrpSpPr>
          <p:cNvPr id="3" name="Group 3"/>
          <p:cNvGrpSpPr/>
          <p:nvPr/>
        </p:nvGrpSpPr>
        <p:grpSpPr>
          <a:xfrm>
            <a:off x="7710205" y="8704097"/>
            <a:ext cx="5802394" cy="6751876"/>
            <a:chOff x="0" y="0"/>
            <a:chExt cx="698500" cy="812800"/>
          </a:xfrm>
        </p:grpSpPr>
        <p:sp>
          <p:nvSpPr>
            <p:cNvPr id="4" name="Freeform 4"/>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grpSp>
        <p:nvGrpSpPr>
          <p:cNvPr id="5" name="Group 5"/>
          <p:cNvGrpSpPr/>
          <p:nvPr/>
        </p:nvGrpSpPr>
        <p:grpSpPr>
          <a:xfrm>
            <a:off x="10620926" y="0"/>
            <a:ext cx="7676599" cy="10287000"/>
            <a:chOff x="0" y="0"/>
            <a:chExt cx="2021820" cy="2709333"/>
          </a:xfrm>
        </p:grpSpPr>
        <p:sp>
          <p:nvSpPr>
            <p:cNvPr id="6" name="Freeform 6"/>
            <p:cNvSpPr/>
            <p:nvPr/>
          </p:nvSpPr>
          <p:spPr>
            <a:xfrm>
              <a:off x="0" y="0"/>
              <a:ext cx="2021820" cy="2709333"/>
            </a:xfrm>
            <a:custGeom>
              <a:avLst/>
              <a:gdLst/>
              <a:ahLst/>
              <a:cxnLst/>
              <a:rect l="l" t="t" r="r" b="b"/>
              <a:pathLst>
                <a:path w="2021820" h="2709333">
                  <a:moveTo>
                    <a:pt x="0" y="0"/>
                  </a:moveTo>
                  <a:lnTo>
                    <a:pt x="2021820" y="0"/>
                  </a:lnTo>
                  <a:lnTo>
                    <a:pt x="2021820" y="2709333"/>
                  </a:lnTo>
                  <a:lnTo>
                    <a:pt x="0" y="2709333"/>
                  </a:lnTo>
                  <a:close/>
                </a:path>
              </a:pathLst>
            </a:custGeom>
            <a:solidFill>
              <a:srgbClr val="F1F0E8"/>
            </a:solidFill>
          </p:spPr>
        </p:sp>
        <p:sp>
          <p:nvSpPr>
            <p:cNvPr id="7" name="TextBox 7"/>
            <p:cNvSpPr txBox="1"/>
            <p:nvPr/>
          </p:nvSpPr>
          <p:spPr>
            <a:xfrm>
              <a:off x="0" y="-76200"/>
              <a:ext cx="2021820" cy="2785533"/>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1159354" y="835666"/>
            <a:ext cx="6099946" cy="1232535"/>
          </a:xfrm>
          <a:prstGeom prst="rect">
            <a:avLst/>
          </a:prstGeom>
        </p:spPr>
        <p:txBody>
          <a:bodyPr lIns="0" tIns="0" rIns="0" bIns="0" rtlCol="0" anchor="t">
            <a:spAutoFit/>
          </a:bodyPr>
          <a:lstStyle/>
          <a:p>
            <a:pPr algn="l">
              <a:lnSpc>
                <a:spcPts val="2400"/>
              </a:lnSpc>
            </a:pPr>
            <a:r>
              <a:rPr lang="en-US" sz="2400" b="1" spc="-72">
                <a:solidFill>
                  <a:srgbClr val="000000"/>
                </a:solidFill>
                <a:latin typeface="Montserrat Medium"/>
                <a:ea typeface="Montserrat Medium"/>
                <a:cs typeface="Montserrat Medium"/>
                <a:sym typeface="Montserrat Medium"/>
              </a:rPr>
              <a:t>LES DONNÉES UTILISÉES PROVIENNENT DU FICHIER CSV INTOXICATION_ALIMENTAIRE_MAROC_MIS_A_JOUR.CSV</a:t>
            </a:r>
          </a:p>
        </p:txBody>
      </p:sp>
      <p:sp>
        <p:nvSpPr>
          <p:cNvPr id="9" name="TextBox 9"/>
          <p:cNvSpPr txBox="1"/>
          <p:nvPr/>
        </p:nvSpPr>
        <p:spPr>
          <a:xfrm>
            <a:off x="11197281" y="3247397"/>
            <a:ext cx="6024092" cy="1255395"/>
          </a:xfrm>
          <a:prstGeom prst="rect">
            <a:avLst/>
          </a:prstGeom>
        </p:spPr>
        <p:txBody>
          <a:bodyPr lIns="0" tIns="0" rIns="0" bIns="0" rtlCol="0" anchor="t">
            <a:spAutoFit/>
          </a:bodyPr>
          <a:lstStyle/>
          <a:p>
            <a:pPr algn="l">
              <a:lnSpc>
                <a:spcPts val="2699"/>
              </a:lnSpc>
            </a:pPr>
            <a:r>
              <a:rPr lang="en-US" sz="2699" b="1" spc="-80">
                <a:solidFill>
                  <a:srgbClr val="8C52FF"/>
                </a:solidFill>
                <a:latin typeface="Montserrat Medium"/>
                <a:ea typeface="Montserrat Medium"/>
                <a:cs typeface="Montserrat Medium"/>
                <a:sym typeface="Montserrat Medium"/>
              </a:rPr>
              <a:t>OBJECTIF :</a:t>
            </a:r>
          </a:p>
          <a:p>
            <a:pPr algn="l">
              <a:lnSpc>
                <a:spcPts val="2400"/>
              </a:lnSpc>
            </a:pPr>
            <a:endParaRPr lang="en-US" sz="2699" b="1" spc="-80">
              <a:solidFill>
                <a:srgbClr val="8C52FF"/>
              </a:solidFill>
              <a:latin typeface="Montserrat Medium"/>
              <a:ea typeface="Montserrat Medium"/>
              <a:cs typeface="Montserrat Medium"/>
              <a:sym typeface="Montserrat Medium"/>
            </a:endParaRPr>
          </a:p>
          <a:p>
            <a:pPr algn="l">
              <a:lnSpc>
                <a:spcPts val="2400"/>
              </a:lnSpc>
            </a:pPr>
            <a:r>
              <a:rPr lang="en-US" sz="2400" b="1" spc="-72">
                <a:solidFill>
                  <a:srgbClr val="000000"/>
                </a:solidFill>
                <a:latin typeface="Montserrat Medium"/>
                <a:ea typeface="Montserrat Medium"/>
                <a:cs typeface="Montserrat Medium"/>
                <a:sym typeface="Montserrat Medium"/>
              </a:rPr>
              <a:t> GARANTIR DES ANALYSES FIABLES ET DES VISUALISATIONS PRÉCISES.</a:t>
            </a:r>
          </a:p>
        </p:txBody>
      </p:sp>
      <p:sp>
        <p:nvSpPr>
          <p:cNvPr id="10" name="TextBox 10"/>
          <p:cNvSpPr txBox="1"/>
          <p:nvPr/>
        </p:nvSpPr>
        <p:spPr>
          <a:xfrm>
            <a:off x="11159354" y="5641982"/>
            <a:ext cx="6024092" cy="927735"/>
          </a:xfrm>
          <a:prstGeom prst="rect">
            <a:avLst/>
          </a:prstGeom>
        </p:spPr>
        <p:txBody>
          <a:bodyPr lIns="0" tIns="0" rIns="0" bIns="0" rtlCol="0" anchor="t">
            <a:spAutoFit/>
          </a:bodyPr>
          <a:lstStyle/>
          <a:p>
            <a:pPr algn="l">
              <a:lnSpc>
                <a:spcPts val="2400"/>
              </a:lnSpc>
            </a:pPr>
            <a:r>
              <a:rPr lang="en-US" sz="2400" b="1" spc="-72">
                <a:solidFill>
                  <a:srgbClr val="8C52FF"/>
                </a:solidFill>
                <a:latin typeface="Montserrat Medium"/>
                <a:ea typeface="Montserrat Medium"/>
                <a:cs typeface="Montserrat Medium"/>
                <a:sym typeface="Montserrat Medium"/>
              </a:rPr>
              <a:t>ÉTAPES CLÉS :</a:t>
            </a:r>
          </a:p>
          <a:p>
            <a:pPr algn="l">
              <a:lnSpc>
                <a:spcPts val="2400"/>
              </a:lnSpc>
            </a:pPr>
            <a:r>
              <a:rPr lang="en-US" sz="2400" b="1" spc="-72">
                <a:solidFill>
                  <a:srgbClr val="000000"/>
                </a:solidFill>
                <a:latin typeface="Montserrat Medium"/>
                <a:ea typeface="Montserrat Medium"/>
                <a:cs typeface="Montserrat Medium"/>
                <a:sym typeface="Montserrat Medium"/>
              </a:rPr>
              <a:t> NETTOYAGE, ENRICHISSEMENT ET STRUCTURATION DES DONNÉES.</a:t>
            </a:r>
          </a:p>
        </p:txBody>
      </p:sp>
      <p:sp>
        <p:nvSpPr>
          <p:cNvPr id="11" name="Freeform 11"/>
          <p:cNvSpPr/>
          <p:nvPr/>
        </p:nvSpPr>
        <p:spPr>
          <a:xfrm>
            <a:off x="11054720" y="71431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599647" y="79305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901197" y="-5323755"/>
            <a:ext cx="5802394" cy="6751876"/>
            <a:chOff x="0" y="0"/>
            <a:chExt cx="698500" cy="812800"/>
          </a:xfrm>
        </p:grpSpPr>
        <p:sp>
          <p:nvSpPr>
            <p:cNvPr id="14" name="Freeform 14"/>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AFAB2"/>
        </a:solidFill>
        <a:effectLst/>
      </p:bgPr>
    </p:bg>
    <p:spTree>
      <p:nvGrpSpPr>
        <p:cNvPr id="1" name=""/>
        <p:cNvGrpSpPr/>
        <p:nvPr/>
      </p:nvGrpSpPr>
      <p:grpSpPr>
        <a:xfrm>
          <a:off x="0" y="0"/>
          <a:ext cx="0" cy="0"/>
          <a:chOff x="0" y="0"/>
          <a:chExt cx="0" cy="0"/>
        </a:xfrm>
      </p:grpSpPr>
      <p:sp>
        <p:nvSpPr>
          <p:cNvPr id="2" name="TextBox 2"/>
          <p:cNvSpPr txBox="1"/>
          <p:nvPr/>
        </p:nvSpPr>
        <p:spPr>
          <a:xfrm>
            <a:off x="1560746" y="1390657"/>
            <a:ext cx="7941475" cy="2070101"/>
          </a:xfrm>
          <a:prstGeom prst="rect">
            <a:avLst/>
          </a:prstGeom>
        </p:spPr>
        <p:txBody>
          <a:bodyPr lIns="0" tIns="0" rIns="0" bIns="0" rtlCol="0" anchor="t">
            <a:spAutoFit/>
          </a:bodyPr>
          <a:lstStyle/>
          <a:p>
            <a:pPr algn="l">
              <a:lnSpc>
                <a:spcPts val="8000"/>
              </a:lnSpc>
            </a:pPr>
            <a:r>
              <a:rPr lang="en-US" sz="8000" spc="-240">
                <a:solidFill>
                  <a:srgbClr val="33372C"/>
                </a:solidFill>
                <a:latin typeface="Montserrat Light"/>
                <a:ea typeface="Montserrat Light"/>
                <a:cs typeface="Montserrat Light"/>
                <a:sym typeface="Montserrat Light"/>
              </a:rPr>
              <a:t>PROCESSUS DE NETTOYAGE</a:t>
            </a:r>
          </a:p>
        </p:txBody>
      </p:sp>
      <p:grpSp>
        <p:nvGrpSpPr>
          <p:cNvPr id="3" name="Group 3"/>
          <p:cNvGrpSpPr/>
          <p:nvPr/>
        </p:nvGrpSpPr>
        <p:grpSpPr>
          <a:xfrm>
            <a:off x="7710205" y="8704097"/>
            <a:ext cx="5802394" cy="6751876"/>
            <a:chOff x="0" y="0"/>
            <a:chExt cx="698500" cy="812800"/>
          </a:xfrm>
        </p:grpSpPr>
        <p:sp>
          <p:nvSpPr>
            <p:cNvPr id="4" name="Freeform 4"/>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grpSp>
        <p:nvGrpSpPr>
          <p:cNvPr id="5" name="Group 5"/>
          <p:cNvGrpSpPr/>
          <p:nvPr/>
        </p:nvGrpSpPr>
        <p:grpSpPr>
          <a:xfrm>
            <a:off x="10611401" y="0"/>
            <a:ext cx="7676599" cy="10287000"/>
            <a:chOff x="0" y="0"/>
            <a:chExt cx="2021820" cy="2709333"/>
          </a:xfrm>
        </p:grpSpPr>
        <p:sp>
          <p:nvSpPr>
            <p:cNvPr id="6" name="Freeform 6"/>
            <p:cNvSpPr/>
            <p:nvPr/>
          </p:nvSpPr>
          <p:spPr>
            <a:xfrm>
              <a:off x="0" y="0"/>
              <a:ext cx="2021820" cy="2709333"/>
            </a:xfrm>
            <a:custGeom>
              <a:avLst/>
              <a:gdLst/>
              <a:ahLst/>
              <a:cxnLst/>
              <a:rect l="l" t="t" r="r" b="b"/>
              <a:pathLst>
                <a:path w="2021820" h="2709333">
                  <a:moveTo>
                    <a:pt x="0" y="0"/>
                  </a:moveTo>
                  <a:lnTo>
                    <a:pt x="2021820" y="0"/>
                  </a:lnTo>
                  <a:lnTo>
                    <a:pt x="2021820" y="2709333"/>
                  </a:lnTo>
                  <a:lnTo>
                    <a:pt x="0" y="2709333"/>
                  </a:lnTo>
                  <a:close/>
                </a:path>
              </a:pathLst>
            </a:custGeom>
            <a:solidFill>
              <a:srgbClr val="F1F0E8"/>
            </a:solidFill>
          </p:spPr>
        </p:sp>
        <p:sp>
          <p:nvSpPr>
            <p:cNvPr id="7" name="TextBox 7"/>
            <p:cNvSpPr txBox="1"/>
            <p:nvPr/>
          </p:nvSpPr>
          <p:spPr>
            <a:xfrm>
              <a:off x="0" y="-76200"/>
              <a:ext cx="2021820" cy="2785533"/>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1054720" y="517483"/>
            <a:ext cx="6099946" cy="622935"/>
          </a:xfrm>
          <a:prstGeom prst="rect">
            <a:avLst/>
          </a:prstGeom>
        </p:spPr>
        <p:txBody>
          <a:bodyPr lIns="0" tIns="0" rIns="0" bIns="0" rtlCol="0" anchor="t">
            <a:spAutoFit/>
          </a:bodyPr>
          <a:lstStyle/>
          <a:p>
            <a:pPr algn="l">
              <a:lnSpc>
                <a:spcPts val="2400"/>
              </a:lnSpc>
            </a:pPr>
            <a:r>
              <a:rPr lang="en-US" sz="2400" spc="-72">
                <a:solidFill>
                  <a:srgbClr val="8C52FF"/>
                </a:solidFill>
                <a:latin typeface="Montserrat"/>
                <a:ea typeface="Montserrat"/>
                <a:cs typeface="Montserrat"/>
                <a:sym typeface="Montserrat"/>
              </a:rPr>
              <a:t>TRAITEMENT DES VALEURS MANQUANTES</a:t>
            </a:r>
          </a:p>
        </p:txBody>
      </p:sp>
      <p:sp>
        <p:nvSpPr>
          <p:cNvPr id="9" name="Freeform 9"/>
          <p:cNvSpPr/>
          <p:nvPr/>
        </p:nvSpPr>
        <p:spPr>
          <a:xfrm>
            <a:off x="11599647" y="1521418"/>
            <a:ext cx="544927" cy="544927"/>
          </a:xfrm>
          <a:custGeom>
            <a:avLst/>
            <a:gdLst/>
            <a:ahLst/>
            <a:cxnLst/>
            <a:rect l="l" t="t" r="r" b="b"/>
            <a:pathLst>
              <a:path w="544927" h="544927">
                <a:moveTo>
                  <a:pt x="0" y="0"/>
                </a:moveTo>
                <a:lnTo>
                  <a:pt x="544927" y="0"/>
                </a:lnTo>
                <a:lnTo>
                  <a:pt x="544927" y="544927"/>
                </a:lnTo>
                <a:lnTo>
                  <a:pt x="0" y="5449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1054720" y="71431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1599647" y="6217244"/>
            <a:ext cx="544927" cy="544927"/>
          </a:xfrm>
          <a:custGeom>
            <a:avLst/>
            <a:gdLst/>
            <a:ahLst/>
            <a:cxnLst/>
            <a:rect l="l" t="t" r="r" b="b"/>
            <a:pathLst>
              <a:path w="544927" h="544927">
                <a:moveTo>
                  <a:pt x="0" y="0"/>
                </a:moveTo>
                <a:lnTo>
                  <a:pt x="544927" y="0"/>
                </a:lnTo>
                <a:lnTo>
                  <a:pt x="544927" y="544927"/>
                </a:lnTo>
                <a:lnTo>
                  <a:pt x="0" y="5449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599647" y="79305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901197" y="-5323755"/>
            <a:ext cx="5802394" cy="6751876"/>
            <a:chOff x="0" y="0"/>
            <a:chExt cx="698500" cy="812800"/>
          </a:xfrm>
        </p:grpSpPr>
        <p:sp>
          <p:nvSpPr>
            <p:cNvPr id="14" name="Freeform 14"/>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sp>
        <p:nvSpPr>
          <p:cNvPr id="15" name="TextBox 15"/>
          <p:cNvSpPr txBox="1"/>
          <p:nvPr/>
        </p:nvSpPr>
        <p:spPr>
          <a:xfrm>
            <a:off x="11327184" y="1285882"/>
            <a:ext cx="6099946" cy="6229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CONVERSION DES DATES AU FORMAT VALIDE</a:t>
            </a:r>
          </a:p>
        </p:txBody>
      </p:sp>
      <p:sp>
        <p:nvSpPr>
          <p:cNvPr id="16" name="TextBox 16"/>
          <p:cNvSpPr txBox="1"/>
          <p:nvPr/>
        </p:nvSpPr>
        <p:spPr>
          <a:xfrm>
            <a:off x="11361801" y="2113970"/>
            <a:ext cx="6099946" cy="9277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SUPPRESSION DES LIGNES SANS DATE OU AVEC DES VALEURS INCOHÉRENTES</a:t>
            </a:r>
          </a:p>
        </p:txBody>
      </p:sp>
      <p:sp>
        <p:nvSpPr>
          <p:cNvPr id="17" name="TextBox 17"/>
          <p:cNvSpPr txBox="1"/>
          <p:nvPr/>
        </p:nvSpPr>
        <p:spPr>
          <a:xfrm>
            <a:off x="11054720" y="3298880"/>
            <a:ext cx="6099946" cy="622935"/>
          </a:xfrm>
          <a:prstGeom prst="rect">
            <a:avLst/>
          </a:prstGeom>
        </p:spPr>
        <p:txBody>
          <a:bodyPr lIns="0" tIns="0" rIns="0" bIns="0" rtlCol="0" anchor="t">
            <a:spAutoFit/>
          </a:bodyPr>
          <a:lstStyle/>
          <a:p>
            <a:pPr algn="l">
              <a:lnSpc>
                <a:spcPts val="2400"/>
              </a:lnSpc>
            </a:pPr>
            <a:r>
              <a:rPr lang="en-US" sz="2400" spc="-72">
                <a:solidFill>
                  <a:srgbClr val="8C52FF"/>
                </a:solidFill>
                <a:latin typeface="Montserrat"/>
                <a:ea typeface="Montserrat"/>
                <a:cs typeface="Montserrat"/>
                <a:sym typeface="Montserrat"/>
              </a:rPr>
              <a:t>AJOUT DE COORDONNÉES GÉOGRAPHIQUES</a:t>
            </a:r>
          </a:p>
        </p:txBody>
      </p:sp>
      <p:sp>
        <p:nvSpPr>
          <p:cNvPr id="18" name="TextBox 18"/>
          <p:cNvSpPr txBox="1"/>
          <p:nvPr/>
        </p:nvSpPr>
        <p:spPr>
          <a:xfrm>
            <a:off x="11361801" y="4217090"/>
            <a:ext cx="6099946" cy="9277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ENRICHISSEMENT DES VILLES AVEC LATITUDE ET LONGITUDE POUR LES VISUALISATIONS INTERACTIVES.</a:t>
            </a:r>
          </a:p>
        </p:txBody>
      </p:sp>
      <p:sp>
        <p:nvSpPr>
          <p:cNvPr id="19" name="TextBox 19"/>
          <p:cNvSpPr txBox="1"/>
          <p:nvPr/>
        </p:nvSpPr>
        <p:spPr>
          <a:xfrm>
            <a:off x="11054720" y="5594309"/>
            <a:ext cx="6099946" cy="318135"/>
          </a:xfrm>
          <a:prstGeom prst="rect">
            <a:avLst/>
          </a:prstGeom>
        </p:spPr>
        <p:txBody>
          <a:bodyPr lIns="0" tIns="0" rIns="0" bIns="0" rtlCol="0" anchor="t">
            <a:spAutoFit/>
          </a:bodyPr>
          <a:lstStyle/>
          <a:p>
            <a:pPr algn="l">
              <a:lnSpc>
                <a:spcPts val="2400"/>
              </a:lnSpc>
            </a:pPr>
            <a:r>
              <a:rPr lang="en-US" sz="2400" spc="-72">
                <a:solidFill>
                  <a:srgbClr val="8C52FF"/>
                </a:solidFill>
                <a:latin typeface="Montserrat"/>
                <a:ea typeface="Montserrat"/>
                <a:cs typeface="Montserrat"/>
                <a:sym typeface="Montserrat"/>
              </a:rPr>
              <a:t>STANDARDISATION DES DONNÉES</a:t>
            </a:r>
          </a:p>
        </p:txBody>
      </p:sp>
      <p:sp>
        <p:nvSpPr>
          <p:cNvPr id="20" name="TextBox 20"/>
          <p:cNvSpPr txBox="1"/>
          <p:nvPr/>
        </p:nvSpPr>
        <p:spPr>
          <a:xfrm>
            <a:off x="11007095" y="6121994"/>
            <a:ext cx="6099946" cy="9277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UNIFORMISATION DES COLONNES TEXTUELLES</a:t>
            </a:r>
          </a:p>
          <a:p>
            <a:pPr algn="l">
              <a:lnSpc>
                <a:spcPts val="2400"/>
              </a:lnSpc>
            </a:pPr>
            <a:r>
              <a:rPr lang="en-US" sz="2400" b="1" spc="-72">
                <a:solidFill>
                  <a:srgbClr val="000000"/>
                </a:solidFill>
                <a:latin typeface="Montserrat Medium"/>
                <a:ea typeface="Montserrat Medium"/>
                <a:cs typeface="Montserrat Medium"/>
                <a:sym typeface="Montserrat Medium"/>
              </a:rPr>
              <a:t>        (EX. "GRAVITÉ" ET "RÉSULTAT")</a:t>
            </a:r>
          </a:p>
        </p:txBody>
      </p:sp>
      <p:sp>
        <p:nvSpPr>
          <p:cNvPr id="21" name="TextBox 21"/>
          <p:cNvSpPr txBox="1"/>
          <p:nvPr/>
        </p:nvSpPr>
        <p:spPr>
          <a:xfrm>
            <a:off x="11054720" y="7612436"/>
            <a:ext cx="6099946" cy="318135"/>
          </a:xfrm>
          <a:prstGeom prst="rect">
            <a:avLst/>
          </a:prstGeom>
        </p:spPr>
        <p:txBody>
          <a:bodyPr lIns="0" tIns="0" rIns="0" bIns="0" rtlCol="0" anchor="t">
            <a:spAutoFit/>
          </a:bodyPr>
          <a:lstStyle/>
          <a:p>
            <a:pPr algn="l">
              <a:lnSpc>
                <a:spcPts val="2400"/>
              </a:lnSpc>
            </a:pPr>
            <a:r>
              <a:rPr lang="en-US" sz="2400" b="1" spc="-72">
                <a:solidFill>
                  <a:srgbClr val="8C52FF"/>
                </a:solidFill>
                <a:latin typeface="Montserrat Medium"/>
                <a:ea typeface="Montserrat Medium"/>
                <a:cs typeface="Montserrat Medium"/>
                <a:sym typeface="Montserrat Medium"/>
              </a:rPr>
              <a:t>FILTRAGE DES VALEURS ABERRANTES</a:t>
            </a:r>
          </a:p>
        </p:txBody>
      </p:sp>
      <p:sp>
        <p:nvSpPr>
          <p:cNvPr id="22" name="TextBox 22"/>
          <p:cNvSpPr txBox="1"/>
          <p:nvPr/>
        </p:nvSpPr>
        <p:spPr>
          <a:xfrm>
            <a:off x="11045195" y="8250659"/>
            <a:ext cx="6099946" cy="9277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SUPPRESSION DES DONNÉES IRRÉALISTES DANS "NOMBRE AFFECTÉ"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AFAB2"/>
        </a:solidFill>
        <a:effectLst/>
      </p:bgPr>
    </p:bg>
    <p:spTree>
      <p:nvGrpSpPr>
        <p:cNvPr id="1" name=""/>
        <p:cNvGrpSpPr/>
        <p:nvPr/>
      </p:nvGrpSpPr>
      <p:grpSpPr>
        <a:xfrm>
          <a:off x="0" y="0"/>
          <a:ext cx="0" cy="0"/>
          <a:chOff x="0" y="0"/>
          <a:chExt cx="0" cy="0"/>
        </a:xfrm>
      </p:grpSpPr>
      <p:sp>
        <p:nvSpPr>
          <p:cNvPr id="2" name="TextBox 2"/>
          <p:cNvSpPr txBox="1"/>
          <p:nvPr/>
        </p:nvSpPr>
        <p:spPr>
          <a:xfrm>
            <a:off x="1560746" y="1390657"/>
            <a:ext cx="7941475" cy="2070101"/>
          </a:xfrm>
          <a:prstGeom prst="rect">
            <a:avLst/>
          </a:prstGeom>
        </p:spPr>
        <p:txBody>
          <a:bodyPr lIns="0" tIns="0" rIns="0" bIns="0" rtlCol="0" anchor="t">
            <a:spAutoFit/>
          </a:bodyPr>
          <a:lstStyle/>
          <a:p>
            <a:pPr algn="l">
              <a:lnSpc>
                <a:spcPts val="8000"/>
              </a:lnSpc>
            </a:pPr>
            <a:r>
              <a:rPr lang="en-US" sz="8000" spc="-240">
                <a:solidFill>
                  <a:srgbClr val="33372C"/>
                </a:solidFill>
                <a:latin typeface="Montserrat Light"/>
                <a:ea typeface="Montserrat Light"/>
                <a:cs typeface="Montserrat Light"/>
                <a:sym typeface="Montserrat Light"/>
              </a:rPr>
              <a:t> RÉSULTATS ET UTILISATION</a:t>
            </a:r>
          </a:p>
        </p:txBody>
      </p:sp>
      <p:grpSp>
        <p:nvGrpSpPr>
          <p:cNvPr id="3" name="Group 3"/>
          <p:cNvGrpSpPr/>
          <p:nvPr/>
        </p:nvGrpSpPr>
        <p:grpSpPr>
          <a:xfrm>
            <a:off x="7710205" y="8704097"/>
            <a:ext cx="5802394" cy="6751876"/>
            <a:chOff x="0" y="0"/>
            <a:chExt cx="698500" cy="812800"/>
          </a:xfrm>
        </p:grpSpPr>
        <p:sp>
          <p:nvSpPr>
            <p:cNvPr id="4" name="Freeform 4"/>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grpSp>
        <p:nvGrpSpPr>
          <p:cNvPr id="5" name="Group 5"/>
          <p:cNvGrpSpPr/>
          <p:nvPr/>
        </p:nvGrpSpPr>
        <p:grpSpPr>
          <a:xfrm>
            <a:off x="10611401" y="0"/>
            <a:ext cx="7676599" cy="10287000"/>
            <a:chOff x="0" y="0"/>
            <a:chExt cx="2021820" cy="2709333"/>
          </a:xfrm>
        </p:grpSpPr>
        <p:sp>
          <p:nvSpPr>
            <p:cNvPr id="6" name="Freeform 6"/>
            <p:cNvSpPr/>
            <p:nvPr/>
          </p:nvSpPr>
          <p:spPr>
            <a:xfrm>
              <a:off x="0" y="0"/>
              <a:ext cx="2021820" cy="2709333"/>
            </a:xfrm>
            <a:custGeom>
              <a:avLst/>
              <a:gdLst/>
              <a:ahLst/>
              <a:cxnLst/>
              <a:rect l="l" t="t" r="r" b="b"/>
              <a:pathLst>
                <a:path w="2021820" h="2709333">
                  <a:moveTo>
                    <a:pt x="0" y="0"/>
                  </a:moveTo>
                  <a:lnTo>
                    <a:pt x="2021820" y="0"/>
                  </a:lnTo>
                  <a:lnTo>
                    <a:pt x="2021820" y="2709333"/>
                  </a:lnTo>
                  <a:lnTo>
                    <a:pt x="0" y="2709333"/>
                  </a:lnTo>
                  <a:close/>
                </a:path>
              </a:pathLst>
            </a:custGeom>
            <a:solidFill>
              <a:srgbClr val="F1F0E8"/>
            </a:solidFill>
          </p:spPr>
        </p:sp>
        <p:sp>
          <p:nvSpPr>
            <p:cNvPr id="7" name="TextBox 7"/>
            <p:cNvSpPr txBox="1"/>
            <p:nvPr/>
          </p:nvSpPr>
          <p:spPr>
            <a:xfrm>
              <a:off x="0" y="-76200"/>
              <a:ext cx="2021820" cy="2785533"/>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1159354" y="576586"/>
            <a:ext cx="6099946" cy="6229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CRÉATION DE VISUALISATIONS INTERACTIVES</a:t>
            </a:r>
          </a:p>
        </p:txBody>
      </p:sp>
      <p:sp>
        <p:nvSpPr>
          <p:cNvPr id="9" name="TextBox 9"/>
          <p:cNvSpPr txBox="1"/>
          <p:nvPr/>
        </p:nvSpPr>
        <p:spPr>
          <a:xfrm>
            <a:off x="11159354" y="3142622"/>
            <a:ext cx="6024092" cy="3181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CALCULS D’INDICATEURS CLÉS (KPI)</a:t>
            </a:r>
          </a:p>
        </p:txBody>
      </p:sp>
      <p:sp>
        <p:nvSpPr>
          <p:cNvPr id="10" name="TextBox 10"/>
          <p:cNvSpPr txBox="1"/>
          <p:nvPr/>
        </p:nvSpPr>
        <p:spPr>
          <a:xfrm>
            <a:off x="11235208" y="5455292"/>
            <a:ext cx="6024092" cy="9277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ANALYSE APPROFONDIE DES TENDANCES TEMPORELLES ET DES RISQUES</a:t>
            </a:r>
          </a:p>
        </p:txBody>
      </p:sp>
      <p:sp>
        <p:nvSpPr>
          <p:cNvPr id="11" name="Freeform 11"/>
          <p:cNvSpPr/>
          <p:nvPr/>
        </p:nvSpPr>
        <p:spPr>
          <a:xfrm>
            <a:off x="11054720" y="71431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599647" y="6217244"/>
            <a:ext cx="544927" cy="544927"/>
          </a:xfrm>
          <a:custGeom>
            <a:avLst/>
            <a:gdLst/>
            <a:ahLst/>
            <a:cxnLst/>
            <a:rect l="l" t="t" r="r" b="b"/>
            <a:pathLst>
              <a:path w="544927" h="544927">
                <a:moveTo>
                  <a:pt x="0" y="0"/>
                </a:moveTo>
                <a:lnTo>
                  <a:pt x="544927" y="0"/>
                </a:lnTo>
                <a:lnTo>
                  <a:pt x="544927" y="544927"/>
                </a:lnTo>
                <a:lnTo>
                  <a:pt x="0" y="5449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599647" y="7930571"/>
            <a:ext cx="544927" cy="544927"/>
          </a:xfrm>
          <a:custGeom>
            <a:avLst/>
            <a:gdLst/>
            <a:ahLst/>
            <a:cxnLst/>
            <a:rect l="l" t="t" r="r" b="b"/>
            <a:pathLst>
              <a:path w="544927" h="544927">
                <a:moveTo>
                  <a:pt x="0" y="0"/>
                </a:moveTo>
                <a:lnTo>
                  <a:pt x="544927" y="0"/>
                </a:lnTo>
                <a:lnTo>
                  <a:pt x="544927" y="544926"/>
                </a:lnTo>
                <a:lnTo>
                  <a:pt x="0" y="5449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2901197" y="-5323755"/>
            <a:ext cx="5802394" cy="6751876"/>
            <a:chOff x="0" y="0"/>
            <a:chExt cx="698500" cy="812800"/>
          </a:xfrm>
        </p:grpSpPr>
        <p:sp>
          <p:nvSpPr>
            <p:cNvPr id="15" name="Freeform 15"/>
            <p:cNvSpPr/>
            <p:nvPr/>
          </p:nvSpPr>
          <p:spPr>
            <a:xfrm>
              <a:off x="0" y="6605"/>
              <a:ext cx="698500" cy="799589"/>
            </a:xfrm>
            <a:custGeom>
              <a:avLst/>
              <a:gdLst/>
              <a:ahLst/>
              <a:cxnLst/>
              <a:rect l="l" t="t" r="r" b="b"/>
              <a:pathLst>
                <a:path w="698500" h="799589">
                  <a:moveTo>
                    <a:pt x="378983" y="10694"/>
                  </a:moveTo>
                  <a:lnTo>
                    <a:pt x="668767" y="179296"/>
                  </a:lnTo>
                  <a:cubicBezTo>
                    <a:pt x="687175" y="190006"/>
                    <a:pt x="698500" y="209697"/>
                    <a:pt x="698500" y="230994"/>
                  </a:cubicBezTo>
                  <a:lnTo>
                    <a:pt x="698500" y="568596"/>
                  </a:lnTo>
                  <a:cubicBezTo>
                    <a:pt x="698500" y="589893"/>
                    <a:pt x="687175" y="609584"/>
                    <a:pt x="668767" y="620294"/>
                  </a:cubicBezTo>
                  <a:lnTo>
                    <a:pt x="378983" y="788896"/>
                  </a:lnTo>
                  <a:cubicBezTo>
                    <a:pt x="360603" y="799590"/>
                    <a:pt x="337897" y="799590"/>
                    <a:pt x="319517" y="788896"/>
                  </a:cubicBezTo>
                  <a:lnTo>
                    <a:pt x="29733" y="620294"/>
                  </a:lnTo>
                  <a:cubicBezTo>
                    <a:pt x="11325" y="609584"/>
                    <a:pt x="0" y="589893"/>
                    <a:pt x="0" y="568596"/>
                  </a:cubicBezTo>
                  <a:lnTo>
                    <a:pt x="0" y="230994"/>
                  </a:lnTo>
                  <a:cubicBezTo>
                    <a:pt x="0" y="209697"/>
                    <a:pt x="11325" y="190006"/>
                    <a:pt x="29733" y="179296"/>
                  </a:cubicBezTo>
                  <a:lnTo>
                    <a:pt x="319517" y="10694"/>
                  </a:lnTo>
                  <a:cubicBezTo>
                    <a:pt x="337897" y="0"/>
                    <a:pt x="360603" y="0"/>
                    <a:pt x="378983" y="10694"/>
                  </a:cubicBezTo>
                  <a:close/>
                </a:path>
              </a:pathLst>
            </a:custGeom>
            <a:solidFill>
              <a:srgbClr val="00CADC"/>
            </a:solidFill>
            <a:ln w="12700">
              <a:solidFill>
                <a:srgbClr val="000000"/>
              </a:solidFill>
            </a:ln>
          </p:spPr>
        </p:sp>
      </p:grpSp>
      <p:sp>
        <p:nvSpPr>
          <p:cNvPr id="16" name="TextBox 16"/>
          <p:cNvSpPr txBox="1"/>
          <p:nvPr/>
        </p:nvSpPr>
        <p:spPr>
          <a:xfrm>
            <a:off x="11159354" y="1907229"/>
            <a:ext cx="6099946" cy="6229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CARTE GÉOGRAPHIQUE DES INCIDENTS ALIMENTAIRES</a:t>
            </a:r>
          </a:p>
        </p:txBody>
      </p:sp>
      <p:sp>
        <p:nvSpPr>
          <p:cNvPr id="17" name="TextBox 17"/>
          <p:cNvSpPr txBox="1"/>
          <p:nvPr/>
        </p:nvSpPr>
        <p:spPr>
          <a:xfrm>
            <a:off x="11206979" y="4203707"/>
            <a:ext cx="6099946" cy="622935"/>
          </a:xfrm>
          <a:prstGeom prst="rect">
            <a:avLst/>
          </a:prstGeom>
        </p:spPr>
        <p:txBody>
          <a:bodyPr lIns="0" tIns="0" rIns="0" bIns="0" rtlCol="0" anchor="t">
            <a:spAutoFit/>
          </a:bodyPr>
          <a:lstStyle/>
          <a:p>
            <a:pPr marL="518160" lvl="1" indent="-259080" algn="l">
              <a:lnSpc>
                <a:spcPts val="2400"/>
              </a:lnSpc>
              <a:buFont typeface="Arial"/>
              <a:buChar char="•"/>
            </a:pPr>
            <a:r>
              <a:rPr lang="en-US" sz="2400" b="1" spc="-72">
                <a:solidFill>
                  <a:srgbClr val="000000"/>
                </a:solidFill>
                <a:latin typeface="Montserrat Medium"/>
                <a:ea typeface="Montserrat Medium"/>
                <a:cs typeface="Montserrat Medium"/>
                <a:sym typeface="Montserrat Medium"/>
              </a:rPr>
              <a:t>TOTAL DES INCIDENTS, TAUX DE FATALITÉ, HOSPITALISATIONS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7160485">
            <a:off x="12762198" y="4130102"/>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941302" y="3354489"/>
            <a:ext cx="10405395" cy="3224121"/>
            <a:chOff x="0" y="0"/>
            <a:chExt cx="2419814" cy="749781"/>
          </a:xfrm>
        </p:grpSpPr>
        <p:sp>
          <p:nvSpPr>
            <p:cNvPr id="4" name="Freeform 4"/>
            <p:cNvSpPr/>
            <p:nvPr/>
          </p:nvSpPr>
          <p:spPr>
            <a:xfrm>
              <a:off x="0" y="0"/>
              <a:ext cx="2419814" cy="749781"/>
            </a:xfrm>
            <a:custGeom>
              <a:avLst/>
              <a:gdLst/>
              <a:ahLst/>
              <a:cxnLst/>
              <a:rect l="l" t="t" r="r" b="b"/>
              <a:pathLst>
                <a:path w="2419814" h="749781">
                  <a:moveTo>
                    <a:pt x="0" y="0"/>
                  </a:moveTo>
                  <a:lnTo>
                    <a:pt x="2419814" y="0"/>
                  </a:lnTo>
                  <a:lnTo>
                    <a:pt x="2419814" y="749781"/>
                  </a:lnTo>
                  <a:lnTo>
                    <a:pt x="0" y="749781"/>
                  </a:lnTo>
                  <a:close/>
                </a:path>
              </a:pathLst>
            </a:custGeom>
            <a:solidFill>
              <a:srgbClr val="EAFAB2"/>
            </a:solidFill>
            <a:ln w="28575" cap="sq">
              <a:solidFill>
                <a:srgbClr val="EAFAB2"/>
              </a:solidFill>
              <a:prstDash val="solid"/>
              <a:miter/>
            </a:ln>
          </p:spPr>
        </p:sp>
        <p:sp>
          <p:nvSpPr>
            <p:cNvPr id="5" name="TextBox 5"/>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6" name="Freeform 6"/>
          <p:cNvSpPr/>
          <p:nvPr/>
        </p:nvSpPr>
        <p:spPr>
          <a:xfrm rot="3206933">
            <a:off x="-4984565" y="15155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4665611" y="3787075"/>
            <a:ext cx="8956778" cy="2244991"/>
          </a:xfrm>
          <a:prstGeom prst="rect">
            <a:avLst/>
          </a:prstGeom>
        </p:spPr>
        <p:txBody>
          <a:bodyPr lIns="0" tIns="0" rIns="0" bIns="0" rtlCol="0" anchor="t">
            <a:spAutoFit/>
          </a:bodyPr>
          <a:lstStyle/>
          <a:p>
            <a:pPr algn="ctr">
              <a:lnSpc>
                <a:spcPts val="4405"/>
              </a:lnSpc>
            </a:pPr>
            <a:r>
              <a:rPr lang="en-US" sz="4277" b="1">
                <a:solidFill>
                  <a:srgbClr val="000000"/>
                </a:solidFill>
                <a:latin typeface="Neue Machina Ultra-Bold"/>
                <a:ea typeface="Neue Machina Ultra-Bold"/>
                <a:cs typeface="Neue Machina Ultra-Bold"/>
                <a:sym typeface="Neue Machina Ultra-Bold"/>
              </a:rPr>
              <a:t>DISCUSSION :</a:t>
            </a:r>
          </a:p>
          <a:p>
            <a:pPr algn="ctr">
              <a:lnSpc>
                <a:spcPts val="4405"/>
              </a:lnSpc>
            </a:pPr>
            <a:r>
              <a:rPr lang="en-US" sz="4277" b="1">
                <a:solidFill>
                  <a:srgbClr val="000000"/>
                </a:solidFill>
                <a:latin typeface="Neue Machina Ultra-Bold"/>
                <a:ea typeface="Neue Machina Ultra-Bold"/>
                <a:cs typeface="Neue Machina Ultra-Bold"/>
                <a:sym typeface="Neue Machina Ultra-Bold"/>
              </a:rPr>
              <a:t>CONCEPTION ET FONCTIONNALITÉS DE L'INTERFACE GRAPHIQUE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16685875" y="25493"/>
            <a:ext cx="573425" cy="257520"/>
          </a:xfrm>
          <a:custGeom>
            <a:avLst/>
            <a:gdLst/>
            <a:ahLst/>
            <a:cxnLst/>
            <a:rect l="l" t="t" r="r" b="b"/>
            <a:pathLst>
              <a:path w="573425" h="257520">
                <a:moveTo>
                  <a:pt x="0" y="0"/>
                </a:moveTo>
                <a:lnTo>
                  <a:pt x="573425" y="0"/>
                </a:lnTo>
                <a:lnTo>
                  <a:pt x="573425" y="257519"/>
                </a:lnTo>
                <a:lnTo>
                  <a:pt x="0" y="2575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8" y="450652"/>
            <a:ext cx="21472865" cy="19050"/>
          </a:xfrm>
          <a:prstGeom prst="line">
            <a:avLst/>
          </a:prstGeom>
          <a:ln w="19050" cap="flat">
            <a:solidFill>
              <a:srgbClr val="0D203B"/>
            </a:solidFill>
            <a:prstDash val="solid"/>
            <a:headEnd type="none" w="sm" len="sm"/>
            <a:tailEnd type="none" w="sm" len="sm"/>
          </a:ln>
        </p:spPr>
      </p:sp>
      <p:sp>
        <p:nvSpPr>
          <p:cNvPr id="4" name="Freeform 4"/>
          <p:cNvSpPr/>
          <p:nvPr/>
        </p:nvSpPr>
        <p:spPr>
          <a:xfrm>
            <a:off x="6458328" y="504493"/>
            <a:ext cx="5371345" cy="9513995"/>
          </a:xfrm>
          <a:custGeom>
            <a:avLst/>
            <a:gdLst/>
            <a:ahLst/>
            <a:cxnLst/>
            <a:rect l="l" t="t" r="r" b="b"/>
            <a:pathLst>
              <a:path w="5371345" h="9513995">
                <a:moveTo>
                  <a:pt x="0" y="0"/>
                </a:moveTo>
                <a:lnTo>
                  <a:pt x="5371344" y="0"/>
                </a:lnTo>
                <a:lnTo>
                  <a:pt x="5371344" y="9513994"/>
                </a:lnTo>
                <a:lnTo>
                  <a:pt x="0" y="9513994"/>
                </a:lnTo>
                <a:lnTo>
                  <a:pt x="0" y="0"/>
                </a:lnTo>
                <a:close/>
              </a:path>
            </a:pathLst>
          </a:custGeom>
          <a:blipFill>
            <a:blip r:embed="rId4"/>
            <a:stretch>
              <a:fillRect/>
            </a:stretch>
          </a:blipFill>
        </p:spPr>
      </p:sp>
      <p:sp>
        <p:nvSpPr>
          <p:cNvPr id="5" name="TextBox 5"/>
          <p:cNvSpPr txBox="1"/>
          <p:nvPr/>
        </p:nvSpPr>
        <p:spPr>
          <a:xfrm>
            <a:off x="13339992" y="9533451"/>
            <a:ext cx="4710263" cy="485036"/>
          </a:xfrm>
          <a:prstGeom prst="rect">
            <a:avLst/>
          </a:prstGeom>
        </p:spPr>
        <p:txBody>
          <a:bodyPr lIns="0" tIns="0" rIns="0" bIns="0" rtlCol="0" anchor="t">
            <a:spAutoFit/>
          </a:bodyPr>
          <a:lstStyle/>
          <a:p>
            <a:pPr algn="r">
              <a:lnSpc>
                <a:spcPts val="3617"/>
              </a:lnSpc>
            </a:pPr>
            <a:r>
              <a:rPr lang="en-US" sz="2009" b="1" spc="18">
                <a:solidFill>
                  <a:srgbClr val="0D203B"/>
                </a:solidFill>
                <a:latin typeface="Kitchakan Bold"/>
                <a:ea typeface="Kitchakan Bold"/>
                <a:cs typeface="Kitchakan Bold"/>
                <a:sym typeface="Kitchakan Bold"/>
              </a:rPr>
              <a:t>4</a:t>
            </a:r>
          </a:p>
        </p:txBody>
      </p:sp>
      <p:sp>
        <p:nvSpPr>
          <p:cNvPr id="6" name="TextBox 6"/>
          <p:cNvSpPr txBox="1"/>
          <p:nvPr/>
        </p:nvSpPr>
        <p:spPr>
          <a:xfrm>
            <a:off x="1003332" y="84354"/>
            <a:ext cx="4324350" cy="332740"/>
          </a:xfrm>
          <a:prstGeom prst="rect">
            <a:avLst/>
          </a:prstGeom>
        </p:spPr>
        <p:txBody>
          <a:bodyPr lIns="0" tIns="0" rIns="0" bIns="0" rtlCol="0" anchor="t">
            <a:spAutoFit/>
          </a:bodyPr>
          <a:lstStyle/>
          <a:p>
            <a:pPr marL="0" lvl="0" indent="0" algn="ctr">
              <a:lnSpc>
                <a:spcPts val="2660"/>
              </a:lnSpc>
              <a:spcBef>
                <a:spcPct val="0"/>
              </a:spcBef>
            </a:pPr>
            <a:r>
              <a:rPr lang="en-US" sz="1900" b="1" u="none" strike="noStrike">
                <a:solidFill>
                  <a:srgbClr val="000000"/>
                </a:solidFill>
                <a:latin typeface="Roboto Bold"/>
                <a:ea typeface="Roboto Bold"/>
                <a:cs typeface="Roboto Bold"/>
                <a:sym typeface="Roboto Bold"/>
              </a:rPr>
              <a:t>Aperçu Général de l'Interface Graphique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6564533" y="2165910"/>
            <a:ext cx="9289515" cy="5955180"/>
          </a:xfrm>
          <a:custGeom>
            <a:avLst/>
            <a:gdLst/>
            <a:ahLst/>
            <a:cxnLst/>
            <a:rect l="l" t="t" r="r" b="b"/>
            <a:pathLst>
              <a:path w="9289515" h="5955180">
                <a:moveTo>
                  <a:pt x="0" y="0"/>
                </a:moveTo>
                <a:lnTo>
                  <a:pt x="9289515" y="0"/>
                </a:lnTo>
                <a:lnTo>
                  <a:pt x="9289515" y="5955180"/>
                </a:lnTo>
                <a:lnTo>
                  <a:pt x="0" y="5955180"/>
                </a:lnTo>
                <a:lnTo>
                  <a:pt x="0" y="0"/>
                </a:lnTo>
                <a:close/>
              </a:path>
            </a:pathLst>
          </a:custGeom>
          <a:blipFill>
            <a:blip r:embed="rId2"/>
            <a:stretch>
              <a:fillRect r="-1967" b="-181933"/>
            </a:stretch>
          </a:blipFill>
        </p:spPr>
      </p:sp>
      <p:sp>
        <p:nvSpPr>
          <p:cNvPr id="3" name="Freeform 3"/>
          <p:cNvSpPr/>
          <p:nvPr/>
        </p:nvSpPr>
        <p:spPr>
          <a:xfrm rot="5067326">
            <a:off x="5769296" y="2154001"/>
            <a:ext cx="628706" cy="1696372"/>
          </a:xfrm>
          <a:custGeom>
            <a:avLst/>
            <a:gdLst/>
            <a:ahLst/>
            <a:cxnLst/>
            <a:rect l="l" t="t" r="r" b="b"/>
            <a:pathLst>
              <a:path w="628706" h="1696372">
                <a:moveTo>
                  <a:pt x="0" y="0"/>
                </a:moveTo>
                <a:lnTo>
                  <a:pt x="628705" y="0"/>
                </a:lnTo>
                <a:lnTo>
                  <a:pt x="628705" y="1696372"/>
                </a:lnTo>
                <a:lnTo>
                  <a:pt x="0" y="16963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19048" y="3397020"/>
            <a:ext cx="5754248" cy="1404993"/>
          </a:xfrm>
          <a:custGeom>
            <a:avLst/>
            <a:gdLst/>
            <a:ahLst/>
            <a:cxnLst/>
            <a:rect l="l" t="t" r="r" b="b"/>
            <a:pathLst>
              <a:path w="5754248" h="1404993">
                <a:moveTo>
                  <a:pt x="0" y="0"/>
                </a:moveTo>
                <a:lnTo>
                  <a:pt x="5754248" y="0"/>
                </a:lnTo>
                <a:lnTo>
                  <a:pt x="5754248" y="1404994"/>
                </a:lnTo>
                <a:lnTo>
                  <a:pt x="0" y="1404994"/>
                </a:lnTo>
                <a:lnTo>
                  <a:pt x="0" y="0"/>
                </a:lnTo>
                <a:close/>
              </a:path>
            </a:pathLst>
          </a:custGeom>
          <a:blipFill>
            <a:blip r:embed="rId5"/>
            <a:stretch>
              <a:fillRect r="-16039"/>
            </a:stretch>
          </a:blipFill>
        </p:spPr>
      </p:sp>
      <p:sp>
        <p:nvSpPr>
          <p:cNvPr id="5" name="Freeform 5"/>
          <p:cNvSpPr/>
          <p:nvPr/>
        </p:nvSpPr>
        <p:spPr>
          <a:xfrm rot="8359179">
            <a:off x="6395318" y="7518576"/>
            <a:ext cx="2774087" cy="950427"/>
          </a:xfrm>
          <a:custGeom>
            <a:avLst/>
            <a:gdLst/>
            <a:ahLst/>
            <a:cxnLst/>
            <a:rect l="l" t="t" r="r" b="b"/>
            <a:pathLst>
              <a:path w="2774087" h="950427">
                <a:moveTo>
                  <a:pt x="0" y="0"/>
                </a:moveTo>
                <a:lnTo>
                  <a:pt x="2774087" y="0"/>
                </a:lnTo>
                <a:lnTo>
                  <a:pt x="2774087" y="950427"/>
                </a:lnTo>
                <a:lnTo>
                  <a:pt x="0" y="9504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5400000">
            <a:off x="15941942" y="2078016"/>
            <a:ext cx="1550690" cy="1726477"/>
          </a:xfrm>
          <a:custGeom>
            <a:avLst/>
            <a:gdLst/>
            <a:ahLst/>
            <a:cxnLst/>
            <a:rect l="l" t="t" r="r" b="b"/>
            <a:pathLst>
              <a:path w="1550690" h="1726477">
                <a:moveTo>
                  <a:pt x="0" y="0"/>
                </a:moveTo>
                <a:lnTo>
                  <a:pt x="1550690" y="0"/>
                </a:lnTo>
                <a:lnTo>
                  <a:pt x="1550690" y="1726478"/>
                </a:lnTo>
                <a:lnTo>
                  <a:pt x="0" y="172647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2814115" y="6888707"/>
            <a:ext cx="605009" cy="1632434"/>
          </a:xfrm>
          <a:custGeom>
            <a:avLst/>
            <a:gdLst/>
            <a:ahLst/>
            <a:cxnLst/>
            <a:rect l="l" t="t" r="r" b="b"/>
            <a:pathLst>
              <a:path w="605009" h="1632434">
                <a:moveTo>
                  <a:pt x="0" y="0"/>
                </a:moveTo>
                <a:lnTo>
                  <a:pt x="605009" y="0"/>
                </a:lnTo>
                <a:lnTo>
                  <a:pt x="605009" y="1632433"/>
                </a:lnTo>
                <a:lnTo>
                  <a:pt x="0" y="16324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1932362" y="990600"/>
            <a:ext cx="6725020" cy="1323266"/>
          </a:xfrm>
          <a:prstGeom prst="rect">
            <a:avLst/>
          </a:prstGeom>
        </p:spPr>
        <p:txBody>
          <a:bodyPr lIns="0" tIns="0" rIns="0" bIns="0" rtlCol="0" anchor="t">
            <a:spAutoFit/>
          </a:bodyPr>
          <a:lstStyle/>
          <a:p>
            <a:pPr algn="ctr">
              <a:lnSpc>
                <a:spcPts val="2664"/>
              </a:lnSpc>
            </a:pPr>
            <a:r>
              <a:rPr lang="en-US" sz="1902" b="1">
                <a:solidFill>
                  <a:srgbClr val="000000"/>
                </a:solidFill>
                <a:latin typeface="Lato Bold"/>
                <a:ea typeface="Lato Bold"/>
                <a:cs typeface="Lato Bold"/>
                <a:sym typeface="Lato Bold"/>
              </a:rPr>
              <a:t>Indicateurs Clés : Statistiques Globales</a:t>
            </a:r>
          </a:p>
          <a:p>
            <a:pPr marL="410843" lvl="1" indent="-205421" algn="ctr">
              <a:lnSpc>
                <a:spcPts val="2664"/>
              </a:lnSpc>
              <a:buFont typeface="Arial"/>
              <a:buChar char="•"/>
            </a:pPr>
            <a:r>
              <a:rPr lang="en-US" sz="1902" b="1">
                <a:solidFill>
                  <a:srgbClr val="000000"/>
                </a:solidFill>
                <a:latin typeface="Lato Bold"/>
                <a:ea typeface="Lato Bold"/>
                <a:cs typeface="Lato Bold"/>
                <a:sym typeface="Lato Bold"/>
              </a:rPr>
              <a:t>Pour les trois indicateurs principaux : Total des Incidents, Taux de Létalité, Personnes Hospitalisées.</a:t>
            </a:r>
          </a:p>
          <a:p>
            <a:pPr algn="ctr">
              <a:lnSpc>
                <a:spcPts val="2664"/>
              </a:lnSpc>
              <a:spcBef>
                <a:spcPct val="0"/>
              </a:spcBef>
            </a:pPr>
            <a:endParaRPr lang="en-US" sz="1902" b="1">
              <a:solidFill>
                <a:srgbClr val="000000"/>
              </a:solidFill>
              <a:latin typeface="Lato Bold"/>
              <a:ea typeface="Lato Bold"/>
              <a:cs typeface="Lato Bold"/>
              <a:sym typeface="Lato Bold"/>
            </a:endParaRPr>
          </a:p>
        </p:txBody>
      </p:sp>
      <p:sp>
        <p:nvSpPr>
          <p:cNvPr id="9" name="TextBox 9"/>
          <p:cNvSpPr txBox="1"/>
          <p:nvPr/>
        </p:nvSpPr>
        <p:spPr>
          <a:xfrm>
            <a:off x="13116619" y="8549715"/>
            <a:ext cx="4940667" cy="1747032"/>
          </a:xfrm>
          <a:prstGeom prst="rect">
            <a:avLst/>
          </a:prstGeom>
        </p:spPr>
        <p:txBody>
          <a:bodyPr lIns="0" tIns="0" rIns="0" bIns="0" rtlCol="0" anchor="t">
            <a:spAutoFit/>
          </a:bodyPr>
          <a:lstStyle/>
          <a:p>
            <a:pPr algn="ctr">
              <a:lnSpc>
                <a:spcPts val="2006"/>
              </a:lnSpc>
            </a:pPr>
            <a:r>
              <a:rPr lang="en-US" sz="1947" b="1">
                <a:solidFill>
                  <a:srgbClr val="000000"/>
                </a:solidFill>
                <a:latin typeface="Lato Bold"/>
                <a:ea typeface="Lato Bold"/>
                <a:cs typeface="Lato Bold"/>
                <a:sym typeface="Lato Bold"/>
              </a:rPr>
              <a:t>Alertes Importantes : Zones et Risques Identifiés</a:t>
            </a:r>
          </a:p>
          <a:p>
            <a:pPr marL="420569" lvl="1" indent="-210285" algn="ctr">
              <a:lnSpc>
                <a:spcPts val="2006"/>
              </a:lnSpc>
              <a:buFont typeface="Arial"/>
              <a:buChar char="•"/>
            </a:pPr>
            <a:r>
              <a:rPr lang="en-US" sz="1947" b="1">
                <a:solidFill>
                  <a:srgbClr val="000000"/>
                </a:solidFill>
                <a:latin typeface="Lato Bold"/>
                <a:ea typeface="Lato Bold"/>
                <a:cs typeface="Lato Bold"/>
                <a:sym typeface="Lato Bold"/>
              </a:rPr>
              <a:t>Ce titre met en évidence que le panneau fournit des informations critiques sur les régions ou aliments à haut risque identifiés.</a:t>
            </a:r>
          </a:p>
          <a:p>
            <a:pPr algn="ctr">
              <a:lnSpc>
                <a:spcPts val="2006"/>
              </a:lnSpc>
              <a:spcBef>
                <a:spcPct val="0"/>
              </a:spcBef>
            </a:pPr>
            <a:endParaRPr lang="en-US" sz="1947" b="1">
              <a:solidFill>
                <a:srgbClr val="000000"/>
              </a:solidFill>
              <a:latin typeface="Lato Bold"/>
              <a:ea typeface="Lato Bold"/>
              <a:cs typeface="Lato Bold"/>
              <a:sym typeface="Lato Bold"/>
            </a:endParaRPr>
          </a:p>
        </p:txBody>
      </p:sp>
      <p:sp>
        <p:nvSpPr>
          <p:cNvPr id="10" name="AutoShape 10"/>
          <p:cNvSpPr/>
          <p:nvPr/>
        </p:nvSpPr>
        <p:spPr>
          <a:xfrm>
            <a:off x="152408" y="603052"/>
            <a:ext cx="21472865" cy="19050"/>
          </a:xfrm>
          <a:prstGeom prst="line">
            <a:avLst/>
          </a:prstGeom>
          <a:ln w="19050" cap="flat">
            <a:solidFill>
              <a:srgbClr val="0D203B"/>
            </a:solidFill>
            <a:prstDash val="solid"/>
            <a:headEnd type="none" w="sm" len="sm"/>
            <a:tailEnd type="none" w="sm" len="sm"/>
          </a:ln>
        </p:spPr>
      </p:sp>
      <p:sp>
        <p:nvSpPr>
          <p:cNvPr id="11" name="TextBox 11"/>
          <p:cNvSpPr txBox="1"/>
          <p:nvPr/>
        </p:nvSpPr>
        <p:spPr>
          <a:xfrm>
            <a:off x="0" y="5114925"/>
            <a:ext cx="5667667" cy="2008306"/>
          </a:xfrm>
          <a:prstGeom prst="rect">
            <a:avLst/>
          </a:prstGeom>
        </p:spPr>
        <p:txBody>
          <a:bodyPr lIns="0" tIns="0" rIns="0" bIns="0" rtlCol="0" anchor="t">
            <a:spAutoFit/>
          </a:bodyPr>
          <a:lstStyle/>
          <a:p>
            <a:pPr algn="ctr">
              <a:lnSpc>
                <a:spcPts val="2273"/>
              </a:lnSpc>
            </a:pPr>
            <a:r>
              <a:rPr lang="en-US" sz="1624" b="1">
                <a:solidFill>
                  <a:srgbClr val="000000"/>
                </a:solidFill>
                <a:latin typeface="Lato Bold"/>
                <a:ea typeface="Lato Bold"/>
                <a:cs typeface="Lato Bold"/>
                <a:sym typeface="Lato Bold"/>
              </a:rPr>
              <a:t>FILTRAGE DES DONNÉES PAR RÉGION</a:t>
            </a:r>
          </a:p>
          <a:p>
            <a:pPr marL="350659" lvl="1" indent="-175329" algn="ctr">
              <a:lnSpc>
                <a:spcPts val="2273"/>
              </a:lnSpc>
              <a:buFont typeface="Arial"/>
              <a:buChar char="•"/>
            </a:pPr>
            <a:r>
              <a:rPr lang="en-US" sz="1624" b="1">
                <a:solidFill>
                  <a:srgbClr val="000000"/>
                </a:solidFill>
                <a:latin typeface="Lato Bold"/>
                <a:ea typeface="Lato Bold"/>
                <a:cs typeface="Lato Bold"/>
                <a:sym typeface="Lato Bold"/>
              </a:rPr>
              <a:t>Ce titre indique que cette fonctionnalité permet de sélectionner et d'explorer les données spécifiques à une ou plusieurs régions, offrant une analyse ciblée et personnalisée.</a:t>
            </a:r>
          </a:p>
          <a:p>
            <a:pPr algn="ctr">
              <a:lnSpc>
                <a:spcPts val="2273"/>
              </a:lnSpc>
              <a:spcBef>
                <a:spcPct val="0"/>
              </a:spcBef>
            </a:pPr>
            <a:endParaRPr lang="en-US" sz="1624" b="1">
              <a:solidFill>
                <a:srgbClr val="000000"/>
              </a:solidFill>
              <a:latin typeface="Lato Bold"/>
              <a:ea typeface="Lato Bold"/>
              <a:cs typeface="Lato Bold"/>
              <a:sym typeface="Lato Bold"/>
            </a:endParaRPr>
          </a:p>
        </p:txBody>
      </p:sp>
      <p:sp>
        <p:nvSpPr>
          <p:cNvPr id="12" name="TextBox 12"/>
          <p:cNvSpPr txBox="1"/>
          <p:nvPr/>
        </p:nvSpPr>
        <p:spPr>
          <a:xfrm>
            <a:off x="219048" y="8711214"/>
            <a:ext cx="6551570" cy="1357360"/>
          </a:xfrm>
          <a:prstGeom prst="rect">
            <a:avLst/>
          </a:prstGeom>
        </p:spPr>
        <p:txBody>
          <a:bodyPr lIns="0" tIns="0" rIns="0" bIns="0" rtlCol="0" anchor="t">
            <a:spAutoFit/>
          </a:bodyPr>
          <a:lstStyle/>
          <a:p>
            <a:pPr algn="ctr">
              <a:lnSpc>
                <a:spcPts val="2693"/>
              </a:lnSpc>
            </a:pPr>
            <a:r>
              <a:rPr lang="en-US" sz="1924" b="1">
                <a:solidFill>
                  <a:srgbClr val="000000"/>
                </a:solidFill>
                <a:latin typeface="Lato Bold"/>
                <a:ea typeface="Lato Bold"/>
                <a:cs typeface="Lato Bold"/>
                <a:sym typeface="Lato Bold"/>
              </a:rPr>
              <a:t>CARTE DES INCIDENTS : DISTRIBUTION GÉOGRAPHIQUE</a:t>
            </a:r>
          </a:p>
          <a:p>
            <a:pPr marL="415421" lvl="1" indent="-207710" algn="ctr">
              <a:lnSpc>
                <a:spcPts val="2693"/>
              </a:lnSpc>
              <a:buFont typeface="Arial"/>
              <a:buChar char="•"/>
            </a:pPr>
            <a:r>
              <a:rPr lang="en-US" sz="1924" b="1">
                <a:solidFill>
                  <a:srgbClr val="000000"/>
                </a:solidFill>
                <a:latin typeface="Lato Bold"/>
                <a:ea typeface="Lato Bold"/>
                <a:cs typeface="Lato Bold"/>
                <a:sym typeface="Lato Bold"/>
              </a:rPr>
              <a:t>Pour la carte montrant la répartition</a:t>
            </a:r>
          </a:p>
          <a:p>
            <a:pPr algn="ctr">
              <a:lnSpc>
                <a:spcPts val="2693"/>
              </a:lnSpc>
            </a:pPr>
            <a:r>
              <a:rPr lang="en-US" sz="1924" b="1">
                <a:solidFill>
                  <a:srgbClr val="000000"/>
                </a:solidFill>
                <a:latin typeface="Lato Bold"/>
                <a:ea typeface="Lato Bold"/>
                <a:cs typeface="Lato Bold"/>
                <a:sym typeface="Lato Bold"/>
              </a:rPr>
              <a:t> géographique des incidents.</a:t>
            </a:r>
          </a:p>
          <a:p>
            <a:pPr algn="ctr">
              <a:lnSpc>
                <a:spcPts val="2693"/>
              </a:lnSpc>
              <a:spcBef>
                <a:spcPct val="0"/>
              </a:spcBef>
            </a:pPr>
            <a:endParaRPr lang="en-US" sz="1924" b="1">
              <a:solidFill>
                <a:srgbClr val="000000"/>
              </a:solidFill>
              <a:latin typeface="Lato Bold"/>
              <a:ea typeface="Lato Bold"/>
              <a:cs typeface="Lato Bold"/>
              <a:sym typeface="Lato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8632180" y="1028700"/>
            <a:ext cx="9508646" cy="2375754"/>
          </a:xfrm>
          <a:custGeom>
            <a:avLst/>
            <a:gdLst/>
            <a:ahLst/>
            <a:cxnLst/>
            <a:rect l="l" t="t" r="r" b="b"/>
            <a:pathLst>
              <a:path w="9508646" h="2375754">
                <a:moveTo>
                  <a:pt x="0" y="0"/>
                </a:moveTo>
                <a:lnTo>
                  <a:pt x="9508646" y="0"/>
                </a:lnTo>
                <a:lnTo>
                  <a:pt x="9508646" y="2375754"/>
                </a:lnTo>
                <a:lnTo>
                  <a:pt x="0" y="2375754"/>
                </a:lnTo>
                <a:lnTo>
                  <a:pt x="0" y="0"/>
                </a:lnTo>
                <a:close/>
              </a:path>
            </a:pathLst>
          </a:custGeom>
          <a:blipFill>
            <a:blip r:embed="rId2"/>
            <a:stretch>
              <a:fillRect/>
            </a:stretch>
          </a:blipFill>
        </p:spPr>
      </p:sp>
      <p:sp>
        <p:nvSpPr>
          <p:cNvPr id="3" name="Freeform 3"/>
          <p:cNvSpPr/>
          <p:nvPr/>
        </p:nvSpPr>
        <p:spPr>
          <a:xfrm>
            <a:off x="381836" y="3974256"/>
            <a:ext cx="5882905" cy="3662135"/>
          </a:xfrm>
          <a:custGeom>
            <a:avLst/>
            <a:gdLst/>
            <a:ahLst/>
            <a:cxnLst/>
            <a:rect l="l" t="t" r="r" b="b"/>
            <a:pathLst>
              <a:path w="5882905" h="3662135">
                <a:moveTo>
                  <a:pt x="0" y="0"/>
                </a:moveTo>
                <a:lnTo>
                  <a:pt x="5882906" y="0"/>
                </a:lnTo>
                <a:lnTo>
                  <a:pt x="5882906" y="3662135"/>
                </a:lnTo>
                <a:lnTo>
                  <a:pt x="0" y="3662135"/>
                </a:lnTo>
                <a:lnTo>
                  <a:pt x="0" y="0"/>
                </a:lnTo>
                <a:close/>
              </a:path>
            </a:pathLst>
          </a:custGeom>
          <a:blipFill>
            <a:blip r:embed="rId3"/>
            <a:stretch>
              <a:fillRect/>
            </a:stretch>
          </a:blipFill>
        </p:spPr>
      </p:sp>
      <p:sp>
        <p:nvSpPr>
          <p:cNvPr id="4" name="Freeform 4"/>
          <p:cNvSpPr/>
          <p:nvPr/>
        </p:nvSpPr>
        <p:spPr>
          <a:xfrm>
            <a:off x="12713236" y="5805323"/>
            <a:ext cx="4546064" cy="3939922"/>
          </a:xfrm>
          <a:custGeom>
            <a:avLst/>
            <a:gdLst/>
            <a:ahLst/>
            <a:cxnLst/>
            <a:rect l="l" t="t" r="r" b="b"/>
            <a:pathLst>
              <a:path w="4546064" h="3939922">
                <a:moveTo>
                  <a:pt x="0" y="0"/>
                </a:moveTo>
                <a:lnTo>
                  <a:pt x="4546064" y="0"/>
                </a:lnTo>
                <a:lnTo>
                  <a:pt x="4546064" y="3939922"/>
                </a:lnTo>
                <a:lnTo>
                  <a:pt x="0" y="3939922"/>
                </a:lnTo>
                <a:lnTo>
                  <a:pt x="0" y="0"/>
                </a:lnTo>
                <a:close/>
              </a:path>
            </a:pathLst>
          </a:custGeom>
          <a:blipFill>
            <a:blip r:embed="rId4"/>
            <a:stretch>
              <a:fillRect/>
            </a:stretch>
          </a:blipFill>
        </p:spPr>
      </p:sp>
      <p:sp>
        <p:nvSpPr>
          <p:cNvPr id="5" name="Freeform 5"/>
          <p:cNvSpPr/>
          <p:nvPr/>
        </p:nvSpPr>
        <p:spPr>
          <a:xfrm rot="-8897312">
            <a:off x="11326785" y="5764626"/>
            <a:ext cx="1744878" cy="597811"/>
          </a:xfrm>
          <a:custGeom>
            <a:avLst/>
            <a:gdLst/>
            <a:ahLst/>
            <a:cxnLst/>
            <a:rect l="l" t="t" r="r" b="b"/>
            <a:pathLst>
              <a:path w="1744878" h="597811">
                <a:moveTo>
                  <a:pt x="0" y="0"/>
                </a:moveTo>
                <a:lnTo>
                  <a:pt x="1744878" y="0"/>
                </a:lnTo>
                <a:lnTo>
                  <a:pt x="1744878" y="597811"/>
                </a:lnTo>
                <a:lnTo>
                  <a:pt x="0" y="5978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2131416">
            <a:off x="724308" y="7115126"/>
            <a:ext cx="441706" cy="1320316"/>
          </a:xfrm>
          <a:custGeom>
            <a:avLst/>
            <a:gdLst/>
            <a:ahLst/>
            <a:cxnLst/>
            <a:rect l="l" t="t" r="r" b="b"/>
            <a:pathLst>
              <a:path w="441706" h="1320316">
                <a:moveTo>
                  <a:pt x="0" y="0"/>
                </a:moveTo>
                <a:lnTo>
                  <a:pt x="441705" y="0"/>
                </a:lnTo>
                <a:lnTo>
                  <a:pt x="441705" y="1320316"/>
                </a:lnTo>
                <a:lnTo>
                  <a:pt x="0" y="13203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7"/>
          <p:cNvSpPr txBox="1"/>
          <p:nvPr/>
        </p:nvSpPr>
        <p:spPr>
          <a:xfrm>
            <a:off x="6647508" y="4487238"/>
            <a:ext cx="7804292" cy="1488496"/>
          </a:xfrm>
          <a:prstGeom prst="rect">
            <a:avLst/>
          </a:prstGeom>
        </p:spPr>
        <p:txBody>
          <a:bodyPr lIns="0" tIns="0" rIns="0" bIns="0" rtlCol="0" anchor="t">
            <a:spAutoFit/>
          </a:bodyPr>
          <a:lstStyle/>
          <a:p>
            <a:pPr algn="ctr">
              <a:lnSpc>
                <a:spcPts val="2351"/>
              </a:lnSpc>
            </a:pPr>
            <a:r>
              <a:rPr lang="en-US" sz="1679" b="1">
                <a:solidFill>
                  <a:srgbClr val="000000"/>
                </a:solidFill>
                <a:latin typeface="Lato Bold"/>
                <a:ea typeface="Lato Bold"/>
                <a:cs typeface="Lato Bold"/>
                <a:sym typeface="Lato Bold"/>
              </a:rPr>
              <a:t>INCIDENTS PAR TYPE D'ALIMENT</a:t>
            </a:r>
          </a:p>
          <a:p>
            <a:pPr algn="ctr">
              <a:lnSpc>
                <a:spcPts val="2351"/>
              </a:lnSpc>
            </a:pPr>
            <a:r>
              <a:rPr lang="en-US" sz="1679" b="1">
                <a:solidFill>
                  <a:srgbClr val="000000"/>
                </a:solidFill>
                <a:latin typeface="Lato Bold"/>
                <a:ea typeface="Lato Bold"/>
                <a:cs typeface="Lato Bold"/>
                <a:sym typeface="Lato Bold"/>
              </a:rPr>
              <a:t>Ce titre souligne que le graphique présente la répartition </a:t>
            </a:r>
          </a:p>
          <a:p>
            <a:pPr algn="ctr">
              <a:lnSpc>
                <a:spcPts val="2351"/>
              </a:lnSpc>
            </a:pPr>
            <a:r>
              <a:rPr lang="en-US" sz="1679" b="1">
                <a:solidFill>
                  <a:srgbClr val="000000"/>
                </a:solidFill>
                <a:latin typeface="Lato Bold"/>
                <a:ea typeface="Lato Bold"/>
                <a:cs typeface="Lato Bold"/>
                <a:sym typeface="Lato Bold"/>
              </a:rPr>
              <a:t>des incidents en fonction des catégories alimentaires impliquées</a:t>
            </a:r>
          </a:p>
          <a:p>
            <a:pPr algn="ctr">
              <a:lnSpc>
                <a:spcPts val="2351"/>
              </a:lnSpc>
            </a:pPr>
            <a:r>
              <a:rPr lang="en-US" sz="1679" b="1">
                <a:solidFill>
                  <a:srgbClr val="000000"/>
                </a:solidFill>
                <a:latin typeface="Lato Bold"/>
                <a:ea typeface="Lato Bold"/>
                <a:cs typeface="Lato Bold"/>
                <a:sym typeface="Lato Bold"/>
              </a:rPr>
              <a:t> (ex. poisson, produits laitiers, etc.).</a:t>
            </a:r>
          </a:p>
          <a:p>
            <a:pPr algn="ctr">
              <a:lnSpc>
                <a:spcPts val="2351"/>
              </a:lnSpc>
              <a:spcBef>
                <a:spcPct val="0"/>
              </a:spcBef>
            </a:pPr>
            <a:endParaRPr lang="en-US" sz="1679" b="1">
              <a:solidFill>
                <a:srgbClr val="000000"/>
              </a:solidFill>
              <a:latin typeface="Lato Bold"/>
              <a:ea typeface="Lato Bold"/>
              <a:cs typeface="Lato Bold"/>
              <a:sym typeface="Lato Bold"/>
            </a:endParaRPr>
          </a:p>
        </p:txBody>
      </p:sp>
      <p:sp>
        <p:nvSpPr>
          <p:cNvPr id="8" name="Freeform 8"/>
          <p:cNvSpPr/>
          <p:nvPr/>
        </p:nvSpPr>
        <p:spPr>
          <a:xfrm rot="5706186">
            <a:off x="8111779" y="549502"/>
            <a:ext cx="441706" cy="1320316"/>
          </a:xfrm>
          <a:custGeom>
            <a:avLst/>
            <a:gdLst/>
            <a:ahLst/>
            <a:cxnLst/>
            <a:rect l="l" t="t" r="r" b="b"/>
            <a:pathLst>
              <a:path w="441706" h="1320316">
                <a:moveTo>
                  <a:pt x="0" y="0"/>
                </a:moveTo>
                <a:lnTo>
                  <a:pt x="441705" y="0"/>
                </a:lnTo>
                <a:lnTo>
                  <a:pt x="441705" y="1320316"/>
                </a:lnTo>
                <a:lnTo>
                  <a:pt x="0" y="13203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0" y="1171560"/>
            <a:ext cx="8632180" cy="1397442"/>
          </a:xfrm>
          <a:prstGeom prst="rect">
            <a:avLst/>
          </a:prstGeom>
        </p:spPr>
        <p:txBody>
          <a:bodyPr lIns="0" tIns="0" rIns="0" bIns="0" rtlCol="0" anchor="t">
            <a:spAutoFit/>
          </a:bodyPr>
          <a:lstStyle/>
          <a:p>
            <a:pPr algn="ctr">
              <a:lnSpc>
                <a:spcPts val="2775"/>
              </a:lnSpc>
            </a:pPr>
            <a:r>
              <a:rPr lang="en-US" sz="1982" b="1">
                <a:solidFill>
                  <a:srgbClr val="000000"/>
                </a:solidFill>
                <a:latin typeface="Lato Bold"/>
                <a:ea typeface="Lato Bold"/>
                <a:cs typeface="Lato Bold"/>
                <a:sym typeface="Lato Bold"/>
              </a:rPr>
              <a:t>ÉVOLUTION TEMPORELLE : INCIDENTS AU FIL DU TEMPS</a:t>
            </a:r>
          </a:p>
          <a:p>
            <a:pPr marL="428042" lvl="1" indent="-214021" algn="ctr">
              <a:lnSpc>
                <a:spcPts val="2775"/>
              </a:lnSpc>
              <a:buFont typeface="Arial"/>
              <a:buChar char="•"/>
            </a:pPr>
            <a:r>
              <a:rPr lang="en-US" sz="1982" b="1">
                <a:solidFill>
                  <a:srgbClr val="000000"/>
                </a:solidFill>
                <a:latin typeface="Lato Bold"/>
                <a:ea typeface="Lato Bold"/>
                <a:cs typeface="Lato Bold"/>
                <a:sym typeface="Lato Bold"/>
              </a:rPr>
              <a:t>Pour le graphique linéaire sur l'évolution temporelle des incidents.</a:t>
            </a:r>
          </a:p>
          <a:p>
            <a:pPr algn="ctr">
              <a:lnSpc>
                <a:spcPts val="2775"/>
              </a:lnSpc>
              <a:spcBef>
                <a:spcPct val="0"/>
              </a:spcBef>
            </a:pPr>
            <a:endParaRPr lang="en-US" sz="1982" b="1">
              <a:solidFill>
                <a:srgbClr val="000000"/>
              </a:solidFill>
              <a:latin typeface="Lato Bold"/>
              <a:ea typeface="Lato Bold"/>
              <a:cs typeface="Lato Bold"/>
              <a:sym typeface="Lato Bold"/>
            </a:endParaRPr>
          </a:p>
        </p:txBody>
      </p:sp>
      <p:sp>
        <p:nvSpPr>
          <p:cNvPr id="10" name="TextBox 10"/>
          <p:cNvSpPr txBox="1"/>
          <p:nvPr/>
        </p:nvSpPr>
        <p:spPr>
          <a:xfrm>
            <a:off x="381836" y="8040109"/>
            <a:ext cx="7699904" cy="1705136"/>
          </a:xfrm>
          <a:prstGeom prst="rect">
            <a:avLst/>
          </a:prstGeom>
        </p:spPr>
        <p:txBody>
          <a:bodyPr lIns="0" tIns="0" rIns="0" bIns="0" rtlCol="0" anchor="t">
            <a:spAutoFit/>
          </a:bodyPr>
          <a:lstStyle/>
          <a:p>
            <a:pPr algn="ctr">
              <a:lnSpc>
                <a:spcPts val="2703"/>
              </a:lnSpc>
            </a:pPr>
            <a:r>
              <a:rPr lang="en-US" sz="1930" b="1">
                <a:solidFill>
                  <a:srgbClr val="000000"/>
                </a:solidFill>
                <a:latin typeface="Lato Bold"/>
                <a:ea typeface="Lato Bold"/>
                <a:cs typeface="Lato Bold"/>
                <a:sym typeface="Lato Bold"/>
              </a:rPr>
              <a:t>RÉPARTITION DES INCIDENTS PAR GRAVITÉ</a:t>
            </a:r>
          </a:p>
          <a:p>
            <a:pPr marL="416857" lvl="1" indent="-208428" algn="ctr">
              <a:lnSpc>
                <a:spcPts val="2703"/>
              </a:lnSpc>
              <a:buFont typeface="Arial"/>
              <a:buChar char="•"/>
            </a:pPr>
            <a:r>
              <a:rPr lang="en-US" sz="1930" b="1">
                <a:solidFill>
                  <a:srgbClr val="000000"/>
                </a:solidFill>
                <a:latin typeface="Lato Bold"/>
                <a:ea typeface="Lato Bold"/>
                <a:cs typeface="Lato Bold"/>
                <a:sym typeface="Lato Bold"/>
              </a:rPr>
              <a:t>Ce titre indique clairement que le graphique montre la distribution des incidents selon leur niveau de gravité (léger, modéré, sévère).</a:t>
            </a:r>
          </a:p>
          <a:p>
            <a:pPr algn="ctr">
              <a:lnSpc>
                <a:spcPts val="2703"/>
              </a:lnSpc>
              <a:spcBef>
                <a:spcPct val="0"/>
              </a:spcBef>
            </a:pPr>
            <a:endParaRPr lang="en-US" sz="1930" b="1">
              <a:solidFill>
                <a:srgbClr val="000000"/>
              </a:solidFill>
              <a:latin typeface="Lato Bold"/>
              <a:ea typeface="Lato Bold"/>
              <a:cs typeface="Lato Bold"/>
              <a:sym typeface="Lato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11127739" y="812760"/>
            <a:ext cx="6471023" cy="3447479"/>
          </a:xfrm>
          <a:custGeom>
            <a:avLst/>
            <a:gdLst/>
            <a:ahLst/>
            <a:cxnLst/>
            <a:rect l="l" t="t" r="r" b="b"/>
            <a:pathLst>
              <a:path w="6471023" h="3447479">
                <a:moveTo>
                  <a:pt x="0" y="0"/>
                </a:moveTo>
                <a:lnTo>
                  <a:pt x="6471023" y="0"/>
                </a:lnTo>
                <a:lnTo>
                  <a:pt x="6471023" y="3447480"/>
                </a:lnTo>
                <a:lnTo>
                  <a:pt x="0" y="3447480"/>
                </a:lnTo>
                <a:lnTo>
                  <a:pt x="0" y="0"/>
                </a:lnTo>
                <a:close/>
              </a:path>
            </a:pathLst>
          </a:custGeom>
          <a:blipFill>
            <a:blip r:embed="rId2"/>
            <a:stretch>
              <a:fillRect/>
            </a:stretch>
          </a:blipFill>
        </p:spPr>
      </p:sp>
      <p:sp>
        <p:nvSpPr>
          <p:cNvPr id="3" name="Freeform 3"/>
          <p:cNvSpPr/>
          <p:nvPr/>
        </p:nvSpPr>
        <p:spPr>
          <a:xfrm>
            <a:off x="484648" y="3556790"/>
            <a:ext cx="4887330" cy="3648219"/>
          </a:xfrm>
          <a:custGeom>
            <a:avLst/>
            <a:gdLst/>
            <a:ahLst/>
            <a:cxnLst/>
            <a:rect l="l" t="t" r="r" b="b"/>
            <a:pathLst>
              <a:path w="4887330" h="3648219">
                <a:moveTo>
                  <a:pt x="0" y="0"/>
                </a:moveTo>
                <a:lnTo>
                  <a:pt x="4887330" y="0"/>
                </a:lnTo>
                <a:lnTo>
                  <a:pt x="4887330" y="3648219"/>
                </a:lnTo>
                <a:lnTo>
                  <a:pt x="0" y="3648219"/>
                </a:lnTo>
                <a:lnTo>
                  <a:pt x="0" y="0"/>
                </a:lnTo>
                <a:close/>
              </a:path>
            </a:pathLst>
          </a:custGeom>
          <a:blipFill>
            <a:blip r:embed="rId3"/>
            <a:stretch>
              <a:fillRect/>
            </a:stretch>
          </a:blipFill>
        </p:spPr>
      </p:sp>
      <p:sp>
        <p:nvSpPr>
          <p:cNvPr id="4" name="Freeform 4"/>
          <p:cNvSpPr/>
          <p:nvPr/>
        </p:nvSpPr>
        <p:spPr>
          <a:xfrm>
            <a:off x="10553352" y="6716145"/>
            <a:ext cx="7045410" cy="3172544"/>
          </a:xfrm>
          <a:custGeom>
            <a:avLst/>
            <a:gdLst/>
            <a:ahLst/>
            <a:cxnLst/>
            <a:rect l="l" t="t" r="r" b="b"/>
            <a:pathLst>
              <a:path w="7045410" h="3172544">
                <a:moveTo>
                  <a:pt x="0" y="0"/>
                </a:moveTo>
                <a:lnTo>
                  <a:pt x="7045410" y="0"/>
                </a:lnTo>
                <a:lnTo>
                  <a:pt x="7045410" y="3172544"/>
                </a:lnTo>
                <a:lnTo>
                  <a:pt x="0" y="3172544"/>
                </a:lnTo>
                <a:lnTo>
                  <a:pt x="0" y="0"/>
                </a:lnTo>
                <a:close/>
              </a:path>
            </a:pathLst>
          </a:custGeom>
          <a:blipFill>
            <a:blip r:embed="rId4"/>
            <a:stretch>
              <a:fillRect/>
            </a:stretch>
          </a:blipFill>
        </p:spPr>
      </p:sp>
      <p:sp>
        <p:nvSpPr>
          <p:cNvPr id="5" name="Freeform 5"/>
          <p:cNvSpPr/>
          <p:nvPr/>
        </p:nvSpPr>
        <p:spPr>
          <a:xfrm rot="8376188">
            <a:off x="13773552" y="5382338"/>
            <a:ext cx="605009" cy="1632434"/>
          </a:xfrm>
          <a:custGeom>
            <a:avLst/>
            <a:gdLst/>
            <a:ahLst/>
            <a:cxnLst/>
            <a:rect l="l" t="t" r="r" b="b"/>
            <a:pathLst>
              <a:path w="605009" h="1632434">
                <a:moveTo>
                  <a:pt x="0" y="0"/>
                </a:moveTo>
                <a:lnTo>
                  <a:pt x="605009" y="0"/>
                </a:lnTo>
                <a:lnTo>
                  <a:pt x="605009" y="1632434"/>
                </a:lnTo>
                <a:lnTo>
                  <a:pt x="0" y="16324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2700000">
            <a:off x="4951406" y="6829572"/>
            <a:ext cx="2079960" cy="712613"/>
          </a:xfrm>
          <a:custGeom>
            <a:avLst/>
            <a:gdLst/>
            <a:ahLst/>
            <a:cxnLst/>
            <a:rect l="l" t="t" r="r" b="b"/>
            <a:pathLst>
              <a:path w="2079960" h="712613">
                <a:moveTo>
                  <a:pt x="0" y="0"/>
                </a:moveTo>
                <a:lnTo>
                  <a:pt x="2079960" y="0"/>
                </a:lnTo>
                <a:lnTo>
                  <a:pt x="2079960" y="712613"/>
                </a:lnTo>
                <a:lnTo>
                  <a:pt x="0" y="7126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rot="5236133">
            <a:off x="10853930" y="-5692"/>
            <a:ext cx="547619" cy="1636905"/>
          </a:xfrm>
          <a:custGeom>
            <a:avLst/>
            <a:gdLst/>
            <a:ahLst/>
            <a:cxnLst/>
            <a:rect l="l" t="t" r="r" b="b"/>
            <a:pathLst>
              <a:path w="547619" h="1636905">
                <a:moveTo>
                  <a:pt x="0" y="0"/>
                </a:moveTo>
                <a:lnTo>
                  <a:pt x="547619" y="0"/>
                </a:lnTo>
                <a:lnTo>
                  <a:pt x="547619" y="1636905"/>
                </a:lnTo>
                <a:lnTo>
                  <a:pt x="0" y="16369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3224921" y="1163357"/>
            <a:ext cx="7126442" cy="1047050"/>
          </a:xfrm>
          <a:prstGeom prst="rect">
            <a:avLst/>
          </a:prstGeom>
        </p:spPr>
        <p:txBody>
          <a:bodyPr lIns="0" tIns="0" rIns="0" bIns="0" rtlCol="0" anchor="t">
            <a:spAutoFit/>
          </a:bodyPr>
          <a:lstStyle/>
          <a:p>
            <a:pPr algn="ctr">
              <a:lnSpc>
                <a:spcPts val="2754"/>
              </a:lnSpc>
            </a:pPr>
            <a:r>
              <a:rPr lang="en-US" sz="2673">
                <a:solidFill>
                  <a:srgbClr val="000000"/>
                </a:solidFill>
                <a:latin typeface="Lato"/>
                <a:ea typeface="Lato"/>
                <a:cs typeface="Lato"/>
                <a:sym typeface="Lato"/>
              </a:rPr>
              <a:t>Bactéries Détectées : Types et Fréquences</a:t>
            </a:r>
          </a:p>
          <a:p>
            <a:pPr marL="577315" lvl="1" indent="-288657" algn="ctr">
              <a:lnSpc>
                <a:spcPts val="2754"/>
              </a:lnSpc>
              <a:buFont typeface="Arial"/>
              <a:buChar char="•"/>
            </a:pPr>
            <a:r>
              <a:rPr lang="en-US" sz="2673">
                <a:solidFill>
                  <a:srgbClr val="000000"/>
                </a:solidFill>
                <a:latin typeface="Lato"/>
                <a:ea typeface="Lato"/>
                <a:cs typeface="Lato"/>
                <a:sym typeface="Lato"/>
              </a:rPr>
              <a:t>Pour le graphique sur les types de bactéries.</a:t>
            </a:r>
          </a:p>
          <a:p>
            <a:pPr algn="ctr">
              <a:lnSpc>
                <a:spcPts val="2754"/>
              </a:lnSpc>
              <a:spcBef>
                <a:spcPct val="0"/>
              </a:spcBef>
            </a:pPr>
            <a:endParaRPr lang="en-US" sz="2673">
              <a:solidFill>
                <a:srgbClr val="000000"/>
              </a:solidFill>
              <a:latin typeface="Lato"/>
              <a:ea typeface="Lato"/>
              <a:cs typeface="Lato"/>
              <a:sym typeface="Lato"/>
            </a:endParaRPr>
          </a:p>
        </p:txBody>
      </p:sp>
      <p:sp>
        <p:nvSpPr>
          <p:cNvPr id="9" name="TextBox 9"/>
          <p:cNvSpPr txBox="1"/>
          <p:nvPr/>
        </p:nvSpPr>
        <p:spPr>
          <a:xfrm>
            <a:off x="347665" y="7822742"/>
            <a:ext cx="8019576" cy="997450"/>
          </a:xfrm>
          <a:prstGeom prst="rect">
            <a:avLst/>
          </a:prstGeom>
        </p:spPr>
        <p:txBody>
          <a:bodyPr lIns="0" tIns="0" rIns="0" bIns="0" rtlCol="0" anchor="t">
            <a:spAutoFit/>
          </a:bodyPr>
          <a:lstStyle/>
          <a:p>
            <a:pPr algn="ctr">
              <a:lnSpc>
                <a:spcPts val="2628"/>
              </a:lnSpc>
            </a:pPr>
            <a:r>
              <a:rPr lang="en-US" sz="2551">
                <a:solidFill>
                  <a:srgbClr val="000000"/>
                </a:solidFill>
                <a:latin typeface="Lato"/>
                <a:ea typeface="Lato"/>
                <a:cs typeface="Lato"/>
                <a:sym typeface="Lato"/>
              </a:rPr>
              <a:t>Analyse Démographique : Distribution par Groupe d'Âge</a:t>
            </a:r>
          </a:p>
          <a:p>
            <a:pPr marL="550927" lvl="1" indent="-275463" algn="ctr">
              <a:lnSpc>
                <a:spcPts val="2628"/>
              </a:lnSpc>
              <a:buFont typeface="Arial"/>
              <a:buChar char="•"/>
            </a:pPr>
            <a:r>
              <a:rPr lang="en-US" sz="2551">
                <a:solidFill>
                  <a:srgbClr val="000000"/>
                </a:solidFill>
                <a:latin typeface="Lato"/>
                <a:ea typeface="Lato"/>
                <a:cs typeface="Lato"/>
                <a:sym typeface="Lato"/>
              </a:rPr>
              <a:t>Pour le graphique sur les groupes d'âge.</a:t>
            </a:r>
          </a:p>
          <a:p>
            <a:pPr algn="ctr">
              <a:lnSpc>
                <a:spcPts val="2628"/>
              </a:lnSpc>
              <a:spcBef>
                <a:spcPct val="0"/>
              </a:spcBef>
            </a:pPr>
            <a:endParaRPr lang="en-US" sz="2551">
              <a:solidFill>
                <a:srgbClr val="000000"/>
              </a:solidFill>
              <a:latin typeface="Lato"/>
              <a:ea typeface="Lato"/>
              <a:cs typeface="Lato"/>
              <a:sym typeface="Lato"/>
            </a:endParaRPr>
          </a:p>
        </p:txBody>
      </p:sp>
      <p:sp>
        <p:nvSpPr>
          <p:cNvPr id="10" name="TextBox 10"/>
          <p:cNvSpPr txBox="1"/>
          <p:nvPr/>
        </p:nvSpPr>
        <p:spPr>
          <a:xfrm>
            <a:off x="6234563" y="5289456"/>
            <a:ext cx="7298417" cy="909099"/>
          </a:xfrm>
          <a:prstGeom prst="rect">
            <a:avLst/>
          </a:prstGeom>
        </p:spPr>
        <p:txBody>
          <a:bodyPr lIns="0" tIns="0" rIns="0" bIns="0" rtlCol="0" anchor="t">
            <a:spAutoFit/>
          </a:bodyPr>
          <a:lstStyle/>
          <a:p>
            <a:pPr algn="ctr">
              <a:lnSpc>
                <a:spcPts val="2379"/>
              </a:lnSpc>
            </a:pPr>
            <a:r>
              <a:rPr lang="en-US" sz="2310">
                <a:solidFill>
                  <a:srgbClr val="000000"/>
                </a:solidFill>
                <a:latin typeface="Lato"/>
                <a:ea typeface="Lato"/>
                <a:cs typeface="Lato"/>
                <a:sym typeface="Lato"/>
              </a:rPr>
              <a:t>Actions Correctives : Suivi et Prévention</a:t>
            </a:r>
          </a:p>
          <a:p>
            <a:pPr marL="498855" lvl="1" indent="-249428" algn="ctr">
              <a:lnSpc>
                <a:spcPts val="2379"/>
              </a:lnSpc>
              <a:buFont typeface="Arial"/>
              <a:buChar char="•"/>
            </a:pPr>
            <a:r>
              <a:rPr lang="en-US" sz="2310">
                <a:solidFill>
                  <a:srgbClr val="000000"/>
                </a:solidFill>
                <a:latin typeface="Lato"/>
                <a:ea typeface="Lato"/>
                <a:cs typeface="Lato"/>
                <a:sym typeface="Lato"/>
              </a:rPr>
              <a:t>Pour le graphique sur les actions de suivi entreprises.</a:t>
            </a:r>
          </a:p>
          <a:p>
            <a:pPr algn="ctr">
              <a:lnSpc>
                <a:spcPts val="2379"/>
              </a:lnSpc>
              <a:spcBef>
                <a:spcPct val="0"/>
              </a:spcBef>
            </a:pPr>
            <a:endParaRPr lang="en-US" sz="2310">
              <a:solidFill>
                <a:srgbClr val="000000"/>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11904768" y="1310385"/>
            <a:ext cx="5100869" cy="4119529"/>
          </a:xfrm>
          <a:custGeom>
            <a:avLst/>
            <a:gdLst/>
            <a:ahLst/>
            <a:cxnLst/>
            <a:rect l="l" t="t" r="r" b="b"/>
            <a:pathLst>
              <a:path w="5100869" h="4119529">
                <a:moveTo>
                  <a:pt x="0" y="0"/>
                </a:moveTo>
                <a:lnTo>
                  <a:pt x="5100869" y="0"/>
                </a:lnTo>
                <a:lnTo>
                  <a:pt x="5100869" y="4119529"/>
                </a:lnTo>
                <a:lnTo>
                  <a:pt x="0" y="4119529"/>
                </a:lnTo>
                <a:lnTo>
                  <a:pt x="0" y="0"/>
                </a:lnTo>
                <a:close/>
              </a:path>
            </a:pathLst>
          </a:custGeom>
          <a:blipFill>
            <a:blip r:embed="rId2"/>
            <a:stretch>
              <a:fillRect/>
            </a:stretch>
          </a:blipFill>
        </p:spPr>
      </p:sp>
      <p:sp>
        <p:nvSpPr>
          <p:cNvPr id="3" name="Freeform 3"/>
          <p:cNvSpPr/>
          <p:nvPr/>
        </p:nvSpPr>
        <p:spPr>
          <a:xfrm>
            <a:off x="1028700" y="6899268"/>
            <a:ext cx="6046860" cy="1905175"/>
          </a:xfrm>
          <a:custGeom>
            <a:avLst/>
            <a:gdLst/>
            <a:ahLst/>
            <a:cxnLst/>
            <a:rect l="l" t="t" r="r" b="b"/>
            <a:pathLst>
              <a:path w="6046860" h="1905175">
                <a:moveTo>
                  <a:pt x="0" y="0"/>
                </a:moveTo>
                <a:lnTo>
                  <a:pt x="6046860" y="0"/>
                </a:lnTo>
                <a:lnTo>
                  <a:pt x="6046860" y="1905175"/>
                </a:lnTo>
                <a:lnTo>
                  <a:pt x="0" y="1905175"/>
                </a:lnTo>
                <a:lnTo>
                  <a:pt x="0" y="0"/>
                </a:lnTo>
                <a:close/>
              </a:path>
            </a:pathLst>
          </a:custGeom>
          <a:blipFill>
            <a:blip r:embed="rId3"/>
            <a:stretch>
              <a:fillRect/>
            </a:stretch>
          </a:blipFill>
        </p:spPr>
      </p:sp>
      <p:sp>
        <p:nvSpPr>
          <p:cNvPr id="4" name="Freeform 4"/>
          <p:cNvSpPr/>
          <p:nvPr/>
        </p:nvSpPr>
        <p:spPr>
          <a:xfrm>
            <a:off x="7075560" y="6899268"/>
            <a:ext cx="1744878" cy="597811"/>
          </a:xfrm>
          <a:custGeom>
            <a:avLst/>
            <a:gdLst/>
            <a:ahLst/>
            <a:cxnLst/>
            <a:rect l="l" t="t" r="r" b="b"/>
            <a:pathLst>
              <a:path w="1744878" h="597811">
                <a:moveTo>
                  <a:pt x="0" y="0"/>
                </a:moveTo>
                <a:lnTo>
                  <a:pt x="1744879" y="0"/>
                </a:lnTo>
                <a:lnTo>
                  <a:pt x="1744879" y="597811"/>
                </a:lnTo>
                <a:lnTo>
                  <a:pt x="0" y="5978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10897280" y="1341264"/>
            <a:ext cx="1441237" cy="1021968"/>
          </a:xfrm>
          <a:custGeom>
            <a:avLst/>
            <a:gdLst/>
            <a:ahLst/>
            <a:cxnLst/>
            <a:rect l="l" t="t" r="r" b="b"/>
            <a:pathLst>
              <a:path w="1441237" h="1021968">
                <a:moveTo>
                  <a:pt x="0" y="0"/>
                </a:moveTo>
                <a:lnTo>
                  <a:pt x="1441237" y="0"/>
                </a:lnTo>
                <a:lnTo>
                  <a:pt x="1441237" y="1021968"/>
                </a:lnTo>
                <a:lnTo>
                  <a:pt x="0" y="10219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4013905" y="2057937"/>
            <a:ext cx="6883375" cy="1045017"/>
          </a:xfrm>
          <a:prstGeom prst="rect">
            <a:avLst/>
          </a:prstGeom>
        </p:spPr>
        <p:txBody>
          <a:bodyPr lIns="0" tIns="0" rIns="0" bIns="0" rtlCol="0" anchor="t">
            <a:spAutoFit/>
          </a:bodyPr>
          <a:lstStyle/>
          <a:p>
            <a:pPr algn="ctr">
              <a:lnSpc>
                <a:spcPts val="2775"/>
              </a:lnSpc>
            </a:pPr>
            <a:r>
              <a:rPr lang="en-US" sz="1982" b="1">
                <a:solidFill>
                  <a:srgbClr val="000000"/>
                </a:solidFill>
                <a:latin typeface="Lato Bold"/>
                <a:ea typeface="Lato Bold"/>
                <a:cs typeface="Lato Bold"/>
                <a:sym typeface="Lato Bold"/>
              </a:rPr>
              <a:t>SOURCES ALIMENTAIRES : DISTRIBUTION DES INCIDENTS</a:t>
            </a:r>
          </a:p>
          <a:p>
            <a:pPr marL="428042" lvl="1" indent="-214021" algn="ctr">
              <a:lnSpc>
                <a:spcPts val="2775"/>
              </a:lnSpc>
              <a:buFont typeface="Arial"/>
              <a:buChar char="•"/>
            </a:pPr>
            <a:r>
              <a:rPr lang="en-US" sz="1982" b="1">
                <a:solidFill>
                  <a:srgbClr val="000000"/>
                </a:solidFill>
                <a:latin typeface="Lato Bold"/>
                <a:ea typeface="Lato Bold"/>
                <a:cs typeface="Lato Bold"/>
                <a:sym typeface="Lato Bold"/>
              </a:rPr>
              <a:t>Pour le radar des sources alimentaires.</a:t>
            </a:r>
          </a:p>
          <a:p>
            <a:pPr algn="ctr">
              <a:lnSpc>
                <a:spcPts val="2775"/>
              </a:lnSpc>
              <a:spcBef>
                <a:spcPct val="0"/>
              </a:spcBef>
            </a:pPr>
            <a:endParaRPr lang="en-US" sz="1982" b="1">
              <a:solidFill>
                <a:srgbClr val="000000"/>
              </a:solidFill>
              <a:latin typeface="Lato Bold"/>
              <a:ea typeface="Lato Bold"/>
              <a:cs typeface="Lato Bold"/>
              <a:sym typeface="Lato Bold"/>
            </a:endParaRPr>
          </a:p>
        </p:txBody>
      </p:sp>
      <p:sp>
        <p:nvSpPr>
          <p:cNvPr id="7" name="TextBox 7"/>
          <p:cNvSpPr txBox="1"/>
          <p:nvPr/>
        </p:nvSpPr>
        <p:spPr>
          <a:xfrm>
            <a:off x="8279256" y="7180639"/>
            <a:ext cx="6677286" cy="971462"/>
          </a:xfrm>
          <a:prstGeom prst="rect">
            <a:avLst/>
          </a:prstGeom>
        </p:spPr>
        <p:txBody>
          <a:bodyPr lIns="0" tIns="0" rIns="0" bIns="0" rtlCol="0" anchor="t">
            <a:spAutoFit/>
          </a:bodyPr>
          <a:lstStyle/>
          <a:p>
            <a:pPr algn="ctr">
              <a:lnSpc>
                <a:spcPts val="2546"/>
              </a:lnSpc>
            </a:pPr>
            <a:r>
              <a:rPr lang="en-US" sz="1819" b="1">
                <a:solidFill>
                  <a:srgbClr val="000000"/>
                </a:solidFill>
                <a:latin typeface="Lato Bold"/>
                <a:ea typeface="Lato Bold"/>
                <a:cs typeface="Lato Bold"/>
                <a:sym typeface="Lato Bold"/>
              </a:rPr>
              <a:t>TÉLÉCHARGEMENT DES DONNÉES : EXPORT DES RÉSULTATS</a:t>
            </a:r>
          </a:p>
          <a:p>
            <a:pPr marL="392725" lvl="1" indent="-196362" algn="ctr">
              <a:lnSpc>
                <a:spcPts val="2546"/>
              </a:lnSpc>
              <a:buFont typeface="Arial"/>
              <a:buChar char="•"/>
            </a:pPr>
            <a:r>
              <a:rPr lang="en-US" sz="1819" b="1">
                <a:solidFill>
                  <a:srgbClr val="000000"/>
                </a:solidFill>
                <a:latin typeface="Lato Bold"/>
                <a:ea typeface="Lato Bold"/>
                <a:cs typeface="Lato Bold"/>
                <a:sym typeface="Lato Bold"/>
              </a:rPr>
              <a:t>Pour le bouton vert situé en bas de l'interface.</a:t>
            </a:r>
          </a:p>
          <a:p>
            <a:pPr algn="ctr">
              <a:lnSpc>
                <a:spcPts val="2546"/>
              </a:lnSpc>
              <a:spcBef>
                <a:spcPct val="0"/>
              </a:spcBef>
            </a:pPr>
            <a:endParaRPr lang="en-US" sz="1819" b="1">
              <a:solidFill>
                <a:srgbClr val="000000"/>
              </a:solidFill>
              <a:latin typeface="Lato Bold"/>
              <a:ea typeface="Lato Bold"/>
              <a:cs typeface="Lato Bold"/>
              <a:sym typeface="Lato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7160485">
            <a:off x="12762198" y="4130102"/>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941302" y="3354489"/>
            <a:ext cx="10443852" cy="3858647"/>
            <a:chOff x="0" y="0"/>
            <a:chExt cx="2428757" cy="897343"/>
          </a:xfrm>
        </p:grpSpPr>
        <p:sp>
          <p:nvSpPr>
            <p:cNvPr id="4" name="Freeform 4"/>
            <p:cNvSpPr/>
            <p:nvPr/>
          </p:nvSpPr>
          <p:spPr>
            <a:xfrm>
              <a:off x="0" y="0"/>
              <a:ext cx="2428757" cy="897343"/>
            </a:xfrm>
            <a:custGeom>
              <a:avLst/>
              <a:gdLst/>
              <a:ahLst/>
              <a:cxnLst/>
              <a:rect l="l" t="t" r="r" b="b"/>
              <a:pathLst>
                <a:path w="2428757" h="897343">
                  <a:moveTo>
                    <a:pt x="0" y="0"/>
                  </a:moveTo>
                  <a:lnTo>
                    <a:pt x="2428757" y="0"/>
                  </a:lnTo>
                  <a:lnTo>
                    <a:pt x="2428757" y="897343"/>
                  </a:lnTo>
                  <a:lnTo>
                    <a:pt x="0" y="897343"/>
                  </a:lnTo>
                  <a:close/>
                </a:path>
              </a:pathLst>
            </a:custGeom>
            <a:solidFill>
              <a:srgbClr val="EAFAB2"/>
            </a:solidFill>
            <a:ln w="28575" cap="sq">
              <a:solidFill>
                <a:srgbClr val="EAFAB2"/>
              </a:solidFill>
              <a:prstDash val="solid"/>
              <a:miter/>
            </a:ln>
          </p:spPr>
        </p:sp>
        <p:sp>
          <p:nvSpPr>
            <p:cNvPr id="5" name="TextBox 5"/>
            <p:cNvSpPr txBox="1"/>
            <p:nvPr/>
          </p:nvSpPr>
          <p:spPr>
            <a:xfrm>
              <a:off x="0" y="-38100"/>
              <a:ext cx="2428757" cy="935443"/>
            </a:xfrm>
            <a:prstGeom prst="rect">
              <a:avLst/>
            </a:prstGeom>
          </p:spPr>
          <p:txBody>
            <a:bodyPr lIns="57533" tIns="57533" rIns="57533" bIns="57533" rtlCol="0" anchor="ctr"/>
            <a:lstStyle/>
            <a:p>
              <a:pPr algn="ctr">
                <a:lnSpc>
                  <a:spcPts val="2660"/>
                </a:lnSpc>
                <a:spcBef>
                  <a:spcPct val="0"/>
                </a:spcBef>
              </a:pPr>
              <a:endParaRPr/>
            </a:p>
          </p:txBody>
        </p:sp>
      </p:grpSp>
      <p:sp>
        <p:nvSpPr>
          <p:cNvPr id="6" name="Freeform 6"/>
          <p:cNvSpPr/>
          <p:nvPr/>
        </p:nvSpPr>
        <p:spPr>
          <a:xfrm rot="3206933">
            <a:off x="-4984565" y="15155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3941302" y="3633251"/>
            <a:ext cx="10238701" cy="3932986"/>
          </a:xfrm>
          <a:prstGeom prst="rect">
            <a:avLst/>
          </a:prstGeom>
        </p:spPr>
        <p:txBody>
          <a:bodyPr lIns="0" tIns="0" rIns="0" bIns="0" rtlCol="0" anchor="t">
            <a:spAutoFit/>
          </a:bodyPr>
          <a:lstStyle/>
          <a:p>
            <a:pPr algn="ctr">
              <a:lnSpc>
                <a:spcPts val="4405"/>
              </a:lnSpc>
            </a:pPr>
            <a:r>
              <a:rPr lang="en-US" sz="4277" b="1">
                <a:solidFill>
                  <a:srgbClr val="000000"/>
                </a:solidFill>
                <a:latin typeface="Neue Machina Ultra-Bold"/>
                <a:ea typeface="Neue Machina Ultra-Bold"/>
                <a:cs typeface="Neue Machina Ultra-Bold"/>
                <a:sym typeface="Neue Machina Ultra-Bold"/>
              </a:rPr>
              <a:t>RESULTATS :</a:t>
            </a:r>
          </a:p>
          <a:p>
            <a:pPr algn="ctr">
              <a:lnSpc>
                <a:spcPts val="4405"/>
              </a:lnSpc>
            </a:pPr>
            <a:r>
              <a:rPr lang="en-US" sz="4277" b="1">
                <a:solidFill>
                  <a:srgbClr val="000000"/>
                </a:solidFill>
                <a:latin typeface="Neue Machina Ultra-Bold"/>
                <a:ea typeface="Neue Machina Ultra-Bold"/>
                <a:cs typeface="Neue Machina Ultra-Bold"/>
                <a:sym typeface="Neue Machina Ultra-Bold"/>
              </a:rPr>
              <a:t>ANALYSE ET RÉSULTATS DES GRAPHIQUES ISSUS DE L'INTERFACE : DISTRIBUTION ET FACTEURS DE RISQUE DES INCIDENTS ALIMENTAIRES</a:t>
            </a:r>
          </a:p>
          <a:p>
            <a:pPr algn="ctr">
              <a:lnSpc>
                <a:spcPts val="4405"/>
              </a:lnSpc>
            </a:pPr>
            <a:endParaRPr lang="en-US" sz="4277" b="1">
              <a:solidFill>
                <a:srgbClr val="000000"/>
              </a:solidFill>
              <a:latin typeface="Neue Machina Ultra-Bold"/>
              <a:ea typeface="Neue Machina Ultra-Bold"/>
              <a:cs typeface="Neue Machina Ultra-Bold"/>
              <a:sym typeface="Neue Machina Ul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8"/>
        </a:solidFill>
        <a:effectLst/>
      </p:bgPr>
    </p:bg>
    <p:spTree>
      <p:nvGrpSpPr>
        <p:cNvPr id="1" name=""/>
        <p:cNvGrpSpPr/>
        <p:nvPr/>
      </p:nvGrpSpPr>
      <p:grpSpPr>
        <a:xfrm>
          <a:off x="0" y="0"/>
          <a:ext cx="0" cy="0"/>
          <a:chOff x="0" y="0"/>
          <a:chExt cx="0" cy="0"/>
        </a:xfrm>
      </p:grpSpPr>
      <p:sp>
        <p:nvSpPr>
          <p:cNvPr id="2" name="Freeform 2"/>
          <p:cNvSpPr/>
          <p:nvPr/>
        </p:nvSpPr>
        <p:spPr>
          <a:xfrm>
            <a:off x="11435622" y="2479619"/>
            <a:ext cx="6547752" cy="7304739"/>
          </a:xfrm>
          <a:custGeom>
            <a:avLst/>
            <a:gdLst/>
            <a:ahLst/>
            <a:cxnLst/>
            <a:rect l="l" t="t" r="r" b="b"/>
            <a:pathLst>
              <a:path w="6547752" h="7304739">
                <a:moveTo>
                  <a:pt x="0" y="0"/>
                </a:moveTo>
                <a:lnTo>
                  <a:pt x="6547751" y="0"/>
                </a:lnTo>
                <a:lnTo>
                  <a:pt x="6547751" y="7304739"/>
                </a:lnTo>
                <a:lnTo>
                  <a:pt x="0" y="7304739"/>
                </a:lnTo>
                <a:lnTo>
                  <a:pt x="0" y="0"/>
                </a:lnTo>
                <a:close/>
              </a:path>
            </a:pathLst>
          </a:custGeom>
          <a:blipFill>
            <a:blip r:embed="rId2"/>
            <a:stretch>
              <a:fillRect t="-293"/>
            </a:stretch>
          </a:blipFill>
        </p:spPr>
      </p:sp>
      <p:sp>
        <p:nvSpPr>
          <p:cNvPr id="3" name="TextBox 3"/>
          <p:cNvSpPr txBox="1"/>
          <p:nvPr/>
        </p:nvSpPr>
        <p:spPr>
          <a:xfrm>
            <a:off x="11435622" y="581109"/>
            <a:ext cx="6547752" cy="1557263"/>
          </a:xfrm>
          <a:prstGeom prst="rect">
            <a:avLst/>
          </a:prstGeom>
        </p:spPr>
        <p:txBody>
          <a:bodyPr lIns="0" tIns="0" rIns="0" bIns="0" rtlCol="0" anchor="t">
            <a:spAutoFit/>
          </a:bodyPr>
          <a:lstStyle/>
          <a:p>
            <a:pPr algn="ctr">
              <a:lnSpc>
                <a:spcPts val="3035"/>
              </a:lnSpc>
            </a:pPr>
            <a:r>
              <a:rPr lang="en-US" sz="3373">
                <a:solidFill>
                  <a:srgbClr val="3A3A3A"/>
                </a:solidFill>
                <a:latin typeface="League Spartan"/>
                <a:ea typeface="League Spartan"/>
                <a:cs typeface="League Spartan"/>
                <a:sym typeface="League Spartan"/>
              </a:rPr>
              <a:t> CARTE DES INCIDENTS ALIMENTAIRES ET RÉPARTITION PAR GRAVITÉ </a:t>
            </a:r>
          </a:p>
          <a:p>
            <a:pPr algn="ctr">
              <a:lnSpc>
                <a:spcPts val="3035"/>
              </a:lnSpc>
            </a:pPr>
            <a:endParaRPr lang="en-US" sz="3373">
              <a:solidFill>
                <a:srgbClr val="3A3A3A"/>
              </a:solidFill>
              <a:latin typeface="League Spartan"/>
              <a:ea typeface="League Spartan"/>
              <a:cs typeface="League Spartan"/>
              <a:sym typeface="League Spartan"/>
            </a:endParaRPr>
          </a:p>
        </p:txBody>
      </p:sp>
      <p:pic>
        <p:nvPicPr>
          <p:cNvPr id="4" name="Picture 4"/>
          <p:cNvPicPr>
            <a:picLocks noChangeAspect="1"/>
          </p:cNvPicPr>
          <p:nvPr/>
        </p:nvPicPr>
        <p:blipFill>
          <a:blip r:embed="rId3"/>
          <a:stretch>
            <a:fillRect/>
          </a:stretch>
        </p:blipFill>
        <p:spPr>
          <a:xfrm>
            <a:off x="2117242" y="3904869"/>
            <a:ext cx="6680300" cy="6822124"/>
          </a:xfrm>
          <a:prstGeom prst="rect">
            <a:avLst/>
          </a:prstGeom>
        </p:spPr>
      </p:pic>
      <p:sp>
        <p:nvSpPr>
          <p:cNvPr id="5" name="TextBox 5"/>
          <p:cNvSpPr txBox="1"/>
          <p:nvPr/>
        </p:nvSpPr>
        <p:spPr>
          <a:xfrm>
            <a:off x="493008" y="466809"/>
            <a:ext cx="10233286" cy="4006569"/>
          </a:xfrm>
          <a:prstGeom prst="rect">
            <a:avLst/>
          </a:prstGeom>
        </p:spPr>
        <p:txBody>
          <a:bodyPr lIns="0" tIns="0" rIns="0" bIns="0" rtlCol="0" anchor="t">
            <a:spAutoFit/>
          </a:bodyPr>
          <a:lstStyle/>
          <a:p>
            <a:pPr algn="just">
              <a:lnSpc>
                <a:spcPts val="1959"/>
              </a:lnSpc>
            </a:pPr>
            <a:r>
              <a:rPr lang="en-US" sz="1798" spc="7">
                <a:solidFill>
                  <a:srgbClr val="8C52FF"/>
                </a:solidFill>
                <a:latin typeface="Chunk Five"/>
                <a:ea typeface="Chunk Five"/>
                <a:cs typeface="Chunk Five"/>
                <a:sym typeface="Chunk Five"/>
              </a:rPr>
              <a:t>1.Proportions globales :</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cas légers représentent environ 42% des incidents.</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cas modérés constituent 35% des incidents.</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cas sévères, bien que moins fréquents (23%), nécessitent une attention particulière en raison de leur gravité.</a:t>
            </a:r>
          </a:p>
          <a:p>
            <a:pPr algn="just">
              <a:lnSpc>
                <a:spcPts val="1959"/>
              </a:lnSpc>
            </a:pPr>
            <a:endParaRPr lang="en-US" sz="1798" spc="7">
              <a:solidFill>
                <a:srgbClr val="3A3A3A"/>
              </a:solidFill>
              <a:latin typeface="Libre Baskerville"/>
              <a:ea typeface="Libre Baskerville"/>
              <a:cs typeface="Libre Baskerville"/>
              <a:sym typeface="Libre Baskerville"/>
            </a:endParaRPr>
          </a:p>
          <a:p>
            <a:pPr algn="just">
              <a:lnSpc>
                <a:spcPts val="1959"/>
              </a:lnSpc>
            </a:pPr>
            <a:r>
              <a:rPr lang="en-US" sz="1798" spc="7">
                <a:solidFill>
                  <a:srgbClr val="8C52FF"/>
                </a:solidFill>
                <a:latin typeface="Chunk Five"/>
                <a:ea typeface="Chunk Five"/>
                <a:cs typeface="Chunk Five"/>
                <a:sym typeface="Chunk Five"/>
              </a:rPr>
              <a:t>2.Gravité et nombre de cas :</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cas graves (rouge) sont localisés principalement dans les zones urbaines ou dans les régions très peuplées.</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points de grande taille indiquent des incidents impliquant de nombreuses personnes, souvent concentrés dans quelques régions.</a:t>
            </a:r>
          </a:p>
          <a:p>
            <a:pPr algn="just">
              <a:lnSpc>
                <a:spcPts val="1959"/>
              </a:lnSpc>
            </a:pPr>
            <a:r>
              <a:rPr lang="en-US" sz="1798" spc="7">
                <a:solidFill>
                  <a:srgbClr val="8C52FF"/>
                </a:solidFill>
                <a:latin typeface="Chunk Five"/>
                <a:ea typeface="Chunk Five"/>
                <a:cs typeface="Chunk Five"/>
                <a:sym typeface="Chunk Five"/>
              </a:rPr>
              <a:t>3.Concentration :</a:t>
            </a:r>
          </a:p>
          <a:p>
            <a:pPr marL="776417" lvl="2" indent="-258806" algn="just">
              <a:lnSpc>
                <a:spcPts val="1959"/>
              </a:lnSpc>
              <a:buFont typeface="Arial"/>
              <a:buChar char="⚬"/>
            </a:pPr>
            <a:r>
              <a:rPr lang="en-US" sz="1798" spc="7">
                <a:solidFill>
                  <a:srgbClr val="3A3A3A"/>
                </a:solidFill>
                <a:latin typeface="Libre Baskerville"/>
                <a:ea typeface="Libre Baskerville"/>
                <a:cs typeface="Libre Baskerville"/>
                <a:sym typeface="Libre Baskerville"/>
              </a:rPr>
              <a:t>Les zones rurales semblent avoir moins de cas signalés, mais cela pourrait être dû à un sous-reporting.</a:t>
            </a:r>
          </a:p>
          <a:p>
            <a:pPr algn="just">
              <a:lnSpc>
                <a:spcPts val="1959"/>
              </a:lnSpc>
            </a:pPr>
            <a:endParaRPr lang="en-US" sz="1798" spc="7">
              <a:solidFill>
                <a:srgbClr val="3A3A3A"/>
              </a:solidFill>
              <a:latin typeface="Libre Baskerville"/>
              <a:ea typeface="Libre Baskerville"/>
              <a:cs typeface="Libre Baskerville"/>
              <a:sym typeface="Libre Baskerville"/>
            </a:endParaRPr>
          </a:p>
          <a:p>
            <a:pPr algn="just">
              <a:lnSpc>
                <a:spcPts val="1959"/>
              </a:lnSpc>
            </a:pPr>
            <a:endParaRPr lang="en-US" sz="1798" spc="7">
              <a:solidFill>
                <a:srgbClr val="3A3A3A"/>
              </a:solidFill>
              <a:latin typeface="Libre Baskerville"/>
              <a:ea typeface="Libre Baskerville"/>
              <a:cs typeface="Libre Baskerville"/>
              <a:sym typeface="Libre Baskervill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a:off x="9312507" y="1591233"/>
            <a:ext cx="4585189" cy="4585189"/>
          </a:xfrm>
          <a:custGeom>
            <a:avLst/>
            <a:gdLst/>
            <a:ahLst/>
            <a:cxnLst/>
            <a:rect l="l" t="t" r="r" b="b"/>
            <a:pathLst>
              <a:path w="4585189" h="4585189">
                <a:moveTo>
                  <a:pt x="0" y="0"/>
                </a:moveTo>
                <a:lnTo>
                  <a:pt x="4585189" y="0"/>
                </a:lnTo>
                <a:lnTo>
                  <a:pt x="4585189" y="4585189"/>
                </a:lnTo>
                <a:lnTo>
                  <a:pt x="0" y="4585189"/>
                </a:lnTo>
                <a:lnTo>
                  <a:pt x="0" y="0"/>
                </a:lnTo>
                <a:close/>
              </a:path>
            </a:pathLst>
          </a:custGeom>
          <a:blipFill>
            <a:blip r:embed="rId2"/>
            <a:stretch>
              <a:fillRect/>
            </a:stretch>
          </a:blipFill>
        </p:spPr>
      </p:sp>
      <p:sp>
        <p:nvSpPr>
          <p:cNvPr id="3" name="Freeform 3"/>
          <p:cNvSpPr/>
          <p:nvPr/>
        </p:nvSpPr>
        <p:spPr>
          <a:xfrm>
            <a:off x="5899587" y="512195"/>
            <a:ext cx="3644306" cy="3644306"/>
          </a:xfrm>
          <a:custGeom>
            <a:avLst/>
            <a:gdLst/>
            <a:ahLst/>
            <a:cxnLst/>
            <a:rect l="l" t="t" r="r" b="b"/>
            <a:pathLst>
              <a:path w="3644306" h="3644306">
                <a:moveTo>
                  <a:pt x="0" y="0"/>
                </a:moveTo>
                <a:lnTo>
                  <a:pt x="3644306" y="0"/>
                </a:lnTo>
                <a:lnTo>
                  <a:pt x="3644306" y="3644306"/>
                </a:lnTo>
                <a:lnTo>
                  <a:pt x="0" y="3644306"/>
                </a:lnTo>
                <a:lnTo>
                  <a:pt x="0" y="0"/>
                </a:lnTo>
                <a:close/>
              </a:path>
            </a:pathLst>
          </a:custGeom>
          <a:blipFill>
            <a:blip r:embed="rId2"/>
            <a:stretch>
              <a:fillRect/>
            </a:stretch>
          </a:blipFill>
        </p:spPr>
      </p:sp>
      <p:sp>
        <p:nvSpPr>
          <p:cNvPr id="4" name="Freeform 4"/>
          <p:cNvSpPr/>
          <p:nvPr/>
        </p:nvSpPr>
        <p:spPr>
          <a:xfrm>
            <a:off x="6085520" y="4764409"/>
            <a:ext cx="3128827" cy="3128827"/>
          </a:xfrm>
          <a:custGeom>
            <a:avLst/>
            <a:gdLst/>
            <a:ahLst/>
            <a:cxnLst/>
            <a:rect l="l" t="t" r="r" b="b"/>
            <a:pathLst>
              <a:path w="3128827" h="3128827">
                <a:moveTo>
                  <a:pt x="0" y="0"/>
                </a:moveTo>
                <a:lnTo>
                  <a:pt x="3128826" y="0"/>
                </a:lnTo>
                <a:lnTo>
                  <a:pt x="3128826" y="3128826"/>
                </a:lnTo>
                <a:lnTo>
                  <a:pt x="0" y="3128826"/>
                </a:lnTo>
                <a:lnTo>
                  <a:pt x="0" y="0"/>
                </a:lnTo>
                <a:close/>
              </a:path>
            </a:pathLst>
          </a:custGeom>
          <a:blipFill>
            <a:blip r:embed="rId2"/>
            <a:stretch>
              <a:fillRect/>
            </a:stretch>
          </a:blipFill>
        </p:spPr>
      </p:sp>
      <p:grpSp>
        <p:nvGrpSpPr>
          <p:cNvPr id="5" name="Group 5"/>
          <p:cNvGrpSpPr/>
          <p:nvPr/>
        </p:nvGrpSpPr>
        <p:grpSpPr>
          <a:xfrm>
            <a:off x="6172200" y="799532"/>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00FF"/>
            </a:solidFill>
          </p:spPr>
        </p:sp>
        <p:sp>
          <p:nvSpPr>
            <p:cNvPr id="7" name="TextBox 7"/>
            <p:cNvSpPr txBox="1"/>
            <p:nvPr/>
          </p:nvSpPr>
          <p:spPr>
            <a:xfrm>
              <a:off x="76200" y="95250"/>
              <a:ext cx="660400" cy="641350"/>
            </a:xfrm>
            <a:prstGeom prst="rect">
              <a:avLst/>
            </a:prstGeom>
          </p:spPr>
          <p:txBody>
            <a:bodyPr lIns="50800" tIns="50800" rIns="50800" bIns="50800" rtlCol="0" anchor="ctr"/>
            <a:lstStyle/>
            <a:p>
              <a:pPr algn="ctr">
                <a:lnSpc>
                  <a:spcPts val="1929"/>
                </a:lnSpc>
              </a:pPr>
              <a:endParaRPr/>
            </a:p>
          </p:txBody>
        </p:sp>
      </p:grpSp>
      <p:grpSp>
        <p:nvGrpSpPr>
          <p:cNvPr id="8" name="Group 8"/>
          <p:cNvGrpSpPr/>
          <p:nvPr/>
        </p:nvGrpSpPr>
        <p:grpSpPr>
          <a:xfrm>
            <a:off x="9655407" y="1950871"/>
            <a:ext cx="3869522" cy="386952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BDFF"/>
            </a:solidFill>
          </p:spPr>
        </p:sp>
        <p:sp>
          <p:nvSpPr>
            <p:cNvPr id="10" name="TextBox 10"/>
            <p:cNvSpPr txBox="1"/>
            <p:nvPr/>
          </p:nvSpPr>
          <p:spPr>
            <a:xfrm>
              <a:off x="76200" y="95250"/>
              <a:ext cx="660400" cy="641350"/>
            </a:xfrm>
            <a:prstGeom prst="rect">
              <a:avLst/>
            </a:prstGeom>
          </p:spPr>
          <p:txBody>
            <a:bodyPr lIns="50800" tIns="50800" rIns="50800" bIns="50800" rtlCol="0" anchor="ctr"/>
            <a:lstStyle/>
            <a:p>
              <a:pPr algn="ctr">
                <a:lnSpc>
                  <a:spcPts val="1929"/>
                </a:lnSpc>
              </a:pPr>
              <a:endParaRPr/>
            </a:p>
          </p:txBody>
        </p:sp>
      </p:grpSp>
      <p:grpSp>
        <p:nvGrpSpPr>
          <p:cNvPr id="11" name="Group 11"/>
          <p:cNvGrpSpPr/>
          <p:nvPr/>
        </p:nvGrpSpPr>
        <p:grpSpPr>
          <a:xfrm>
            <a:off x="6317719" y="4959240"/>
            <a:ext cx="2680797" cy="268079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p:spPr>
        </p:sp>
        <p:sp>
          <p:nvSpPr>
            <p:cNvPr id="13" name="TextBox 13"/>
            <p:cNvSpPr txBox="1"/>
            <p:nvPr/>
          </p:nvSpPr>
          <p:spPr>
            <a:xfrm>
              <a:off x="76200" y="95250"/>
              <a:ext cx="660400" cy="641350"/>
            </a:xfrm>
            <a:prstGeom prst="rect">
              <a:avLst/>
            </a:prstGeom>
          </p:spPr>
          <p:txBody>
            <a:bodyPr lIns="50800" tIns="50800" rIns="50800" bIns="50800" rtlCol="0" anchor="ctr"/>
            <a:lstStyle/>
            <a:p>
              <a:pPr algn="ctr">
                <a:lnSpc>
                  <a:spcPts val="1929"/>
                </a:lnSpc>
              </a:pPr>
              <a:endParaRPr/>
            </a:p>
          </p:txBody>
        </p:sp>
      </p:grpSp>
      <p:sp>
        <p:nvSpPr>
          <p:cNvPr id="14" name="TextBox 14"/>
          <p:cNvSpPr txBox="1"/>
          <p:nvPr/>
        </p:nvSpPr>
        <p:spPr>
          <a:xfrm>
            <a:off x="297934" y="1964081"/>
            <a:ext cx="5601653" cy="2488797"/>
          </a:xfrm>
          <a:prstGeom prst="rect">
            <a:avLst/>
          </a:prstGeom>
        </p:spPr>
        <p:txBody>
          <a:bodyPr lIns="0" tIns="0" rIns="0" bIns="0" rtlCol="0" anchor="t">
            <a:spAutoFit/>
          </a:bodyPr>
          <a:lstStyle/>
          <a:p>
            <a:pPr algn="just">
              <a:lnSpc>
                <a:spcPts val="2445"/>
              </a:lnSpc>
            </a:pPr>
            <a:r>
              <a:rPr lang="en-US" sz="2243" b="1" spc="8">
                <a:solidFill>
                  <a:srgbClr val="3A3A3A"/>
                </a:solidFill>
                <a:latin typeface="Codec Pro Bold"/>
                <a:ea typeface="Codec Pro Bold"/>
                <a:cs typeface="Codec Pro Bold"/>
                <a:sym typeface="Codec Pro Bold"/>
              </a:rPr>
              <a:t>Taux de Fatalité</a:t>
            </a:r>
          </a:p>
          <a:p>
            <a:pPr marL="484450" lvl="1" indent="-242225" algn="just">
              <a:lnSpc>
                <a:spcPts val="2445"/>
              </a:lnSpc>
              <a:buFont typeface="Arial"/>
              <a:buChar char="•"/>
            </a:pPr>
            <a:r>
              <a:rPr lang="en-US" sz="2243" b="1" spc="8">
                <a:solidFill>
                  <a:srgbClr val="3A3A3A"/>
                </a:solidFill>
                <a:latin typeface="Codec Pro Bold"/>
                <a:ea typeface="Codec Pro Bold"/>
                <a:cs typeface="Codec Pro Bold"/>
                <a:sym typeface="Codec Pro Bold"/>
              </a:rPr>
              <a:t>Total des décès :</a:t>
            </a:r>
            <a:r>
              <a:rPr lang="en-US" sz="2243" spc="8">
                <a:solidFill>
                  <a:srgbClr val="3A3A3A"/>
                </a:solidFill>
                <a:latin typeface="Codec Pro"/>
                <a:ea typeface="Codec Pro"/>
                <a:cs typeface="Codec Pro"/>
                <a:sym typeface="Codec Pro"/>
              </a:rPr>
              <a:t> 46.</a:t>
            </a:r>
          </a:p>
          <a:p>
            <a:pPr marL="484450" lvl="1" indent="-242225" algn="just">
              <a:lnSpc>
                <a:spcPts val="2445"/>
              </a:lnSpc>
              <a:buFont typeface="Arial"/>
              <a:buChar char="•"/>
            </a:pPr>
            <a:r>
              <a:rPr lang="en-US" sz="2243" b="1" spc="8">
                <a:solidFill>
                  <a:srgbClr val="3A3A3A"/>
                </a:solidFill>
                <a:latin typeface="Codec Pro Bold"/>
                <a:ea typeface="Codec Pro Bold"/>
                <a:cs typeface="Codec Pro Bold"/>
                <a:sym typeface="Codec Pro Bold"/>
              </a:rPr>
              <a:t>Taux de fatalité global : </a:t>
            </a:r>
            <a:r>
              <a:rPr lang="en-US" sz="2243" spc="8">
                <a:solidFill>
                  <a:srgbClr val="3A3A3A"/>
                </a:solidFill>
                <a:latin typeface="Codec Pro"/>
                <a:ea typeface="Codec Pro"/>
                <a:cs typeface="Codec Pro"/>
                <a:sym typeface="Codec Pro"/>
              </a:rPr>
              <a:t>57,5 % (46 décès pour 80 incidents).</a:t>
            </a:r>
          </a:p>
          <a:p>
            <a:pPr marL="484450" lvl="1" indent="-242225" algn="just">
              <a:lnSpc>
                <a:spcPts val="2445"/>
              </a:lnSpc>
              <a:buFont typeface="Arial"/>
              <a:buChar char="•"/>
            </a:pPr>
            <a:r>
              <a:rPr lang="en-US" sz="2243" b="1" spc="8">
                <a:solidFill>
                  <a:srgbClr val="3A3A3A"/>
                </a:solidFill>
                <a:latin typeface="Codec Pro Bold"/>
                <a:ea typeface="Codec Pro Bold"/>
                <a:cs typeface="Codec Pro Bold"/>
                <a:sym typeface="Codec Pro Bold"/>
              </a:rPr>
              <a:t>Régions avec un taux élevé de fatalité :</a:t>
            </a:r>
          </a:p>
          <a:p>
            <a:pPr marL="968901" lvl="2" indent="-322967" algn="just">
              <a:lnSpc>
                <a:spcPts val="2445"/>
              </a:lnSpc>
              <a:buFont typeface="Arial"/>
              <a:buChar char="⚬"/>
            </a:pPr>
            <a:r>
              <a:rPr lang="en-US" sz="2243" spc="8">
                <a:solidFill>
                  <a:srgbClr val="3A3A3A"/>
                </a:solidFill>
                <a:latin typeface="Codec Pro"/>
                <a:ea typeface="Codec Pro"/>
                <a:cs typeface="Codec Pro"/>
                <a:sym typeface="Codec Pro"/>
              </a:rPr>
              <a:t>Casablanca, Al Hoceïma.</a:t>
            </a:r>
          </a:p>
          <a:p>
            <a:pPr algn="just">
              <a:lnSpc>
                <a:spcPts val="2445"/>
              </a:lnSpc>
            </a:pPr>
            <a:endParaRPr lang="en-US" sz="2243" spc="8">
              <a:solidFill>
                <a:srgbClr val="3A3A3A"/>
              </a:solidFill>
              <a:latin typeface="Codec Pro"/>
              <a:ea typeface="Codec Pro"/>
              <a:cs typeface="Codec Pro"/>
              <a:sym typeface="Codec Pro"/>
            </a:endParaRPr>
          </a:p>
        </p:txBody>
      </p:sp>
      <p:sp>
        <p:nvSpPr>
          <p:cNvPr id="15" name="TextBox 15"/>
          <p:cNvSpPr txBox="1"/>
          <p:nvPr/>
        </p:nvSpPr>
        <p:spPr>
          <a:xfrm>
            <a:off x="307459" y="6566947"/>
            <a:ext cx="5787586" cy="3098351"/>
          </a:xfrm>
          <a:prstGeom prst="rect">
            <a:avLst/>
          </a:prstGeom>
        </p:spPr>
        <p:txBody>
          <a:bodyPr lIns="0" tIns="0" rIns="0" bIns="0" rtlCol="0" anchor="t">
            <a:spAutoFit/>
          </a:bodyPr>
          <a:lstStyle/>
          <a:p>
            <a:pPr algn="just">
              <a:lnSpc>
                <a:spcPts val="2442"/>
              </a:lnSpc>
            </a:pPr>
            <a:r>
              <a:rPr lang="en-US" sz="2240" b="1" spc="8">
                <a:solidFill>
                  <a:srgbClr val="3A3A3A"/>
                </a:solidFill>
                <a:latin typeface="Codec Pro Bold"/>
                <a:ea typeface="Codec Pro Bold"/>
                <a:cs typeface="Codec Pro Bold"/>
                <a:sym typeface="Codec Pro Bold"/>
              </a:rPr>
              <a:t>Total des incidents</a:t>
            </a:r>
          </a:p>
          <a:p>
            <a:pPr marL="483748" lvl="1" indent="-241874" algn="just">
              <a:lnSpc>
                <a:spcPts val="2442"/>
              </a:lnSpc>
              <a:buFont typeface="Arial"/>
              <a:buChar char="•"/>
            </a:pPr>
            <a:r>
              <a:rPr lang="en-US" sz="2240" b="1" spc="8">
                <a:solidFill>
                  <a:srgbClr val="3A3A3A"/>
                </a:solidFill>
                <a:latin typeface="Codec Pro Bold"/>
                <a:ea typeface="Codec Pro Bold"/>
                <a:cs typeface="Codec Pro Bold"/>
                <a:sym typeface="Codec Pro Bold"/>
              </a:rPr>
              <a:t>Nombre total de cas signalés :</a:t>
            </a:r>
            <a:r>
              <a:rPr lang="en-US" sz="2240" spc="8">
                <a:solidFill>
                  <a:srgbClr val="3A3A3A"/>
                </a:solidFill>
                <a:latin typeface="Codec Pro"/>
                <a:ea typeface="Codec Pro"/>
                <a:cs typeface="Codec Pro"/>
                <a:sym typeface="Codec Pro"/>
              </a:rPr>
              <a:t> 80.</a:t>
            </a:r>
          </a:p>
          <a:p>
            <a:pPr marL="483748" lvl="1" indent="-241874" algn="just">
              <a:lnSpc>
                <a:spcPts val="2442"/>
              </a:lnSpc>
              <a:buFont typeface="Arial"/>
              <a:buChar char="•"/>
            </a:pPr>
            <a:r>
              <a:rPr lang="en-US" sz="2240" b="1" spc="8">
                <a:solidFill>
                  <a:srgbClr val="3A3A3A"/>
                </a:solidFill>
                <a:latin typeface="Codec Pro Bold"/>
                <a:ea typeface="Codec Pro Bold"/>
                <a:cs typeface="Codec Pro Bold"/>
                <a:sym typeface="Codec Pro Bold"/>
              </a:rPr>
              <a:t>Distribution régionale :</a:t>
            </a:r>
          </a:p>
          <a:p>
            <a:pPr marL="967495" lvl="2" indent="-322498" algn="just">
              <a:lnSpc>
                <a:spcPts val="2442"/>
              </a:lnSpc>
              <a:buFont typeface="Arial"/>
              <a:buChar char="⚬"/>
            </a:pPr>
            <a:r>
              <a:rPr lang="en-US" sz="2240" spc="8">
                <a:solidFill>
                  <a:srgbClr val="3A3A3A"/>
                </a:solidFill>
                <a:latin typeface="Codec Pro"/>
                <a:ea typeface="Codec Pro"/>
                <a:cs typeface="Codec Pro"/>
                <a:sym typeface="Codec Pro"/>
              </a:rPr>
              <a:t>Les villes les plus touchées : Settat (156 cas), Taza (124 cas), Essaouira (114 cas).</a:t>
            </a:r>
          </a:p>
          <a:p>
            <a:pPr algn="just">
              <a:lnSpc>
                <a:spcPts val="2442"/>
              </a:lnSpc>
            </a:pPr>
            <a:r>
              <a:rPr lang="en-US" sz="2240" b="1" spc="8">
                <a:solidFill>
                  <a:srgbClr val="3A3A3A"/>
                </a:solidFill>
                <a:latin typeface="Codec Pro Bold"/>
                <a:ea typeface="Codec Pro Bold"/>
                <a:cs typeface="Codec Pro Bold"/>
                <a:sym typeface="Codec Pro Bold"/>
              </a:rPr>
              <a:t>Interprétation :</a:t>
            </a:r>
            <a:r>
              <a:rPr lang="en-US" sz="2240" spc="8">
                <a:solidFill>
                  <a:srgbClr val="3A3A3A"/>
                </a:solidFill>
                <a:latin typeface="Codec Pro"/>
                <a:ea typeface="Codec Pro"/>
                <a:cs typeface="Codec Pro"/>
                <a:sym typeface="Codec Pro"/>
              </a:rPr>
              <a:t> Une concentration élevée dans certaines villes indique un besoin de contrôles ciblés dans ces zones.</a:t>
            </a:r>
          </a:p>
          <a:p>
            <a:pPr algn="just">
              <a:lnSpc>
                <a:spcPts val="2442"/>
              </a:lnSpc>
            </a:pPr>
            <a:endParaRPr lang="en-US" sz="2240" spc="8">
              <a:solidFill>
                <a:srgbClr val="3A3A3A"/>
              </a:solidFill>
              <a:latin typeface="Codec Pro"/>
              <a:ea typeface="Codec Pro"/>
              <a:cs typeface="Codec Pro"/>
              <a:sym typeface="Codec Pro"/>
            </a:endParaRPr>
          </a:p>
        </p:txBody>
      </p:sp>
      <p:sp>
        <p:nvSpPr>
          <p:cNvPr id="16" name="TextBox 16"/>
          <p:cNvSpPr txBox="1"/>
          <p:nvPr/>
        </p:nvSpPr>
        <p:spPr>
          <a:xfrm>
            <a:off x="846088" y="1452974"/>
            <a:ext cx="3942049" cy="416784"/>
          </a:xfrm>
          <a:prstGeom prst="rect">
            <a:avLst/>
          </a:prstGeom>
        </p:spPr>
        <p:txBody>
          <a:bodyPr lIns="0" tIns="0" rIns="0" bIns="0" rtlCol="0" anchor="t">
            <a:spAutoFit/>
          </a:bodyPr>
          <a:lstStyle/>
          <a:p>
            <a:pPr algn="l">
              <a:lnSpc>
                <a:spcPts val="3210"/>
              </a:lnSpc>
            </a:pPr>
            <a:r>
              <a:rPr lang="en-US" sz="2973">
                <a:solidFill>
                  <a:srgbClr val="5900FF"/>
                </a:solidFill>
                <a:latin typeface="League Spartan"/>
                <a:ea typeface="League Spartan"/>
                <a:cs typeface="League Spartan"/>
                <a:sym typeface="League Spartan"/>
              </a:rPr>
              <a:t>TAUX DE FATALITÉ</a:t>
            </a:r>
          </a:p>
        </p:txBody>
      </p:sp>
      <p:sp>
        <p:nvSpPr>
          <p:cNvPr id="17" name="TextBox 17"/>
          <p:cNvSpPr txBox="1"/>
          <p:nvPr/>
        </p:nvSpPr>
        <p:spPr>
          <a:xfrm>
            <a:off x="846088" y="5982318"/>
            <a:ext cx="4383963" cy="416784"/>
          </a:xfrm>
          <a:prstGeom prst="rect">
            <a:avLst/>
          </a:prstGeom>
        </p:spPr>
        <p:txBody>
          <a:bodyPr lIns="0" tIns="0" rIns="0" bIns="0" rtlCol="0" anchor="t">
            <a:spAutoFit/>
          </a:bodyPr>
          <a:lstStyle/>
          <a:p>
            <a:pPr algn="l">
              <a:lnSpc>
                <a:spcPts val="3210"/>
              </a:lnSpc>
            </a:pPr>
            <a:r>
              <a:rPr lang="en-US" sz="2973">
                <a:solidFill>
                  <a:srgbClr val="5900FF"/>
                </a:solidFill>
                <a:latin typeface="League Spartan"/>
                <a:ea typeface="League Spartan"/>
                <a:cs typeface="League Spartan"/>
                <a:sym typeface="League Spartan"/>
              </a:rPr>
              <a:t>TOTAL DES INCIDENTS</a:t>
            </a:r>
          </a:p>
        </p:txBody>
      </p:sp>
      <p:sp>
        <p:nvSpPr>
          <p:cNvPr id="18" name="TextBox 18"/>
          <p:cNvSpPr txBox="1"/>
          <p:nvPr/>
        </p:nvSpPr>
        <p:spPr>
          <a:xfrm>
            <a:off x="10134408" y="3265630"/>
            <a:ext cx="3036637" cy="1540601"/>
          </a:xfrm>
          <a:prstGeom prst="rect">
            <a:avLst/>
          </a:prstGeom>
        </p:spPr>
        <p:txBody>
          <a:bodyPr lIns="0" tIns="0" rIns="0" bIns="0" rtlCol="0" anchor="t">
            <a:spAutoFit/>
          </a:bodyPr>
          <a:lstStyle/>
          <a:p>
            <a:pPr algn="ctr">
              <a:lnSpc>
                <a:spcPts val="3064"/>
              </a:lnSpc>
            </a:pPr>
            <a:r>
              <a:rPr lang="en-US" sz="2974">
                <a:solidFill>
                  <a:srgbClr val="FFFFFF"/>
                </a:solidFill>
                <a:latin typeface="League Spartan"/>
                <a:ea typeface="League Spartan"/>
                <a:cs typeface="League Spartan"/>
                <a:sym typeface="League Spartan"/>
              </a:rPr>
              <a:t>Personnes Hospitalisées</a:t>
            </a:r>
          </a:p>
          <a:p>
            <a:pPr algn="ctr">
              <a:lnSpc>
                <a:spcPts val="3064"/>
              </a:lnSpc>
            </a:pPr>
            <a:r>
              <a:rPr lang="en-US" sz="2974">
                <a:solidFill>
                  <a:srgbClr val="EAFAB2"/>
                </a:solidFill>
                <a:latin typeface="League Spartan"/>
                <a:ea typeface="League Spartan"/>
                <a:cs typeface="League Spartan"/>
                <a:sym typeface="League Spartan"/>
              </a:rPr>
              <a:t>940</a:t>
            </a:r>
          </a:p>
          <a:p>
            <a:pPr algn="ctr">
              <a:lnSpc>
                <a:spcPts val="3064"/>
              </a:lnSpc>
            </a:pPr>
            <a:endParaRPr lang="en-US" sz="2974">
              <a:solidFill>
                <a:srgbClr val="EAFAB2"/>
              </a:solidFill>
              <a:latin typeface="League Spartan"/>
              <a:ea typeface="League Spartan"/>
              <a:cs typeface="League Spartan"/>
              <a:sym typeface="League Spartan"/>
            </a:endParaRPr>
          </a:p>
        </p:txBody>
      </p:sp>
      <p:sp>
        <p:nvSpPr>
          <p:cNvPr id="19" name="TextBox 19"/>
          <p:cNvSpPr txBox="1"/>
          <p:nvPr/>
        </p:nvSpPr>
        <p:spPr>
          <a:xfrm>
            <a:off x="6479609" y="5825865"/>
            <a:ext cx="2288050" cy="1272235"/>
          </a:xfrm>
          <a:prstGeom prst="rect">
            <a:avLst/>
          </a:prstGeom>
        </p:spPr>
        <p:txBody>
          <a:bodyPr lIns="0" tIns="0" rIns="0" bIns="0" rtlCol="0" anchor="t">
            <a:spAutoFit/>
          </a:bodyPr>
          <a:lstStyle/>
          <a:p>
            <a:pPr algn="ctr">
              <a:lnSpc>
                <a:spcPts val="2530"/>
              </a:lnSpc>
            </a:pPr>
            <a:r>
              <a:rPr lang="en-US" sz="2456">
                <a:solidFill>
                  <a:srgbClr val="FFFFFF"/>
                </a:solidFill>
                <a:latin typeface="League Spartan"/>
                <a:ea typeface="League Spartan"/>
                <a:cs typeface="League Spartan"/>
                <a:sym typeface="League Spartan"/>
              </a:rPr>
              <a:t>Total des Incidents</a:t>
            </a:r>
          </a:p>
          <a:p>
            <a:pPr algn="ctr">
              <a:lnSpc>
                <a:spcPts val="2530"/>
              </a:lnSpc>
            </a:pPr>
            <a:r>
              <a:rPr lang="en-US" sz="2456">
                <a:solidFill>
                  <a:srgbClr val="EAFAB2"/>
                </a:solidFill>
                <a:latin typeface="League Spartan"/>
                <a:ea typeface="League Spartan"/>
                <a:cs typeface="League Spartan"/>
                <a:sym typeface="League Spartan"/>
              </a:rPr>
              <a:t>80</a:t>
            </a:r>
          </a:p>
          <a:p>
            <a:pPr algn="ctr">
              <a:lnSpc>
                <a:spcPts val="2530"/>
              </a:lnSpc>
            </a:pPr>
            <a:endParaRPr lang="en-US" sz="2456">
              <a:solidFill>
                <a:srgbClr val="EAFAB2"/>
              </a:solidFill>
              <a:latin typeface="League Spartan"/>
              <a:ea typeface="League Spartan"/>
              <a:cs typeface="League Spartan"/>
              <a:sym typeface="League Spartan"/>
            </a:endParaRPr>
          </a:p>
        </p:txBody>
      </p:sp>
      <p:sp>
        <p:nvSpPr>
          <p:cNvPr id="20" name="TextBox 20"/>
          <p:cNvSpPr txBox="1"/>
          <p:nvPr/>
        </p:nvSpPr>
        <p:spPr>
          <a:xfrm>
            <a:off x="6431984" y="1751853"/>
            <a:ext cx="2566531" cy="1382070"/>
          </a:xfrm>
          <a:prstGeom prst="rect">
            <a:avLst/>
          </a:prstGeom>
        </p:spPr>
        <p:txBody>
          <a:bodyPr lIns="0" tIns="0" rIns="0" bIns="0" rtlCol="0" anchor="t">
            <a:spAutoFit/>
          </a:bodyPr>
          <a:lstStyle/>
          <a:p>
            <a:pPr algn="ctr">
              <a:lnSpc>
                <a:spcPts val="2771"/>
              </a:lnSpc>
            </a:pPr>
            <a:r>
              <a:rPr lang="en-US" sz="2690">
                <a:solidFill>
                  <a:srgbClr val="FFFFFF"/>
                </a:solidFill>
                <a:latin typeface="League Spartan"/>
                <a:ea typeface="League Spartan"/>
                <a:cs typeface="League Spartan"/>
                <a:sym typeface="League Spartan"/>
              </a:rPr>
              <a:t>Taux de Fatalité</a:t>
            </a:r>
          </a:p>
          <a:p>
            <a:pPr algn="ctr">
              <a:lnSpc>
                <a:spcPts val="2771"/>
              </a:lnSpc>
            </a:pPr>
            <a:r>
              <a:rPr lang="en-US" sz="2690">
                <a:solidFill>
                  <a:srgbClr val="EAFAB2"/>
                </a:solidFill>
                <a:latin typeface="League Spartan"/>
                <a:ea typeface="League Spartan"/>
                <a:cs typeface="League Spartan"/>
                <a:sym typeface="League Spartan"/>
              </a:rPr>
              <a:t>57.5%</a:t>
            </a:r>
          </a:p>
          <a:p>
            <a:pPr algn="ctr">
              <a:lnSpc>
                <a:spcPts val="2771"/>
              </a:lnSpc>
            </a:pPr>
            <a:endParaRPr lang="en-US" sz="2690">
              <a:solidFill>
                <a:srgbClr val="EAFAB2"/>
              </a:solidFill>
              <a:latin typeface="League Spartan"/>
              <a:ea typeface="League Spartan"/>
              <a:cs typeface="League Spartan"/>
              <a:sym typeface="League Spartan"/>
            </a:endParaRPr>
          </a:p>
        </p:txBody>
      </p:sp>
      <p:sp>
        <p:nvSpPr>
          <p:cNvPr id="21" name="TextBox 21"/>
          <p:cNvSpPr txBox="1"/>
          <p:nvPr/>
        </p:nvSpPr>
        <p:spPr>
          <a:xfrm>
            <a:off x="14011996" y="2317089"/>
            <a:ext cx="3942049" cy="816834"/>
          </a:xfrm>
          <a:prstGeom prst="rect">
            <a:avLst/>
          </a:prstGeom>
        </p:spPr>
        <p:txBody>
          <a:bodyPr lIns="0" tIns="0" rIns="0" bIns="0" rtlCol="0" anchor="t">
            <a:spAutoFit/>
          </a:bodyPr>
          <a:lstStyle/>
          <a:p>
            <a:pPr algn="l">
              <a:lnSpc>
                <a:spcPts val="3210"/>
              </a:lnSpc>
            </a:pPr>
            <a:r>
              <a:rPr lang="en-US" sz="2973">
                <a:solidFill>
                  <a:srgbClr val="5900FF"/>
                </a:solidFill>
                <a:latin typeface="League Spartan"/>
                <a:ea typeface="League Spartan"/>
                <a:cs typeface="League Spartan"/>
                <a:sym typeface="League Spartan"/>
              </a:rPr>
              <a:t>PERSONNES HOSPITALISÉES</a:t>
            </a:r>
          </a:p>
        </p:txBody>
      </p:sp>
      <p:sp>
        <p:nvSpPr>
          <p:cNvPr id="22" name="TextBox 22"/>
          <p:cNvSpPr txBox="1"/>
          <p:nvPr/>
        </p:nvSpPr>
        <p:spPr>
          <a:xfrm>
            <a:off x="11590168" y="6157372"/>
            <a:ext cx="6306727" cy="3707951"/>
          </a:xfrm>
          <a:prstGeom prst="rect">
            <a:avLst/>
          </a:prstGeom>
        </p:spPr>
        <p:txBody>
          <a:bodyPr lIns="0" tIns="0" rIns="0" bIns="0" rtlCol="0" anchor="t">
            <a:spAutoFit/>
          </a:bodyPr>
          <a:lstStyle/>
          <a:p>
            <a:pPr marL="483748" lvl="1" indent="-241874" algn="just">
              <a:lnSpc>
                <a:spcPts val="2442"/>
              </a:lnSpc>
              <a:buFont typeface="Arial"/>
              <a:buChar char="•"/>
            </a:pPr>
            <a:r>
              <a:rPr lang="en-US" sz="2240" b="1" spc="8">
                <a:solidFill>
                  <a:srgbClr val="3A3A3A"/>
                </a:solidFill>
                <a:latin typeface="Codec Pro Bold"/>
                <a:ea typeface="Codec Pro Bold"/>
                <a:cs typeface="Codec Pro Bold"/>
                <a:sym typeface="Codec Pro Bold"/>
              </a:rPr>
              <a:t>Total : </a:t>
            </a:r>
            <a:r>
              <a:rPr lang="en-US" sz="2240" spc="8">
                <a:solidFill>
                  <a:srgbClr val="3A3A3A"/>
                </a:solidFill>
                <a:latin typeface="Codec Pro"/>
                <a:ea typeface="Codec Pro"/>
                <a:cs typeface="Codec Pro"/>
                <a:sym typeface="Codec Pro"/>
              </a:rPr>
              <a:t>940 hospitalisations.</a:t>
            </a:r>
          </a:p>
          <a:p>
            <a:pPr marL="483748" lvl="1" indent="-241874" algn="just">
              <a:lnSpc>
                <a:spcPts val="2442"/>
              </a:lnSpc>
              <a:buFont typeface="Arial"/>
              <a:buChar char="•"/>
            </a:pPr>
            <a:r>
              <a:rPr lang="en-US" sz="2240" b="1" spc="8">
                <a:solidFill>
                  <a:srgbClr val="3A3A3A"/>
                </a:solidFill>
                <a:latin typeface="Codec Pro Bold"/>
                <a:ea typeface="Codec Pro Bold"/>
                <a:cs typeface="Codec Pro Bold"/>
                <a:sym typeface="Codec Pro Bold"/>
              </a:rPr>
              <a:t>Hospitalisations moyennes par incident :</a:t>
            </a:r>
            <a:r>
              <a:rPr lang="en-US" sz="2240" spc="8">
                <a:solidFill>
                  <a:srgbClr val="3A3A3A"/>
                </a:solidFill>
                <a:latin typeface="Codec Pro"/>
                <a:ea typeface="Codec Pro"/>
                <a:cs typeface="Codec Pro"/>
                <a:sym typeface="Codec Pro"/>
              </a:rPr>
              <a:t> 11,75.</a:t>
            </a:r>
          </a:p>
          <a:p>
            <a:pPr marL="483748" lvl="1" indent="-241874" algn="just">
              <a:lnSpc>
                <a:spcPts val="2442"/>
              </a:lnSpc>
              <a:buFont typeface="Arial"/>
              <a:buChar char="•"/>
            </a:pPr>
            <a:r>
              <a:rPr lang="en-US" sz="2240" b="1" spc="8">
                <a:solidFill>
                  <a:srgbClr val="3A3A3A"/>
                </a:solidFill>
                <a:latin typeface="Codec Pro Bold"/>
                <a:ea typeface="Codec Pro Bold"/>
                <a:cs typeface="Codec Pro Bold"/>
                <a:sym typeface="Codec Pro Bold"/>
              </a:rPr>
              <a:t>Régions avec le plus grand nombre d'hospitalisations :</a:t>
            </a:r>
          </a:p>
          <a:p>
            <a:pPr marL="967495" lvl="2" indent="-322498" algn="just">
              <a:lnSpc>
                <a:spcPts val="2442"/>
              </a:lnSpc>
              <a:buFont typeface="Arial"/>
              <a:buChar char="⚬"/>
            </a:pPr>
            <a:r>
              <a:rPr lang="en-US" sz="2240" spc="8">
                <a:solidFill>
                  <a:srgbClr val="3A3A3A"/>
                </a:solidFill>
                <a:latin typeface="Codec Pro"/>
                <a:ea typeface="Codec Pro"/>
                <a:cs typeface="Codec Pro"/>
                <a:sym typeface="Codec Pro"/>
              </a:rPr>
              <a:t>Settat, Essaouira, et Taza enregistrent les taux les plus élevés.</a:t>
            </a:r>
          </a:p>
          <a:p>
            <a:pPr algn="just">
              <a:lnSpc>
                <a:spcPts val="2442"/>
              </a:lnSpc>
            </a:pPr>
            <a:r>
              <a:rPr lang="en-US" sz="2240" spc="8">
                <a:solidFill>
                  <a:srgbClr val="3A3A3A"/>
                </a:solidFill>
                <a:latin typeface="Codec Pro"/>
                <a:ea typeface="Codec Pro"/>
                <a:cs typeface="Codec Pro"/>
                <a:sym typeface="Codec Pro"/>
              </a:rPr>
              <a:t>I</a:t>
            </a:r>
            <a:r>
              <a:rPr lang="en-US" sz="2240" b="1" spc="8">
                <a:solidFill>
                  <a:srgbClr val="3A3A3A"/>
                </a:solidFill>
                <a:latin typeface="Codec Pro Bold"/>
                <a:ea typeface="Codec Pro Bold"/>
                <a:cs typeface="Codec Pro Bold"/>
                <a:sym typeface="Codec Pro Bold"/>
              </a:rPr>
              <a:t>nterprétation :</a:t>
            </a:r>
            <a:r>
              <a:rPr lang="en-US" sz="2240" spc="8">
                <a:solidFill>
                  <a:srgbClr val="3A3A3A"/>
                </a:solidFill>
                <a:latin typeface="Codec Pro"/>
                <a:ea typeface="Codec Pro"/>
                <a:cs typeface="Codec Pro"/>
                <a:sym typeface="Codec Pro"/>
              </a:rPr>
              <a:t> Une charge importante pour les systèmes de santé, nécessitant une amélioration des pratiques alimentaires pour réduire les hospitalisations.</a:t>
            </a:r>
          </a:p>
          <a:p>
            <a:pPr algn="just">
              <a:lnSpc>
                <a:spcPts val="2442"/>
              </a:lnSpc>
            </a:pPr>
            <a:endParaRPr lang="en-US" sz="2240" spc="8">
              <a:solidFill>
                <a:srgbClr val="3A3A3A"/>
              </a:solidFill>
              <a:latin typeface="Codec Pro"/>
              <a:ea typeface="Codec Pro"/>
              <a:cs typeface="Codec Pro"/>
              <a:sym typeface="Codec Pr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302357" y="8400781"/>
            <a:ext cx="9206373" cy="3086100"/>
            <a:chOff x="0" y="0"/>
            <a:chExt cx="2424724" cy="812800"/>
          </a:xfrm>
        </p:grpSpPr>
        <p:sp>
          <p:nvSpPr>
            <p:cNvPr id="3" name="Freeform 3"/>
            <p:cNvSpPr/>
            <p:nvPr/>
          </p:nvSpPr>
          <p:spPr>
            <a:xfrm>
              <a:off x="0" y="0"/>
              <a:ext cx="2424724" cy="812800"/>
            </a:xfrm>
            <a:custGeom>
              <a:avLst/>
              <a:gdLst/>
              <a:ahLst/>
              <a:cxnLst/>
              <a:rect l="l" t="t" r="r" b="b"/>
              <a:pathLst>
                <a:path w="2424724" h="812800">
                  <a:moveTo>
                    <a:pt x="0" y="0"/>
                  </a:moveTo>
                  <a:lnTo>
                    <a:pt x="2424724" y="0"/>
                  </a:lnTo>
                  <a:lnTo>
                    <a:pt x="2424724" y="812800"/>
                  </a:lnTo>
                  <a:lnTo>
                    <a:pt x="0" y="812800"/>
                  </a:lnTo>
                  <a:close/>
                </a:path>
              </a:pathLst>
            </a:custGeom>
            <a:solidFill>
              <a:srgbClr val="3A3A3A"/>
            </a:solidFill>
          </p:spPr>
        </p:sp>
        <p:sp>
          <p:nvSpPr>
            <p:cNvPr id="4" name="TextBox 4"/>
            <p:cNvSpPr txBox="1"/>
            <p:nvPr/>
          </p:nvSpPr>
          <p:spPr>
            <a:xfrm>
              <a:off x="0" y="19050"/>
              <a:ext cx="2424724" cy="793750"/>
            </a:xfrm>
            <a:prstGeom prst="rect">
              <a:avLst/>
            </a:prstGeom>
          </p:spPr>
          <p:txBody>
            <a:bodyPr lIns="50800" tIns="50800" rIns="50800" bIns="50800" rtlCol="0" anchor="ctr"/>
            <a:lstStyle/>
            <a:p>
              <a:pPr algn="ctr">
                <a:lnSpc>
                  <a:spcPts val="1929"/>
                </a:lnSpc>
              </a:pPr>
              <a:endParaRPr/>
            </a:p>
          </p:txBody>
        </p:sp>
      </p:grpSp>
      <p:grpSp>
        <p:nvGrpSpPr>
          <p:cNvPr id="5" name="Group 5"/>
          <p:cNvGrpSpPr/>
          <p:nvPr/>
        </p:nvGrpSpPr>
        <p:grpSpPr>
          <a:xfrm>
            <a:off x="0" y="0"/>
            <a:ext cx="8904016" cy="10287000"/>
            <a:chOff x="0" y="0"/>
            <a:chExt cx="2345091" cy="2709333"/>
          </a:xfrm>
        </p:grpSpPr>
        <p:sp>
          <p:nvSpPr>
            <p:cNvPr id="6" name="Freeform 6"/>
            <p:cNvSpPr/>
            <p:nvPr/>
          </p:nvSpPr>
          <p:spPr>
            <a:xfrm>
              <a:off x="0" y="0"/>
              <a:ext cx="2345091" cy="2709333"/>
            </a:xfrm>
            <a:custGeom>
              <a:avLst/>
              <a:gdLst/>
              <a:ahLst/>
              <a:cxnLst/>
              <a:rect l="l" t="t" r="r" b="b"/>
              <a:pathLst>
                <a:path w="2345091" h="2709333">
                  <a:moveTo>
                    <a:pt x="0" y="0"/>
                  </a:moveTo>
                  <a:lnTo>
                    <a:pt x="2345091" y="0"/>
                  </a:lnTo>
                  <a:lnTo>
                    <a:pt x="2345091" y="2709333"/>
                  </a:lnTo>
                  <a:lnTo>
                    <a:pt x="0" y="2709333"/>
                  </a:lnTo>
                  <a:close/>
                </a:path>
              </a:pathLst>
            </a:custGeom>
            <a:solidFill>
              <a:srgbClr val="EAFAB2"/>
            </a:solidFill>
            <a:ln cap="sq">
              <a:noFill/>
              <a:prstDash val="solid"/>
              <a:miter/>
            </a:ln>
          </p:spPr>
        </p:sp>
        <p:sp>
          <p:nvSpPr>
            <p:cNvPr id="7" name="TextBox 7"/>
            <p:cNvSpPr txBox="1"/>
            <p:nvPr/>
          </p:nvSpPr>
          <p:spPr>
            <a:xfrm>
              <a:off x="0" y="19050"/>
              <a:ext cx="2345091" cy="2690283"/>
            </a:xfrm>
            <a:prstGeom prst="rect">
              <a:avLst/>
            </a:prstGeom>
          </p:spPr>
          <p:txBody>
            <a:bodyPr lIns="50800" tIns="50800" rIns="50800" bIns="50800" rtlCol="0" anchor="ctr"/>
            <a:lstStyle/>
            <a:p>
              <a:pPr algn="ctr">
                <a:lnSpc>
                  <a:spcPts val="1929"/>
                </a:lnSpc>
              </a:pPr>
              <a:endParaRPr/>
            </a:p>
          </p:txBody>
        </p:sp>
      </p:grpSp>
      <p:pic>
        <p:nvPicPr>
          <p:cNvPr id="8" name="Picture 8"/>
          <p:cNvPicPr>
            <a:picLocks noChangeAspect="1"/>
          </p:cNvPicPr>
          <p:nvPr/>
        </p:nvPicPr>
        <p:blipFill>
          <a:blip r:embed="rId2"/>
          <a:stretch>
            <a:fillRect/>
          </a:stretch>
        </p:blipFill>
        <p:spPr>
          <a:xfrm>
            <a:off x="9041339" y="2460077"/>
            <a:ext cx="8797459" cy="6904562"/>
          </a:xfrm>
          <a:prstGeom prst="rect">
            <a:avLst/>
          </a:prstGeom>
        </p:spPr>
      </p:pic>
      <p:sp>
        <p:nvSpPr>
          <p:cNvPr id="9" name="TextBox 9"/>
          <p:cNvSpPr txBox="1"/>
          <p:nvPr/>
        </p:nvSpPr>
        <p:spPr>
          <a:xfrm>
            <a:off x="386509" y="1238250"/>
            <a:ext cx="8089181" cy="1749198"/>
          </a:xfrm>
          <a:prstGeom prst="rect">
            <a:avLst/>
          </a:prstGeom>
        </p:spPr>
        <p:txBody>
          <a:bodyPr lIns="0" tIns="0" rIns="0" bIns="0" rtlCol="0" anchor="t">
            <a:spAutoFit/>
          </a:bodyPr>
          <a:lstStyle/>
          <a:p>
            <a:pPr algn="l">
              <a:lnSpc>
                <a:spcPts val="6669"/>
              </a:lnSpc>
            </a:pPr>
            <a:r>
              <a:rPr lang="en-US" sz="7410">
                <a:solidFill>
                  <a:srgbClr val="000000"/>
                </a:solidFill>
                <a:latin typeface="League Spartan"/>
                <a:ea typeface="League Spartan"/>
                <a:cs typeface="League Spartan"/>
                <a:sym typeface="League Spartan"/>
              </a:rPr>
              <a:t>OBSERVATIONS</a:t>
            </a:r>
          </a:p>
          <a:p>
            <a:pPr algn="l">
              <a:lnSpc>
                <a:spcPts val="6669"/>
              </a:lnSpc>
            </a:pPr>
            <a:endParaRPr lang="en-US" sz="7410">
              <a:solidFill>
                <a:srgbClr val="000000"/>
              </a:solidFill>
              <a:latin typeface="League Spartan"/>
              <a:ea typeface="League Spartan"/>
              <a:cs typeface="League Spartan"/>
              <a:sym typeface="League Spartan"/>
            </a:endParaRPr>
          </a:p>
        </p:txBody>
      </p:sp>
      <p:sp>
        <p:nvSpPr>
          <p:cNvPr id="10" name="TextBox 10"/>
          <p:cNvSpPr txBox="1"/>
          <p:nvPr/>
        </p:nvSpPr>
        <p:spPr>
          <a:xfrm>
            <a:off x="625983" y="3462570"/>
            <a:ext cx="7849707" cy="3507303"/>
          </a:xfrm>
          <a:prstGeom prst="rect">
            <a:avLst/>
          </a:prstGeom>
        </p:spPr>
        <p:txBody>
          <a:bodyPr lIns="0" tIns="0" rIns="0" bIns="0" rtlCol="0" anchor="t">
            <a:spAutoFit/>
          </a:bodyPr>
          <a:lstStyle/>
          <a:p>
            <a:pPr algn="just">
              <a:lnSpc>
                <a:spcPts val="2502"/>
              </a:lnSpc>
            </a:pPr>
            <a:r>
              <a:rPr lang="en-US" sz="2295" b="1" spc="9">
                <a:solidFill>
                  <a:srgbClr val="000000"/>
                </a:solidFill>
                <a:latin typeface="Codec Pro Bold"/>
                <a:ea typeface="Codec Pro Bold"/>
                <a:cs typeface="Codec Pro Bold"/>
                <a:sym typeface="Codec Pro Bold"/>
              </a:rPr>
              <a:t>Aliments les plus suspects :</a:t>
            </a:r>
          </a:p>
          <a:p>
            <a:pPr marL="905054" lvl="2" indent="-301685" algn="just">
              <a:lnSpc>
                <a:spcPts val="2284"/>
              </a:lnSpc>
              <a:buFont typeface="Arial"/>
              <a:buChar char="⚬"/>
            </a:pPr>
            <a:r>
              <a:rPr lang="en-US" sz="2096" spc="8">
                <a:solidFill>
                  <a:srgbClr val="000000"/>
                </a:solidFill>
                <a:latin typeface="Codec Pro"/>
                <a:ea typeface="Codec Pro"/>
                <a:cs typeface="Codec Pro"/>
                <a:sym typeface="Codec Pro"/>
              </a:rPr>
              <a:t>Le poisson avarié (452cas)est impliqué dans environ 27% des incidents, suivi par le poulet mal cuit (446cas) et la salade contaminée.</a:t>
            </a:r>
          </a:p>
          <a:p>
            <a:pPr marL="905054" lvl="2" indent="-301685" algn="just">
              <a:lnSpc>
                <a:spcPts val="2284"/>
              </a:lnSpc>
              <a:buFont typeface="Arial"/>
              <a:buChar char="⚬"/>
            </a:pPr>
            <a:r>
              <a:rPr lang="en-US" sz="2096" spc="8">
                <a:solidFill>
                  <a:srgbClr val="000000"/>
                </a:solidFill>
                <a:latin typeface="Codec Pro"/>
                <a:ea typeface="Codec Pro"/>
                <a:cs typeface="Codec Pro"/>
                <a:sym typeface="Codec Pro"/>
              </a:rPr>
              <a:t>Les desserts non réfrigérés sont également responsables de plusieurs incidents.</a:t>
            </a:r>
          </a:p>
          <a:p>
            <a:pPr algn="just">
              <a:lnSpc>
                <a:spcPts val="2284"/>
              </a:lnSpc>
            </a:pPr>
            <a:endParaRPr lang="en-US" sz="2096" spc="8">
              <a:solidFill>
                <a:srgbClr val="000000"/>
              </a:solidFill>
              <a:latin typeface="Codec Pro"/>
              <a:ea typeface="Codec Pro"/>
              <a:cs typeface="Codec Pro"/>
              <a:sym typeface="Codec Pro"/>
            </a:endParaRPr>
          </a:p>
          <a:p>
            <a:pPr algn="just">
              <a:lnSpc>
                <a:spcPts val="2284"/>
              </a:lnSpc>
            </a:pPr>
            <a:endParaRPr lang="en-US" sz="2096" spc="8">
              <a:solidFill>
                <a:srgbClr val="000000"/>
              </a:solidFill>
              <a:latin typeface="Codec Pro"/>
              <a:ea typeface="Codec Pro"/>
              <a:cs typeface="Codec Pro"/>
              <a:sym typeface="Codec Pro"/>
            </a:endParaRPr>
          </a:p>
          <a:p>
            <a:pPr algn="just">
              <a:lnSpc>
                <a:spcPts val="2284"/>
              </a:lnSpc>
            </a:pPr>
            <a:r>
              <a:rPr lang="en-US" sz="2096" b="1" spc="8">
                <a:solidFill>
                  <a:srgbClr val="000000"/>
                </a:solidFill>
                <a:latin typeface="Codec Pro Bold"/>
                <a:ea typeface="Codec Pro Bold"/>
                <a:cs typeface="Codec Pro Bold"/>
                <a:sym typeface="Codec Pro Bold"/>
              </a:rPr>
              <a:t>Tendances spécifiques :</a:t>
            </a:r>
          </a:p>
          <a:p>
            <a:pPr marL="905054" lvl="2" indent="-301685" algn="just">
              <a:lnSpc>
                <a:spcPts val="2284"/>
              </a:lnSpc>
              <a:buFont typeface="Arial"/>
              <a:buChar char="⚬"/>
            </a:pPr>
            <a:r>
              <a:rPr lang="en-US" sz="2096" spc="8">
                <a:solidFill>
                  <a:srgbClr val="000000"/>
                </a:solidFill>
                <a:latin typeface="DM Sans"/>
                <a:ea typeface="DM Sans"/>
                <a:cs typeface="DM Sans"/>
                <a:sym typeface="DM Sans"/>
              </a:rPr>
              <a:t>Les aliments crus ou mal conservés sont les principales causes des intoxications signalées.</a:t>
            </a:r>
          </a:p>
          <a:p>
            <a:pPr algn="just">
              <a:lnSpc>
                <a:spcPts val="2284"/>
              </a:lnSpc>
            </a:pPr>
            <a:endParaRPr lang="en-US" sz="2096" spc="8">
              <a:solidFill>
                <a:srgbClr val="000000"/>
              </a:solidFill>
              <a:latin typeface="DM Sans"/>
              <a:ea typeface="DM Sans"/>
              <a:cs typeface="DM Sans"/>
              <a:sym typeface="DM Sans"/>
            </a:endParaRPr>
          </a:p>
        </p:txBody>
      </p:sp>
      <p:sp>
        <p:nvSpPr>
          <p:cNvPr id="11" name="TextBox 11"/>
          <p:cNvSpPr txBox="1"/>
          <p:nvPr/>
        </p:nvSpPr>
        <p:spPr>
          <a:xfrm>
            <a:off x="10363121" y="1420781"/>
            <a:ext cx="5394067" cy="797370"/>
          </a:xfrm>
          <a:prstGeom prst="rect">
            <a:avLst/>
          </a:prstGeom>
        </p:spPr>
        <p:txBody>
          <a:bodyPr lIns="0" tIns="0" rIns="0" bIns="0" rtlCol="0" anchor="t">
            <a:spAutoFit/>
          </a:bodyPr>
          <a:lstStyle/>
          <a:p>
            <a:pPr algn="l">
              <a:lnSpc>
                <a:spcPts val="3035"/>
              </a:lnSpc>
            </a:pPr>
            <a:r>
              <a:rPr lang="en-US" sz="3373">
                <a:solidFill>
                  <a:srgbClr val="3A3A3A"/>
                </a:solidFill>
                <a:latin typeface="League Spartan"/>
                <a:ea typeface="League Spartan"/>
                <a:cs typeface="League Spartan"/>
                <a:sym typeface="League Spartan"/>
              </a:rPr>
              <a:t>GRAPHIQUE DES ALIMENTS SUSPECTÉS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302357" y="8400781"/>
            <a:ext cx="9206373" cy="3086100"/>
            <a:chOff x="0" y="0"/>
            <a:chExt cx="2424724" cy="812800"/>
          </a:xfrm>
        </p:grpSpPr>
        <p:sp>
          <p:nvSpPr>
            <p:cNvPr id="3" name="Freeform 3"/>
            <p:cNvSpPr/>
            <p:nvPr/>
          </p:nvSpPr>
          <p:spPr>
            <a:xfrm>
              <a:off x="0" y="0"/>
              <a:ext cx="2424724" cy="812800"/>
            </a:xfrm>
            <a:custGeom>
              <a:avLst/>
              <a:gdLst/>
              <a:ahLst/>
              <a:cxnLst/>
              <a:rect l="l" t="t" r="r" b="b"/>
              <a:pathLst>
                <a:path w="2424724" h="812800">
                  <a:moveTo>
                    <a:pt x="0" y="0"/>
                  </a:moveTo>
                  <a:lnTo>
                    <a:pt x="2424724" y="0"/>
                  </a:lnTo>
                  <a:lnTo>
                    <a:pt x="2424724" y="812800"/>
                  </a:lnTo>
                  <a:lnTo>
                    <a:pt x="0" y="812800"/>
                  </a:lnTo>
                  <a:close/>
                </a:path>
              </a:pathLst>
            </a:custGeom>
            <a:solidFill>
              <a:srgbClr val="3A3A3A"/>
            </a:solidFill>
          </p:spPr>
        </p:sp>
        <p:sp>
          <p:nvSpPr>
            <p:cNvPr id="4" name="TextBox 4"/>
            <p:cNvSpPr txBox="1"/>
            <p:nvPr/>
          </p:nvSpPr>
          <p:spPr>
            <a:xfrm>
              <a:off x="0" y="19050"/>
              <a:ext cx="2424724" cy="793750"/>
            </a:xfrm>
            <a:prstGeom prst="rect">
              <a:avLst/>
            </a:prstGeom>
          </p:spPr>
          <p:txBody>
            <a:bodyPr lIns="50800" tIns="50800" rIns="50800" bIns="50800" rtlCol="0" anchor="ctr"/>
            <a:lstStyle/>
            <a:p>
              <a:pPr algn="ctr">
                <a:lnSpc>
                  <a:spcPts val="1929"/>
                </a:lnSpc>
              </a:pPr>
              <a:endParaRPr/>
            </a:p>
          </p:txBody>
        </p:sp>
      </p:grpSp>
      <p:grpSp>
        <p:nvGrpSpPr>
          <p:cNvPr id="5" name="Group 5"/>
          <p:cNvGrpSpPr/>
          <p:nvPr/>
        </p:nvGrpSpPr>
        <p:grpSpPr>
          <a:xfrm>
            <a:off x="0" y="0"/>
            <a:ext cx="8904016" cy="10287000"/>
            <a:chOff x="0" y="0"/>
            <a:chExt cx="2345091" cy="2709333"/>
          </a:xfrm>
        </p:grpSpPr>
        <p:sp>
          <p:nvSpPr>
            <p:cNvPr id="6" name="Freeform 6"/>
            <p:cNvSpPr/>
            <p:nvPr/>
          </p:nvSpPr>
          <p:spPr>
            <a:xfrm>
              <a:off x="0" y="0"/>
              <a:ext cx="2345091" cy="2709333"/>
            </a:xfrm>
            <a:custGeom>
              <a:avLst/>
              <a:gdLst/>
              <a:ahLst/>
              <a:cxnLst/>
              <a:rect l="l" t="t" r="r" b="b"/>
              <a:pathLst>
                <a:path w="2345091" h="2709333">
                  <a:moveTo>
                    <a:pt x="0" y="0"/>
                  </a:moveTo>
                  <a:lnTo>
                    <a:pt x="2345091" y="0"/>
                  </a:lnTo>
                  <a:lnTo>
                    <a:pt x="2345091" y="2709333"/>
                  </a:lnTo>
                  <a:lnTo>
                    <a:pt x="0" y="2709333"/>
                  </a:lnTo>
                  <a:close/>
                </a:path>
              </a:pathLst>
            </a:custGeom>
            <a:solidFill>
              <a:srgbClr val="EAFAB2"/>
            </a:solidFill>
            <a:ln cap="sq">
              <a:noFill/>
              <a:prstDash val="solid"/>
              <a:miter/>
            </a:ln>
          </p:spPr>
        </p:sp>
        <p:sp>
          <p:nvSpPr>
            <p:cNvPr id="7" name="TextBox 7"/>
            <p:cNvSpPr txBox="1"/>
            <p:nvPr/>
          </p:nvSpPr>
          <p:spPr>
            <a:xfrm>
              <a:off x="0" y="19050"/>
              <a:ext cx="2345091" cy="2690283"/>
            </a:xfrm>
            <a:prstGeom prst="rect">
              <a:avLst/>
            </a:prstGeom>
          </p:spPr>
          <p:txBody>
            <a:bodyPr lIns="50800" tIns="50800" rIns="50800" bIns="50800" rtlCol="0" anchor="ctr"/>
            <a:lstStyle/>
            <a:p>
              <a:pPr algn="ctr">
                <a:lnSpc>
                  <a:spcPts val="1929"/>
                </a:lnSpc>
              </a:pPr>
              <a:endParaRPr/>
            </a:p>
          </p:txBody>
        </p:sp>
      </p:grpSp>
      <p:sp>
        <p:nvSpPr>
          <p:cNvPr id="8" name="Freeform 8"/>
          <p:cNvSpPr/>
          <p:nvPr/>
        </p:nvSpPr>
        <p:spPr>
          <a:xfrm>
            <a:off x="9144000" y="3824825"/>
            <a:ext cx="8928452" cy="2154892"/>
          </a:xfrm>
          <a:custGeom>
            <a:avLst/>
            <a:gdLst/>
            <a:ahLst/>
            <a:cxnLst/>
            <a:rect l="l" t="t" r="r" b="b"/>
            <a:pathLst>
              <a:path w="8928452" h="2154892">
                <a:moveTo>
                  <a:pt x="0" y="0"/>
                </a:moveTo>
                <a:lnTo>
                  <a:pt x="8928452" y="0"/>
                </a:lnTo>
                <a:lnTo>
                  <a:pt x="8928452" y="2154892"/>
                </a:lnTo>
                <a:lnTo>
                  <a:pt x="0" y="2154892"/>
                </a:lnTo>
                <a:lnTo>
                  <a:pt x="0" y="0"/>
                </a:lnTo>
                <a:close/>
              </a:path>
            </a:pathLst>
          </a:custGeom>
          <a:blipFill>
            <a:blip r:embed="rId2"/>
            <a:stretch>
              <a:fillRect t="-324" b="-324"/>
            </a:stretch>
          </a:blipFill>
        </p:spPr>
      </p:sp>
      <p:sp>
        <p:nvSpPr>
          <p:cNvPr id="9" name="TextBox 9"/>
          <p:cNvSpPr txBox="1"/>
          <p:nvPr/>
        </p:nvSpPr>
        <p:spPr>
          <a:xfrm>
            <a:off x="386509" y="2977206"/>
            <a:ext cx="8050725" cy="4908179"/>
          </a:xfrm>
          <a:prstGeom prst="rect">
            <a:avLst/>
          </a:prstGeom>
        </p:spPr>
        <p:txBody>
          <a:bodyPr lIns="0" tIns="0" rIns="0" bIns="0" rtlCol="0" anchor="t">
            <a:spAutoFit/>
          </a:bodyPr>
          <a:lstStyle/>
          <a:p>
            <a:pPr marL="484951" lvl="1" indent="-242475" algn="just">
              <a:lnSpc>
                <a:spcPts val="2448"/>
              </a:lnSpc>
              <a:buAutoNum type="arabicPeriod"/>
            </a:pPr>
            <a:r>
              <a:rPr lang="en-US" sz="2246" b="1" spc="8">
                <a:solidFill>
                  <a:srgbClr val="000000"/>
                </a:solidFill>
                <a:latin typeface="Codec Pro Bold"/>
                <a:ea typeface="Codec Pro Bold"/>
                <a:cs typeface="Codec Pro Bold"/>
                <a:sym typeface="Codec Pro Bold"/>
              </a:rPr>
              <a:t>Saisonnalité :</a:t>
            </a:r>
          </a:p>
          <a:p>
            <a:pPr marL="969902" lvl="2" indent="-323301" algn="just">
              <a:lnSpc>
                <a:spcPts val="2448"/>
              </a:lnSpc>
              <a:buFont typeface="Arial"/>
              <a:buChar char="⚬"/>
            </a:pPr>
            <a:r>
              <a:rPr lang="en-US" sz="2246" spc="8">
                <a:solidFill>
                  <a:srgbClr val="000000"/>
                </a:solidFill>
                <a:latin typeface="Codec Pro"/>
                <a:ea typeface="Codec Pro"/>
                <a:cs typeface="Codec Pro"/>
                <a:sym typeface="Codec Pro"/>
              </a:rPr>
              <a:t>Des pics d'incidents sont visibles en été (juin à août), correspondant aux mois chauds où les risques d'altération des aliments augmentent.</a:t>
            </a:r>
          </a:p>
          <a:p>
            <a:pPr marL="484951" lvl="1" indent="-242475" algn="just">
              <a:lnSpc>
                <a:spcPts val="2448"/>
              </a:lnSpc>
              <a:buAutoNum type="arabicPeriod"/>
            </a:pPr>
            <a:r>
              <a:rPr lang="en-US" sz="2246" b="1" spc="8">
                <a:solidFill>
                  <a:srgbClr val="000000"/>
                </a:solidFill>
                <a:latin typeface="Codec Pro Bold"/>
                <a:ea typeface="Codec Pro Bold"/>
                <a:cs typeface="Codec Pro Bold"/>
                <a:sym typeface="Codec Pro Bold"/>
              </a:rPr>
              <a:t>Jours critiques :</a:t>
            </a:r>
          </a:p>
          <a:p>
            <a:pPr marL="969902" lvl="2" indent="-323301" algn="just">
              <a:lnSpc>
                <a:spcPts val="2448"/>
              </a:lnSpc>
              <a:buFont typeface="Arial"/>
              <a:buChar char="⚬"/>
            </a:pPr>
            <a:r>
              <a:rPr lang="en-US" sz="2246" spc="8">
                <a:solidFill>
                  <a:srgbClr val="000000"/>
                </a:solidFill>
                <a:latin typeface="Codec Pro"/>
                <a:ea typeface="Codec Pro"/>
                <a:cs typeface="Codec Pro"/>
                <a:sym typeface="Codec Pro"/>
              </a:rPr>
              <a:t>Les dates spécifiques comme 28 juin 2024 et 26 juillet 2024 montrent des nombres élevés de cas.</a:t>
            </a:r>
          </a:p>
          <a:p>
            <a:pPr marL="969902" lvl="2" indent="-323301" algn="just">
              <a:lnSpc>
                <a:spcPts val="2448"/>
              </a:lnSpc>
              <a:buFont typeface="Arial"/>
              <a:buChar char="⚬"/>
            </a:pPr>
            <a:r>
              <a:rPr lang="en-US" sz="2246" spc="8">
                <a:solidFill>
                  <a:srgbClr val="000000"/>
                </a:solidFill>
                <a:latin typeface="Codec Pro"/>
                <a:ea typeface="Codec Pro"/>
                <a:cs typeface="Codec Pro"/>
                <a:sym typeface="Codec Pro"/>
              </a:rPr>
              <a:t>Ces dates pourraient coïncider avec des événements locaux ou des rassemblements spécifiques.</a:t>
            </a:r>
          </a:p>
          <a:p>
            <a:pPr marL="484951" lvl="1" indent="-242475" algn="just">
              <a:lnSpc>
                <a:spcPts val="2448"/>
              </a:lnSpc>
              <a:buAutoNum type="arabicPeriod"/>
            </a:pPr>
            <a:r>
              <a:rPr lang="en-US" sz="2246" b="1" spc="8">
                <a:solidFill>
                  <a:srgbClr val="000000"/>
                </a:solidFill>
                <a:latin typeface="Codec Pro Bold"/>
                <a:ea typeface="Codec Pro Bold"/>
                <a:cs typeface="Codec Pro Bold"/>
                <a:sym typeface="Codec Pro Bold"/>
              </a:rPr>
              <a:t>Tendances globales :</a:t>
            </a:r>
          </a:p>
          <a:p>
            <a:pPr marL="969902" lvl="2" indent="-323301" algn="just">
              <a:lnSpc>
                <a:spcPts val="2448"/>
              </a:lnSpc>
              <a:buFont typeface="Arial"/>
              <a:buChar char="⚬"/>
            </a:pPr>
            <a:r>
              <a:rPr lang="en-US" sz="2246" spc="8">
                <a:solidFill>
                  <a:srgbClr val="000000"/>
                </a:solidFill>
                <a:latin typeface="Codec Pro"/>
                <a:ea typeface="Codec Pro"/>
                <a:cs typeface="Codec Pro"/>
                <a:sym typeface="Codec Pro"/>
              </a:rPr>
              <a:t>Une augmentation graduelle est observée à l'approche de l'été.</a:t>
            </a:r>
          </a:p>
          <a:p>
            <a:pPr marL="926719" lvl="2" indent="-308906" algn="just">
              <a:lnSpc>
                <a:spcPts val="2339"/>
              </a:lnSpc>
              <a:buFont typeface="Arial"/>
              <a:buChar char="⚬"/>
            </a:pPr>
            <a:r>
              <a:rPr lang="en-US" sz="2146" spc="8">
                <a:solidFill>
                  <a:srgbClr val="000000"/>
                </a:solidFill>
                <a:latin typeface="Codec Pro"/>
                <a:ea typeface="Codec Pro"/>
                <a:cs typeface="Codec Pro"/>
                <a:sym typeface="Codec Pro"/>
              </a:rPr>
              <a:t>Les périodes hivernales (décembre à février) semblent relativement calmes.</a:t>
            </a:r>
          </a:p>
          <a:p>
            <a:pPr algn="just">
              <a:lnSpc>
                <a:spcPts val="2448"/>
              </a:lnSpc>
            </a:pPr>
            <a:endParaRPr lang="en-US" sz="2146" spc="8">
              <a:solidFill>
                <a:srgbClr val="000000"/>
              </a:solidFill>
              <a:latin typeface="Codec Pro"/>
              <a:ea typeface="Codec Pro"/>
              <a:cs typeface="Codec Pro"/>
              <a:sym typeface="Codec Pro"/>
            </a:endParaRPr>
          </a:p>
        </p:txBody>
      </p:sp>
      <p:sp>
        <p:nvSpPr>
          <p:cNvPr id="10" name="TextBox 10"/>
          <p:cNvSpPr txBox="1"/>
          <p:nvPr/>
        </p:nvSpPr>
        <p:spPr>
          <a:xfrm>
            <a:off x="386509" y="1238250"/>
            <a:ext cx="8089181" cy="1749198"/>
          </a:xfrm>
          <a:prstGeom prst="rect">
            <a:avLst/>
          </a:prstGeom>
        </p:spPr>
        <p:txBody>
          <a:bodyPr lIns="0" tIns="0" rIns="0" bIns="0" rtlCol="0" anchor="t">
            <a:spAutoFit/>
          </a:bodyPr>
          <a:lstStyle/>
          <a:p>
            <a:pPr algn="l">
              <a:lnSpc>
                <a:spcPts val="6669"/>
              </a:lnSpc>
            </a:pPr>
            <a:r>
              <a:rPr lang="en-US" sz="7410">
                <a:solidFill>
                  <a:srgbClr val="000000"/>
                </a:solidFill>
                <a:latin typeface="League Spartan"/>
                <a:ea typeface="League Spartan"/>
                <a:cs typeface="League Spartan"/>
                <a:sym typeface="League Spartan"/>
              </a:rPr>
              <a:t>OBSERVATIONS</a:t>
            </a:r>
          </a:p>
          <a:p>
            <a:pPr algn="l">
              <a:lnSpc>
                <a:spcPts val="6669"/>
              </a:lnSpc>
            </a:pPr>
            <a:endParaRPr lang="en-US" sz="7410">
              <a:solidFill>
                <a:srgbClr val="000000"/>
              </a:solidFill>
              <a:latin typeface="League Spartan"/>
              <a:ea typeface="League Spartan"/>
              <a:cs typeface="League Spartan"/>
              <a:sym typeface="League Spartan"/>
            </a:endParaRPr>
          </a:p>
        </p:txBody>
      </p:sp>
      <p:sp>
        <p:nvSpPr>
          <p:cNvPr id="11" name="TextBox 11"/>
          <p:cNvSpPr txBox="1"/>
          <p:nvPr/>
        </p:nvSpPr>
        <p:spPr>
          <a:xfrm>
            <a:off x="9997788" y="1657014"/>
            <a:ext cx="6547752" cy="795263"/>
          </a:xfrm>
          <a:prstGeom prst="rect">
            <a:avLst/>
          </a:prstGeom>
        </p:spPr>
        <p:txBody>
          <a:bodyPr lIns="0" tIns="0" rIns="0" bIns="0" rtlCol="0" anchor="t">
            <a:spAutoFit/>
          </a:bodyPr>
          <a:lstStyle/>
          <a:p>
            <a:pPr algn="ctr">
              <a:lnSpc>
                <a:spcPts val="3035"/>
              </a:lnSpc>
            </a:pPr>
            <a:r>
              <a:rPr lang="en-US" sz="3373">
                <a:solidFill>
                  <a:srgbClr val="3A3A3A"/>
                </a:solidFill>
                <a:latin typeface="League Spartan"/>
                <a:ea typeface="League Spartan"/>
                <a:cs typeface="League Spartan"/>
                <a:sym typeface="League Spartan"/>
              </a:rPr>
              <a:t>TENDANCE DES INCIDENTS DANS LE TEMPS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134502" y="1665641"/>
            <a:ext cx="8101325" cy="7765214"/>
          </a:xfrm>
          <a:prstGeom prst="rect">
            <a:avLst/>
          </a:prstGeom>
        </p:spPr>
      </p:pic>
      <p:sp>
        <p:nvSpPr>
          <p:cNvPr id="3" name="Freeform 3"/>
          <p:cNvSpPr/>
          <p:nvPr/>
        </p:nvSpPr>
        <p:spPr>
          <a:xfrm>
            <a:off x="8056554" y="4251335"/>
            <a:ext cx="2346341" cy="2183700"/>
          </a:xfrm>
          <a:custGeom>
            <a:avLst/>
            <a:gdLst/>
            <a:ahLst/>
            <a:cxnLst/>
            <a:rect l="l" t="t" r="r" b="b"/>
            <a:pathLst>
              <a:path w="2346341" h="2183700">
                <a:moveTo>
                  <a:pt x="0" y="0"/>
                </a:moveTo>
                <a:lnTo>
                  <a:pt x="2346342" y="0"/>
                </a:lnTo>
                <a:lnTo>
                  <a:pt x="2346342" y="2183700"/>
                </a:lnTo>
                <a:lnTo>
                  <a:pt x="0" y="2183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1940407" y="2182343"/>
            <a:ext cx="5477932" cy="757787"/>
          </a:xfrm>
          <a:prstGeom prst="rect">
            <a:avLst/>
          </a:prstGeom>
        </p:spPr>
        <p:txBody>
          <a:bodyPr lIns="0" tIns="0" rIns="0" bIns="0" rtlCol="0" anchor="t">
            <a:spAutoFit/>
          </a:bodyPr>
          <a:lstStyle/>
          <a:p>
            <a:pPr marL="376503" lvl="1" indent="-188252" algn="just">
              <a:lnSpc>
                <a:spcPts val="1900"/>
              </a:lnSpc>
              <a:buFont typeface="Arial"/>
              <a:buChar char="•"/>
            </a:pPr>
            <a:r>
              <a:rPr lang="en-US" sz="1743" spc="6">
                <a:solidFill>
                  <a:srgbClr val="000000"/>
                </a:solidFill>
                <a:latin typeface="Codec Pro"/>
                <a:ea typeface="Codec Pro"/>
                <a:cs typeface="Codec Pro"/>
                <a:sym typeface="Codec Pro"/>
              </a:rPr>
              <a:t>Souvent mises en œuvre, mais le manque de suivi à long terme est préoccupant.</a:t>
            </a:r>
          </a:p>
          <a:p>
            <a:pPr algn="just">
              <a:lnSpc>
                <a:spcPts val="1900"/>
              </a:lnSpc>
            </a:pPr>
            <a:endParaRPr lang="en-US" sz="1743" spc="6">
              <a:solidFill>
                <a:srgbClr val="000000"/>
              </a:solidFill>
              <a:latin typeface="Codec Pro"/>
              <a:ea typeface="Codec Pro"/>
              <a:cs typeface="Codec Pro"/>
              <a:sym typeface="Codec Pro"/>
            </a:endParaRPr>
          </a:p>
        </p:txBody>
      </p:sp>
      <p:sp>
        <p:nvSpPr>
          <p:cNvPr id="5" name="TextBox 5"/>
          <p:cNvSpPr txBox="1"/>
          <p:nvPr/>
        </p:nvSpPr>
        <p:spPr>
          <a:xfrm>
            <a:off x="12146434" y="1353690"/>
            <a:ext cx="3989864" cy="982638"/>
          </a:xfrm>
          <a:prstGeom prst="rect">
            <a:avLst/>
          </a:prstGeom>
        </p:spPr>
        <p:txBody>
          <a:bodyPr lIns="0" tIns="0" rIns="0" bIns="0" rtlCol="0" anchor="t">
            <a:spAutoFit/>
          </a:bodyPr>
          <a:lstStyle/>
          <a:p>
            <a:pPr algn="l">
              <a:lnSpc>
                <a:spcPts val="2610"/>
              </a:lnSpc>
            </a:pPr>
            <a:r>
              <a:rPr lang="en-US" sz="2373">
                <a:solidFill>
                  <a:srgbClr val="000000"/>
                </a:solidFill>
                <a:latin typeface="League Spartan"/>
                <a:ea typeface="League Spartan"/>
                <a:cs typeface="League Spartan"/>
                <a:sym typeface="League Spartan"/>
              </a:rPr>
              <a:t>MISE EN CONFORMITÉ DES NORMES D'HYGIÈNE</a:t>
            </a:r>
          </a:p>
          <a:p>
            <a:pPr algn="l">
              <a:lnSpc>
                <a:spcPts val="2610"/>
              </a:lnSpc>
            </a:pPr>
            <a:endParaRPr lang="en-US" sz="2373">
              <a:solidFill>
                <a:srgbClr val="000000"/>
              </a:solidFill>
              <a:latin typeface="League Spartan"/>
              <a:ea typeface="League Spartan"/>
              <a:cs typeface="League Spartan"/>
              <a:sym typeface="League Spartan"/>
            </a:endParaRPr>
          </a:p>
        </p:txBody>
      </p:sp>
      <p:sp>
        <p:nvSpPr>
          <p:cNvPr id="6" name="AutoShape 6"/>
          <p:cNvSpPr/>
          <p:nvPr/>
        </p:nvSpPr>
        <p:spPr>
          <a:xfrm flipH="1">
            <a:off x="10090723" y="1706556"/>
            <a:ext cx="806791" cy="1233574"/>
          </a:xfrm>
          <a:prstGeom prst="line">
            <a:avLst/>
          </a:prstGeom>
          <a:ln w="47625" cap="rnd">
            <a:solidFill>
              <a:srgbClr val="6CE5E8"/>
            </a:solidFill>
            <a:prstDash val="solid"/>
            <a:headEnd type="none" w="sm" len="sm"/>
            <a:tailEnd type="none" w="sm" len="sm"/>
          </a:ln>
        </p:spPr>
      </p:sp>
      <p:sp>
        <p:nvSpPr>
          <p:cNvPr id="7" name="AutoShape 7"/>
          <p:cNvSpPr/>
          <p:nvPr/>
        </p:nvSpPr>
        <p:spPr>
          <a:xfrm flipH="1">
            <a:off x="10878464" y="1706556"/>
            <a:ext cx="902904" cy="0"/>
          </a:xfrm>
          <a:prstGeom prst="line">
            <a:avLst/>
          </a:prstGeom>
          <a:ln w="47625" cap="rnd">
            <a:solidFill>
              <a:srgbClr val="6CE5E8"/>
            </a:solidFill>
            <a:prstDash val="solid"/>
            <a:headEnd type="none" w="sm" len="sm"/>
            <a:tailEnd type="none" w="sm" len="sm"/>
          </a:ln>
        </p:spPr>
      </p:sp>
      <p:sp>
        <p:nvSpPr>
          <p:cNvPr id="8" name="TextBox 8"/>
          <p:cNvSpPr txBox="1"/>
          <p:nvPr/>
        </p:nvSpPr>
        <p:spPr>
          <a:xfrm>
            <a:off x="434545" y="8039481"/>
            <a:ext cx="5477932" cy="1234037"/>
          </a:xfrm>
          <a:prstGeom prst="rect">
            <a:avLst/>
          </a:prstGeom>
        </p:spPr>
        <p:txBody>
          <a:bodyPr lIns="0" tIns="0" rIns="0" bIns="0" rtlCol="0" anchor="t">
            <a:spAutoFit/>
          </a:bodyPr>
          <a:lstStyle/>
          <a:p>
            <a:pPr marL="376503" lvl="1" indent="-188252" algn="just">
              <a:lnSpc>
                <a:spcPts val="1900"/>
              </a:lnSpc>
              <a:buFont typeface="Arial"/>
              <a:buChar char="•"/>
            </a:pPr>
            <a:r>
              <a:rPr lang="en-US" sz="1743" spc="6">
                <a:solidFill>
                  <a:srgbClr val="000000"/>
                </a:solidFill>
                <a:latin typeface="Codec Pro"/>
                <a:ea typeface="Codec Pro"/>
                <a:cs typeface="Codec Pro"/>
                <a:sym typeface="Codec Pro"/>
              </a:rPr>
              <a:t>Certaines données mentionnent des inspections approfondies après incidents. Toutefois, elles ne semblent pas être systématiques.</a:t>
            </a:r>
          </a:p>
          <a:p>
            <a:pPr algn="just">
              <a:lnSpc>
                <a:spcPts val="1900"/>
              </a:lnSpc>
            </a:pPr>
            <a:endParaRPr lang="en-US" sz="1743" spc="6">
              <a:solidFill>
                <a:srgbClr val="000000"/>
              </a:solidFill>
              <a:latin typeface="Codec Pro"/>
              <a:ea typeface="Codec Pro"/>
              <a:cs typeface="Codec Pro"/>
              <a:sym typeface="Codec Pro"/>
            </a:endParaRPr>
          </a:p>
        </p:txBody>
      </p:sp>
      <p:sp>
        <p:nvSpPr>
          <p:cNvPr id="9" name="TextBox 9"/>
          <p:cNvSpPr txBox="1"/>
          <p:nvPr/>
        </p:nvSpPr>
        <p:spPr>
          <a:xfrm>
            <a:off x="799611" y="7198647"/>
            <a:ext cx="3989864" cy="982638"/>
          </a:xfrm>
          <a:prstGeom prst="rect">
            <a:avLst/>
          </a:prstGeom>
        </p:spPr>
        <p:txBody>
          <a:bodyPr lIns="0" tIns="0" rIns="0" bIns="0" rtlCol="0" anchor="t">
            <a:spAutoFit/>
          </a:bodyPr>
          <a:lstStyle/>
          <a:p>
            <a:pPr algn="l">
              <a:lnSpc>
                <a:spcPts val="2610"/>
              </a:lnSpc>
            </a:pPr>
            <a:r>
              <a:rPr lang="en-US" sz="2373">
                <a:solidFill>
                  <a:srgbClr val="000000"/>
                </a:solidFill>
                <a:latin typeface="League Spartan"/>
                <a:ea typeface="League Spartan"/>
                <a:cs typeface="League Spartan"/>
                <a:sym typeface="League Spartan"/>
              </a:rPr>
              <a:t>INSPECTION SANITAIRE APPROFONDIE</a:t>
            </a:r>
          </a:p>
          <a:p>
            <a:pPr algn="l">
              <a:lnSpc>
                <a:spcPts val="2610"/>
              </a:lnSpc>
            </a:pPr>
            <a:endParaRPr lang="en-US" sz="2373">
              <a:solidFill>
                <a:srgbClr val="000000"/>
              </a:solidFill>
              <a:latin typeface="League Spartan"/>
              <a:ea typeface="League Spartan"/>
              <a:cs typeface="League Spartan"/>
              <a:sym typeface="League Spartan"/>
            </a:endParaRPr>
          </a:p>
        </p:txBody>
      </p:sp>
      <p:sp>
        <p:nvSpPr>
          <p:cNvPr id="10" name="AutoShape 10"/>
          <p:cNvSpPr/>
          <p:nvPr/>
        </p:nvSpPr>
        <p:spPr>
          <a:xfrm flipH="1">
            <a:off x="11760685" y="5899475"/>
            <a:ext cx="902904" cy="0"/>
          </a:xfrm>
          <a:prstGeom prst="line">
            <a:avLst/>
          </a:prstGeom>
          <a:ln w="47625" cap="rnd">
            <a:solidFill>
              <a:srgbClr val="41B8D5"/>
            </a:solidFill>
            <a:prstDash val="solid"/>
            <a:headEnd type="none" w="sm" len="sm"/>
            <a:tailEnd type="none" w="sm" len="sm"/>
          </a:ln>
        </p:spPr>
      </p:sp>
      <p:sp>
        <p:nvSpPr>
          <p:cNvPr id="11" name="AutoShape 11"/>
          <p:cNvSpPr/>
          <p:nvPr/>
        </p:nvSpPr>
        <p:spPr>
          <a:xfrm flipH="1" flipV="1">
            <a:off x="12663590" y="5875663"/>
            <a:ext cx="367964" cy="367964"/>
          </a:xfrm>
          <a:prstGeom prst="line">
            <a:avLst/>
          </a:prstGeom>
          <a:ln w="47625" cap="rnd">
            <a:solidFill>
              <a:srgbClr val="41B8D5"/>
            </a:solidFill>
            <a:prstDash val="solid"/>
            <a:headEnd type="none" w="sm" len="sm"/>
            <a:tailEnd type="none" w="sm" len="sm"/>
          </a:ln>
        </p:spPr>
      </p:sp>
      <p:sp>
        <p:nvSpPr>
          <p:cNvPr id="12" name="TextBox 12"/>
          <p:cNvSpPr txBox="1"/>
          <p:nvPr/>
        </p:nvSpPr>
        <p:spPr>
          <a:xfrm>
            <a:off x="13029084" y="6454085"/>
            <a:ext cx="5258916" cy="982638"/>
          </a:xfrm>
          <a:prstGeom prst="rect">
            <a:avLst/>
          </a:prstGeom>
        </p:spPr>
        <p:txBody>
          <a:bodyPr lIns="0" tIns="0" rIns="0" bIns="0" rtlCol="0" anchor="t">
            <a:spAutoFit/>
          </a:bodyPr>
          <a:lstStyle/>
          <a:p>
            <a:pPr algn="l">
              <a:lnSpc>
                <a:spcPts val="2610"/>
              </a:lnSpc>
            </a:pPr>
            <a:r>
              <a:rPr lang="en-US" sz="2373">
                <a:solidFill>
                  <a:srgbClr val="000000"/>
                </a:solidFill>
                <a:latin typeface="League Spartan"/>
                <a:ea typeface="League Spartan"/>
                <a:cs typeface="League Spartan"/>
                <a:sym typeface="League Spartan"/>
              </a:rPr>
              <a:t>FORMATION OBLIGATOIRE DU PERSONNEL ALIMENTAIRE</a:t>
            </a:r>
          </a:p>
          <a:p>
            <a:pPr algn="l">
              <a:lnSpc>
                <a:spcPts val="2610"/>
              </a:lnSpc>
            </a:pPr>
            <a:endParaRPr lang="en-US" sz="2373">
              <a:solidFill>
                <a:srgbClr val="000000"/>
              </a:solidFill>
              <a:latin typeface="League Spartan"/>
              <a:ea typeface="League Spartan"/>
              <a:cs typeface="League Spartan"/>
              <a:sym typeface="League Spartan"/>
            </a:endParaRPr>
          </a:p>
        </p:txBody>
      </p:sp>
      <p:sp>
        <p:nvSpPr>
          <p:cNvPr id="13" name="AutoShape 13"/>
          <p:cNvSpPr/>
          <p:nvPr/>
        </p:nvSpPr>
        <p:spPr>
          <a:xfrm flipH="1">
            <a:off x="6919988" y="7518516"/>
            <a:ext cx="578407" cy="827104"/>
          </a:xfrm>
          <a:prstGeom prst="line">
            <a:avLst/>
          </a:prstGeom>
          <a:ln w="47625" cap="rnd">
            <a:solidFill>
              <a:srgbClr val="2D8BBA"/>
            </a:solidFill>
            <a:prstDash val="solid"/>
            <a:headEnd type="none" w="sm" len="sm"/>
            <a:tailEnd type="none" w="sm" len="sm"/>
          </a:ln>
        </p:spPr>
      </p:sp>
      <p:sp>
        <p:nvSpPr>
          <p:cNvPr id="14" name="AutoShape 14"/>
          <p:cNvSpPr/>
          <p:nvPr/>
        </p:nvSpPr>
        <p:spPr>
          <a:xfrm flipH="1">
            <a:off x="6179666" y="8345620"/>
            <a:ext cx="778422" cy="0"/>
          </a:xfrm>
          <a:prstGeom prst="line">
            <a:avLst/>
          </a:prstGeom>
          <a:ln w="47625" cap="rnd">
            <a:solidFill>
              <a:srgbClr val="2D8BBA"/>
            </a:solidFill>
            <a:prstDash val="solid"/>
            <a:headEnd type="none" w="sm" len="sm"/>
            <a:tailEnd type="none" w="sm" len="sm"/>
          </a:ln>
        </p:spPr>
      </p:sp>
      <p:sp>
        <p:nvSpPr>
          <p:cNvPr id="15" name="TextBox 15"/>
          <p:cNvSpPr txBox="1"/>
          <p:nvPr/>
        </p:nvSpPr>
        <p:spPr>
          <a:xfrm>
            <a:off x="386509" y="4837361"/>
            <a:ext cx="5477932" cy="757787"/>
          </a:xfrm>
          <a:prstGeom prst="rect">
            <a:avLst/>
          </a:prstGeom>
        </p:spPr>
        <p:txBody>
          <a:bodyPr lIns="0" tIns="0" rIns="0" bIns="0" rtlCol="0" anchor="t">
            <a:spAutoFit/>
          </a:bodyPr>
          <a:lstStyle/>
          <a:p>
            <a:pPr marL="376503" lvl="1" indent="-188252" algn="just">
              <a:lnSpc>
                <a:spcPts val="1900"/>
              </a:lnSpc>
              <a:buFont typeface="Arial"/>
              <a:buChar char="•"/>
            </a:pPr>
            <a:r>
              <a:rPr lang="en-US" sz="1743" spc="6">
                <a:solidFill>
                  <a:srgbClr val="000000"/>
                </a:solidFill>
                <a:latin typeface="Codec Pro"/>
                <a:ea typeface="Codec Pro"/>
                <a:cs typeface="Codec Pro"/>
                <a:sym typeface="Codec Pro"/>
              </a:rPr>
              <a:t>Utilisées dans les cas graves, elles restent peu fréquentes.</a:t>
            </a:r>
          </a:p>
          <a:p>
            <a:pPr algn="just">
              <a:lnSpc>
                <a:spcPts val="1900"/>
              </a:lnSpc>
            </a:pPr>
            <a:endParaRPr lang="en-US" sz="1743" spc="6">
              <a:solidFill>
                <a:srgbClr val="000000"/>
              </a:solidFill>
              <a:latin typeface="Codec Pro"/>
              <a:ea typeface="Codec Pro"/>
              <a:cs typeface="Codec Pro"/>
              <a:sym typeface="Codec Pro"/>
            </a:endParaRPr>
          </a:p>
        </p:txBody>
      </p:sp>
      <p:sp>
        <p:nvSpPr>
          <p:cNvPr id="16" name="TextBox 16"/>
          <p:cNvSpPr txBox="1"/>
          <p:nvPr/>
        </p:nvSpPr>
        <p:spPr>
          <a:xfrm>
            <a:off x="372607" y="3878330"/>
            <a:ext cx="4843872" cy="982638"/>
          </a:xfrm>
          <a:prstGeom prst="rect">
            <a:avLst/>
          </a:prstGeom>
        </p:spPr>
        <p:txBody>
          <a:bodyPr lIns="0" tIns="0" rIns="0" bIns="0" rtlCol="0" anchor="t">
            <a:spAutoFit/>
          </a:bodyPr>
          <a:lstStyle/>
          <a:p>
            <a:pPr marL="0" lvl="0" indent="0" algn="l">
              <a:lnSpc>
                <a:spcPts val="2610"/>
              </a:lnSpc>
              <a:spcBef>
                <a:spcPct val="0"/>
              </a:spcBef>
            </a:pPr>
            <a:r>
              <a:rPr lang="en-US" sz="2373" b="1" u="none" strike="noStrike">
                <a:solidFill>
                  <a:srgbClr val="000000"/>
                </a:solidFill>
                <a:latin typeface="League Spartan"/>
                <a:ea typeface="League Spartan"/>
                <a:cs typeface="League Spartan"/>
                <a:sym typeface="League Spartan"/>
              </a:rPr>
              <a:t>SANCTIONS LÉGALES OU FERMETURES TEMPORAIRES</a:t>
            </a:r>
          </a:p>
          <a:p>
            <a:pPr marL="0" lvl="0" indent="0" algn="l">
              <a:lnSpc>
                <a:spcPts val="2610"/>
              </a:lnSpc>
              <a:spcBef>
                <a:spcPct val="0"/>
              </a:spcBef>
            </a:pPr>
            <a:endParaRPr lang="en-US" sz="2373" b="1" u="none" strike="noStrike">
              <a:solidFill>
                <a:srgbClr val="000000"/>
              </a:solidFill>
              <a:latin typeface="League Spartan"/>
              <a:ea typeface="League Spartan"/>
              <a:cs typeface="League Spartan"/>
              <a:sym typeface="League Spartan"/>
            </a:endParaRPr>
          </a:p>
        </p:txBody>
      </p:sp>
      <p:sp>
        <p:nvSpPr>
          <p:cNvPr id="17" name="AutoShape 17"/>
          <p:cNvSpPr/>
          <p:nvPr/>
        </p:nvSpPr>
        <p:spPr>
          <a:xfrm flipH="1" flipV="1">
            <a:off x="5681018" y="4062519"/>
            <a:ext cx="814941" cy="420909"/>
          </a:xfrm>
          <a:prstGeom prst="line">
            <a:avLst/>
          </a:prstGeom>
          <a:ln w="47625" cap="rnd">
            <a:solidFill>
              <a:srgbClr val="2F5F98"/>
            </a:solidFill>
            <a:prstDash val="solid"/>
            <a:headEnd type="none" w="sm" len="sm"/>
            <a:tailEnd type="none" w="sm" len="sm"/>
          </a:ln>
        </p:spPr>
      </p:sp>
      <p:sp>
        <p:nvSpPr>
          <p:cNvPr id="18" name="AutoShape 18"/>
          <p:cNvSpPr/>
          <p:nvPr/>
        </p:nvSpPr>
        <p:spPr>
          <a:xfrm flipH="1">
            <a:off x="4426795" y="4062519"/>
            <a:ext cx="1272281" cy="0"/>
          </a:xfrm>
          <a:prstGeom prst="line">
            <a:avLst/>
          </a:prstGeom>
          <a:ln w="47625" cap="rnd">
            <a:solidFill>
              <a:srgbClr val="2F5F98"/>
            </a:solidFill>
            <a:prstDash val="solid"/>
            <a:headEnd type="none" w="sm" len="sm"/>
            <a:tailEnd type="none" w="sm" len="sm"/>
          </a:ln>
        </p:spPr>
      </p:sp>
      <p:sp>
        <p:nvSpPr>
          <p:cNvPr id="19" name="TextBox 19"/>
          <p:cNvSpPr txBox="1"/>
          <p:nvPr/>
        </p:nvSpPr>
        <p:spPr>
          <a:xfrm>
            <a:off x="585717" y="743281"/>
            <a:ext cx="6547752" cy="797370"/>
          </a:xfrm>
          <a:prstGeom prst="rect">
            <a:avLst/>
          </a:prstGeom>
        </p:spPr>
        <p:txBody>
          <a:bodyPr lIns="0" tIns="0" rIns="0" bIns="0" rtlCol="0" anchor="t">
            <a:spAutoFit/>
          </a:bodyPr>
          <a:lstStyle/>
          <a:p>
            <a:pPr algn="l">
              <a:lnSpc>
                <a:spcPts val="3035"/>
              </a:lnSpc>
            </a:pPr>
            <a:r>
              <a:rPr lang="en-US" sz="3373">
                <a:solidFill>
                  <a:srgbClr val="3A3A3A"/>
                </a:solidFill>
                <a:latin typeface="League Spartan"/>
                <a:ea typeface="League Spartan"/>
                <a:cs typeface="League Spartan"/>
                <a:sym typeface="League Spartan"/>
              </a:rPr>
              <a:t>ACTIONS DE SUIVI (DIAGRAMME CIRCULAIRE)</a:t>
            </a:r>
          </a:p>
        </p:txBody>
      </p:sp>
      <p:sp>
        <p:nvSpPr>
          <p:cNvPr id="20" name="AutoShape 20"/>
          <p:cNvSpPr/>
          <p:nvPr/>
        </p:nvSpPr>
        <p:spPr>
          <a:xfrm flipH="1" flipV="1">
            <a:off x="10402896" y="8082343"/>
            <a:ext cx="494618" cy="583681"/>
          </a:xfrm>
          <a:prstGeom prst="line">
            <a:avLst/>
          </a:prstGeom>
          <a:ln w="47625" cap="rnd">
            <a:solidFill>
              <a:srgbClr val="41B8D5"/>
            </a:solidFill>
            <a:prstDash val="solid"/>
            <a:headEnd type="none" w="sm" len="sm"/>
            <a:tailEnd type="none" w="sm" len="sm"/>
          </a:ln>
        </p:spPr>
      </p:sp>
      <p:sp>
        <p:nvSpPr>
          <p:cNvPr id="21" name="AutoShape 21"/>
          <p:cNvSpPr/>
          <p:nvPr/>
        </p:nvSpPr>
        <p:spPr>
          <a:xfrm flipH="1">
            <a:off x="10887989" y="8656499"/>
            <a:ext cx="902904" cy="0"/>
          </a:xfrm>
          <a:prstGeom prst="line">
            <a:avLst/>
          </a:prstGeom>
          <a:ln w="47625" cap="rnd">
            <a:solidFill>
              <a:srgbClr val="41B8D5"/>
            </a:solidFill>
            <a:prstDash val="solid"/>
            <a:headEnd type="none" w="sm" len="sm"/>
            <a:tailEnd type="none" w="sm" len="sm"/>
          </a:ln>
        </p:spPr>
      </p:sp>
      <p:sp>
        <p:nvSpPr>
          <p:cNvPr id="22" name="TextBox 22"/>
          <p:cNvSpPr txBox="1"/>
          <p:nvPr/>
        </p:nvSpPr>
        <p:spPr>
          <a:xfrm>
            <a:off x="12159422" y="8685074"/>
            <a:ext cx="5258916" cy="982638"/>
          </a:xfrm>
          <a:prstGeom prst="rect">
            <a:avLst/>
          </a:prstGeom>
        </p:spPr>
        <p:txBody>
          <a:bodyPr lIns="0" tIns="0" rIns="0" bIns="0" rtlCol="0" anchor="t">
            <a:spAutoFit/>
          </a:bodyPr>
          <a:lstStyle/>
          <a:p>
            <a:pPr algn="l">
              <a:lnSpc>
                <a:spcPts val="2610"/>
              </a:lnSpc>
            </a:pPr>
            <a:r>
              <a:rPr lang="en-US" sz="2373">
                <a:solidFill>
                  <a:srgbClr val="000000"/>
                </a:solidFill>
                <a:latin typeface="League Spartan"/>
                <a:ea typeface="League Spartan"/>
                <a:cs typeface="League Spartan"/>
                <a:sym typeface="League Spartan"/>
              </a:rPr>
              <a:t>RENFORCEMENT DES CONTRÔLES RÉGULIERS</a:t>
            </a:r>
          </a:p>
          <a:p>
            <a:pPr algn="l">
              <a:lnSpc>
                <a:spcPts val="2610"/>
              </a:lnSpc>
            </a:pPr>
            <a:endParaRPr lang="en-US" sz="2373">
              <a:solidFill>
                <a:srgbClr val="000000"/>
              </a:solidFill>
              <a:latin typeface="League Spartan"/>
              <a:ea typeface="League Spartan"/>
              <a:cs typeface="League Spartan"/>
              <a:sym typeface="League Spart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460776" y="1547180"/>
            <a:ext cx="8032326" cy="7847794"/>
          </a:xfrm>
          <a:prstGeom prst="rect">
            <a:avLst/>
          </a:prstGeom>
        </p:spPr>
      </p:pic>
      <p:grpSp>
        <p:nvGrpSpPr>
          <p:cNvPr id="3" name="Group 3"/>
          <p:cNvGrpSpPr/>
          <p:nvPr/>
        </p:nvGrpSpPr>
        <p:grpSpPr>
          <a:xfrm>
            <a:off x="0" y="0"/>
            <a:ext cx="8904016" cy="10287000"/>
            <a:chOff x="0" y="0"/>
            <a:chExt cx="2345091" cy="2709333"/>
          </a:xfrm>
        </p:grpSpPr>
        <p:sp>
          <p:nvSpPr>
            <p:cNvPr id="4" name="Freeform 4"/>
            <p:cNvSpPr/>
            <p:nvPr/>
          </p:nvSpPr>
          <p:spPr>
            <a:xfrm>
              <a:off x="0" y="0"/>
              <a:ext cx="2345091" cy="2709333"/>
            </a:xfrm>
            <a:custGeom>
              <a:avLst/>
              <a:gdLst/>
              <a:ahLst/>
              <a:cxnLst/>
              <a:rect l="l" t="t" r="r" b="b"/>
              <a:pathLst>
                <a:path w="2345091" h="2709333">
                  <a:moveTo>
                    <a:pt x="0" y="0"/>
                  </a:moveTo>
                  <a:lnTo>
                    <a:pt x="2345091" y="0"/>
                  </a:lnTo>
                  <a:lnTo>
                    <a:pt x="2345091" y="2709333"/>
                  </a:lnTo>
                  <a:lnTo>
                    <a:pt x="0" y="2709333"/>
                  </a:lnTo>
                  <a:close/>
                </a:path>
              </a:pathLst>
            </a:custGeom>
            <a:solidFill>
              <a:srgbClr val="EAFAB2"/>
            </a:solidFill>
            <a:ln cap="sq">
              <a:noFill/>
              <a:prstDash val="solid"/>
              <a:miter/>
            </a:ln>
          </p:spPr>
        </p:sp>
        <p:sp>
          <p:nvSpPr>
            <p:cNvPr id="5" name="TextBox 5"/>
            <p:cNvSpPr txBox="1"/>
            <p:nvPr/>
          </p:nvSpPr>
          <p:spPr>
            <a:xfrm>
              <a:off x="0" y="19050"/>
              <a:ext cx="2345091" cy="2690283"/>
            </a:xfrm>
            <a:prstGeom prst="rect">
              <a:avLst/>
            </a:prstGeom>
          </p:spPr>
          <p:txBody>
            <a:bodyPr lIns="50800" tIns="50800" rIns="50800" bIns="50800" rtlCol="0" anchor="ctr"/>
            <a:lstStyle/>
            <a:p>
              <a:pPr algn="ctr">
                <a:lnSpc>
                  <a:spcPts val="1929"/>
                </a:lnSpc>
              </a:pPr>
              <a:endParaRPr/>
            </a:p>
          </p:txBody>
        </p:sp>
      </p:grpSp>
      <p:sp>
        <p:nvSpPr>
          <p:cNvPr id="6" name="TextBox 6"/>
          <p:cNvSpPr txBox="1"/>
          <p:nvPr/>
        </p:nvSpPr>
        <p:spPr>
          <a:xfrm>
            <a:off x="386509" y="2968398"/>
            <a:ext cx="8050725" cy="3708029"/>
          </a:xfrm>
          <a:prstGeom prst="rect">
            <a:avLst/>
          </a:prstGeom>
        </p:spPr>
        <p:txBody>
          <a:bodyPr lIns="0" tIns="0" rIns="0" bIns="0" rtlCol="0" anchor="t">
            <a:spAutoFit/>
          </a:bodyPr>
          <a:lstStyle/>
          <a:p>
            <a:pPr algn="just">
              <a:lnSpc>
                <a:spcPts val="2448"/>
              </a:lnSpc>
            </a:pPr>
            <a:r>
              <a:rPr lang="en-US" sz="2246" b="1" spc="8">
                <a:solidFill>
                  <a:srgbClr val="000000"/>
                </a:solidFill>
                <a:latin typeface="Codec Pro Bold"/>
                <a:ea typeface="Codec Pro Bold"/>
                <a:cs typeface="Codec Pro Bold"/>
                <a:sym typeface="Codec Pro Bold"/>
              </a:rPr>
              <a:t>1.Groupes les plus affectés :</a:t>
            </a:r>
          </a:p>
          <a:p>
            <a:pPr marL="484951" lvl="1" indent="-242475" algn="just">
              <a:lnSpc>
                <a:spcPts val="2448"/>
              </a:lnSpc>
              <a:buFont typeface="Arial"/>
              <a:buChar char="•"/>
            </a:pPr>
            <a:r>
              <a:rPr lang="en-US" sz="2246" spc="8">
                <a:solidFill>
                  <a:srgbClr val="000000"/>
                </a:solidFill>
                <a:latin typeface="Codec Pro"/>
                <a:ea typeface="Codec Pro"/>
                <a:cs typeface="Codec Pro"/>
                <a:sym typeface="Codec Pro"/>
              </a:rPr>
              <a:t>Les enfants de moins de 12 ans (35% des incidents) sont les plus touchés.</a:t>
            </a:r>
          </a:p>
          <a:p>
            <a:pPr marL="484951" lvl="1" indent="-242475" algn="just">
              <a:lnSpc>
                <a:spcPts val="2448"/>
              </a:lnSpc>
              <a:buFont typeface="Arial"/>
              <a:buChar char="•"/>
            </a:pPr>
            <a:r>
              <a:rPr lang="en-US" sz="2246" spc="8">
                <a:solidFill>
                  <a:srgbClr val="000000"/>
                </a:solidFill>
                <a:latin typeface="Codec Pro"/>
                <a:ea typeface="Codec Pro"/>
                <a:cs typeface="Codec Pro"/>
                <a:sym typeface="Codec Pro"/>
              </a:rPr>
              <a:t>Les personnes âgées de 60 ans et plus représentent également une proportion significative (28%).</a:t>
            </a:r>
          </a:p>
          <a:p>
            <a:pPr algn="just">
              <a:lnSpc>
                <a:spcPts val="2448"/>
              </a:lnSpc>
            </a:pPr>
            <a:endParaRPr lang="en-US" sz="2246" spc="8">
              <a:solidFill>
                <a:srgbClr val="000000"/>
              </a:solidFill>
              <a:latin typeface="Codec Pro"/>
              <a:ea typeface="Codec Pro"/>
              <a:cs typeface="Codec Pro"/>
              <a:sym typeface="Codec Pro"/>
            </a:endParaRPr>
          </a:p>
          <a:p>
            <a:pPr algn="just">
              <a:lnSpc>
                <a:spcPts val="2448"/>
              </a:lnSpc>
            </a:pPr>
            <a:endParaRPr lang="en-US" sz="2246" spc="8">
              <a:solidFill>
                <a:srgbClr val="000000"/>
              </a:solidFill>
              <a:latin typeface="Codec Pro"/>
              <a:ea typeface="Codec Pro"/>
              <a:cs typeface="Codec Pro"/>
              <a:sym typeface="Codec Pro"/>
            </a:endParaRPr>
          </a:p>
          <a:p>
            <a:pPr algn="just">
              <a:lnSpc>
                <a:spcPts val="2448"/>
              </a:lnSpc>
            </a:pPr>
            <a:r>
              <a:rPr lang="en-US" sz="2246" b="1" spc="8">
                <a:solidFill>
                  <a:srgbClr val="000000"/>
                </a:solidFill>
                <a:latin typeface="Codec Pro Bold"/>
                <a:ea typeface="Codec Pro Bold"/>
                <a:cs typeface="Codec Pro Bold"/>
                <a:sym typeface="Codec Pro Bold"/>
              </a:rPr>
              <a:t>2.Groupes moins affectés :</a:t>
            </a:r>
          </a:p>
          <a:p>
            <a:pPr marL="484951" lvl="1" indent="-242475" algn="just">
              <a:lnSpc>
                <a:spcPts val="2448"/>
              </a:lnSpc>
              <a:buFont typeface="Arial"/>
              <a:buChar char="•"/>
            </a:pPr>
            <a:r>
              <a:rPr lang="en-US" sz="2246" spc="8">
                <a:solidFill>
                  <a:srgbClr val="000000"/>
                </a:solidFill>
                <a:latin typeface="Codec Pro"/>
                <a:ea typeface="Codec Pro"/>
                <a:cs typeface="Codec Pro"/>
                <a:sym typeface="Codec Pro"/>
              </a:rPr>
              <a:t>Les adultes âgés de 20 à 40 ans semblent relativement moins affectés.</a:t>
            </a:r>
          </a:p>
          <a:p>
            <a:pPr algn="just">
              <a:lnSpc>
                <a:spcPts val="2448"/>
              </a:lnSpc>
            </a:pPr>
            <a:endParaRPr lang="en-US" sz="2246" spc="8">
              <a:solidFill>
                <a:srgbClr val="000000"/>
              </a:solidFill>
              <a:latin typeface="Codec Pro"/>
              <a:ea typeface="Codec Pro"/>
              <a:cs typeface="Codec Pro"/>
              <a:sym typeface="Codec Pro"/>
            </a:endParaRPr>
          </a:p>
          <a:p>
            <a:pPr algn="just">
              <a:lnSpc>
                <a:spcPts val="2448"/>
              </a:lnSpc>
            </a:pPr>
            <a:endParaRPr lang="en-US" sz="2246" spc="8">
              <a:solidFill>
                <a:srgbClr val="000000"/>
              </a:solidFill>
              <a:latin typeface="Codec Pro"/>
              <a:ea typeface="Codec Pro"/>
              <a:cs typeface="Codec Pro"/>
              <a:sym typeface="Codec Pro"/>
            </a:endParaRPr>
          </a:p>
        </p:txBody>
      </p:sp>
      <p:sp>
        <p:nvSpPr>
          <p:cNvPr id="7" name="TextBox 7"/>
          <p:cNvSpPr txBox="1"/>
          <p:nvPr/>
        </p:nvSpPr>
        <p:spPr>
          <a:xfrm>
            <a:off x="386509" y="1238250"/>
            <a:ext cx="8089181" cy="1749198"/>
          </a:xfrm>
          <a:prstGeom prst="rect">
            <a:avLst/>
          </a:prstGeom>
        </p:spPr>
        <p:txBody>
          <a:bodyPr lIns="0" tIns="0" rIns="0" bIns="0" rtlCol="0" anchor="t">
            <a:spAutoFit/>
          </a:bodyPr>
          <a:lstStyle/>
          <a:p>
            <a:pPr algn="l">
              <a:lnSpc>
                <a:spcPts val="6669"/>
              </a:lnSpc>
            </a:pPr>
            <a:r>
              <a:rPr lang="en-US" sz="7410">
                <a:solidFill>
                  <a:srgbClr val="000000"/>
                </a:solidFill>
                <a:latin typeface="League Spartan"/>
                <a:ea typeface="League Spartan"/>
                <a:cs typeface="League Spartan"/>
                <a:sym typeface="League Spartan"/>
              </a:rPr>
              <a:t>OBSERVATIONS</a:t>
            </a:r>
          </a:p>
          <a:p>
            <a:pPr algn="l">
              <a:lnSpc>
                <a:spcPts val="6669"/>
              </a:lnSpc>
            </a:pPr>
            <a:endParaRPr lang="en-US" sz="7410">
              <a:solidFill>
                <a:srgbClr val="000000"/>
              </a:solidFill>
              <a:latin typeface="League Spartan"/>
              <a:ea typeface="League Spartan"/>
              <a:cs typeface="League Spartan"/>
              <a:sym typeface="League Spartan"/>
            </a:endParaRPr>
          </a:p>
        </p:txBody>
      </p:sp>
      <p:sp>
        <p:nvSpPr>
          <p:cNvPr id="8" name="TextBox 8"/>
          <p:cNvSpPr txBox="1"/>
          <p:nvPr/>
        </p:nvSpPr>
        <p:spPr>
          <a:xfrm>
            <a:off x="10130136" y="965826"/>
            <a:ext cx="6547752" cy="795263"/>
          </a:xfrm>
          <a:prstGeom prst="rect">
            <a:avLst/>
          </a:prstGeom>
        </p:spPr>
        <p:txBody>
          <a:bodyPr lIns="0" tIns="0" rIns="0" bIns="0" rtlCol="0" anchor="t">
            <a:spAutoFit/>
          </a:bodyPr>
          <a:lstStyle/>
          <a:p>
            <a:pPr algn="ctr">
              <a:lnSpc>
                <a:spcPts val="3035"/>
              </a:lnSpc>
            </a:pPr>
            <a:r>
              <a:rPr lang="en-US" sz="3373">
                <a:solidFill>
                  <a:srgbClr val="3A3A3A"/>
                </a:solidFill>
                <a:latin typeface="League Spartan"/>
                <a:ea typeface="League Spartan"/>
                <a:cs typeface="League Spartan"/>
                <a:sym typeface="League Spartan"/>
              </a:rPr>
              <a:t>RÉPARTITION PAR GROUPE D'ÂGE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F0E8"/>
        </a:solidFill>
        <a:effectLst/>
      </p:bgPr>
    </p:bg>
    <p:spTree>
      <p:nvGrpSpPr>
        <p:cNvPr id="1" name=""/>
        <p:cNvGrpSpPr/>
        <p:nvPr/>
      </p:nvGrpSpPr>
      <p:grpSpPr>
        <a:xfrm>
          <a:off x="0" y="0"/>
          <a:ext cx="0" cy="0"/>
          <a:chOff x="0" y="0"/>
          <a:chExt cx="0" cy="0"/>
        </a:xfrm>
      </p:grpSpPr>
      <p:grpSp>
        <p:nvGrpSpPr>
          <p:cNvPr id="2" name="Group 2"/>
          <p:cNvGrpSpPr/>
          <p:nvPr/>
        </p:nvGrpSpPr>
        <p:grpSpPr>
          <a:xfrm>
            <a:off x="-302357" y="8400781"/>
            <a:ext cx="9206373" cy="3086100"/>
            <a:chOff x="0" y="0"/>
            <a:chExt cx="2424724" cy="812800"/>
          </a:xfrm>
        </p:grpSpPr>
        <p:sp>
          <p:nvSpPr>
            <p:cNvPr id="3" name="Freeform 3"/>
            <p:cNvSpPr/>
            <p:nvPr/>
          </p:nvSpPr>
          <p:spPr>
            <a:xfrm>
              <a:off x="0" y="0"/>
              <a:ext cx="2424724" cy="812800"/>
            </a:xfrm>
            <a:custGeom>
              <a:avLst/>
              <a:gdLst/>
              <a:ahLst/>
              <a:cxnLst/>
              <a:rect l="l" t="t" r="r" b="b"/>
              <a:pathLst>
                <a:path w="2424724" h="812800">
                  <a:moveTo>
                    <a:pt x="0" y="0"/>
                  </a:moveTo>
                  <a:lnTo>
                    <a:pt x="2424724" y="0"/>
                  </a:lnTo>
                  <a:lnTo>
                    <a:pt x="2424724" y="812800"/>
                  </a:lnTo>
                  <a:lnTo>
                    <a:pt x="0" y="812800"/>
                  </a:lnTo>
                  <a:close/>
                </a:path>
              </a:pathLst>
            </a:custGeom>
            <a:solidFill>
              <a:srgbClr val="3A3A3A"/>
            </a:solidFill>
          </p:spPr>
        </p:sp>
        <p:sp>
          <p:nvSpPr>
            <p:cNvPr id="4" name="TextBox 4"/>
            <p:cNvSpPr txBox="1"/>
            <p:nvPr/>
          </p:nvSpPr>
          <p:spPr>
            <a:xfrm>
              <a:off x="0" y="19050"/>
              <a:ext cx="2424724" cy="793750"/>
            </a:xfrm>
            <a:prstGeom prst="rect">
              <a:avLst/>
            </a:prstGeom>
          </p:spPr>
          <p:txBody>
            <a:bodyPr lIns="50800" tIns="50800" rIns="50800" bIns="50800" rtlCol="0" anchor="ctr"/>
            <a:lstStyle/>
            <a:p>
              <a:pPr algn="ctr">
                <a:lnSpc>
                  <a:spcPts val="1929"/>
                </a:lnSpc>
              </a:pPr>
              <a:endParaRPr/>
            </a:p>
          </p:txBody>
        </p:sp>
      </p:grpSp>
      <p:grpSp>
        <p:nvGrpSpPr>
          <p:cNvPr id="5" name="Group 5"/>
          <p:cNvGrpSpPr/>
          <p:nvPr/>
        </p:nvGrpSpPr>
        <p:grpSpPr>
          <a:xfrm>
            <a:off x="0" y="0"/>
            <a:ext cx="8904016" cy="10287000"/>
            <a:chOff x="0" y="0"/>
            <a:chExt cx="2345091" cy="2709333"/>
          </a:xfrm>
        </p:grpSpPr>
        <p:sp>
          <p:nvSpPr>
            <p:cNvPr id="6" name="Freeform 6"/>
            <p:cNvSpPr/>
            <p:nvPr/>
          </p:nvSpPr>
          <p:spPr>
            <a:xfrm>
              <a:off x="0" y="0"/>
              <a:ext cx="2345091" cy="2709333"/>
            </a:xfrm>
            <a:custGeom>
              <a:avLst/>
              <a:gdLst/>
              <a:ahLst/>
              <a:cxnLst/>
              <a:rect l="l" t="t" r="r" b="b"/>
              <a:pathLst>
                <a:path w="2345091" h="2709333">
                  <a:moveTo>
                    <a:pt x="0" y="0"/>
                  </a:moveTo>
                  <a:lnTo>
                    <a:pt x="2345091" y="0"/>
                  </a:lnTo>
                  <a:lnTo>
                    <a:pt x="2345091" y="2709333"/>
                  </a:lnTo>
                  <a:lnTo>
                    <a:pt x="0" y="2709333"/>
                  </a:lnTo>
                  <a:close/>
                </a:path>
              </a:pathLst>
            </a:custGeom>
            <a:solidFill>
              <a:srgbClr val="EAFAB2"/>
            </a:solidFill>
            <a:ln cap="sq">
              <a:noFill/>
              <a:prstDash val="solid"/>
              <a:miter/>
            </a:ln>
          </p:spPr>
        </p:sp>
        <p:sp>
          <p:nvSpPr>
            <p:cNvPr id="7" name="TextBox 7"/>
            <p:cNvSpPr txBox="1"/>
            <p:nvPr/>
          </p:nvSpPr>
          <p:spPr>
            <a:xfrm>
              <a:off x="0" y="19050"/>
              <a:ext cx="2345091" cy="2690283"/>
            </a:xfrm>
            <a:prstGeom prst="rect">
              <a:avLst/>
            </a:prstGeom>
          </p:spPr>
          <p:txBody>
            <a:bodyPr lIns="50800" tIns="50800" rIns="50800" bIns="50800" rtlCol="0" anchor="ctr"/>
            <a:lstStyle/>
            <a:p>
              <a:pPr algn="ctr">
                <a:lnSpc>
                  <a:spcPts val="1929"/>
                </a:lnSpc>
              </a:pPr>
              <a:endParaRPr/>
            </a:p>
          </p:txBody>
        </p:sp>
      </p:grpSp>
      <p:pic>
        <p:nvPicPr>
          <p:cNvPr id="8" name="Picture 8"/>
          <p:cNvPicPr>
            <a:picLocks noChangeAspect="1"/>
          </p:cNvPicPr>
          <p:nvPr/>
        </p:nvPicPr>
        <p:blipFill>
          <a:blip r:embed="rId2"/>
          <a:stretch>
            <a:fillRect/>
          </a:stretch>
        </p:blipFill>
        <p:spPr>
          <a:xfrm>
            <a:off x="9873942" y="2287794"/>
            <a:ext cx="7649273" cy="7428602"/>
          </a:xfrm>
          <a:prstGeom prst="rect">
            <a:avLst/>
          </a:prstGeom>
        </p:spPr>
      </p:pic>
      <p:sp>
        <p:nvSpPr>
          <p:cNvPr id="9" name="TextBox 9"/>
          <p:cNvSpPr txBox="1"/>
          <p:nvPr/>
        </p:nvSpPr>
        <p:spPr>
          <a:xfrm>
            <a:off x="465881" y="3712753"/>
            <a:ext cx="7930436" cy="4317597"/>
          </a:xfrm>
          <a:prstGeom prst="rect">
            <a:avLst/>
          </a:prstGeom>
        </p:spPr>
        <p:txBody>
          <a:bodyPr lIns="0" tIns="0" rIns="0" bIns="0" rtlCol="0" anchor="t">
            <a:spAutoFit/>
          </a:bodyPr>
          <a:lstStyle/>
          <a:p>
            <a:pPr algn="just">
              <a:lnSpc>
                <a:spcPts val="2445"/>
              </a:lnSpc>
            </a:pPr>
            <a:r>
              <a:rPr lang="en-US" sz="2243" b="1" spc="8">
                <a:solidFill>
                  <a:srgbClr val="000000"/>
                </a:solidFill>
                <a:latin typeface="Codec Pro Bold"/>
                <a:ea typeface="Codec Pro Bold"/>
                <a:cs typeface="Codec Pro Bold"/>
                <a:sym typeface="Codec Pro Bold"/>
              </a:rPr>
              <a:t>1.Bactéries les plus courantes :</a:t>
            </a:r>
          </a:p>
          <a:p>
            <a:pPr marL="484450" lvl="1" indent="-242225" algn="just">
              <a:lnSpc>
                <a:spcPts val="2445"/>
              </a:lnSpc>
              <a:buFont typeface="Arial"/>
              <a:buChar char="•"/>
            </a:pPr>
            <a:r>
              <a:rPr lang="en-US" sz="2243" b="1" spc="8">
                <a:solidFill>
                  <a:srgbClr val="CB6CE6"/>
                </a:solidFill>
                <a:latin typeface="Codec Pro Bold"/>
                <a:ea typeface="Codec Pro Bold"/>
                <a:cs typeface="Codec Pro Bold"/>
                <a:sym typeface="Codec Pro Bold"/>
              </a:rPr>
              <a:t>Salmonelle</a:t>
            </a:r>
            <a:r>
              <a:rPr lang="en-US" sz="2243" spc="8">
                <a:solidFill>
                  <a:srgbClr val="000000"/>
                </a:solidFill>
                <a:latin typeface="Codec Pro"/>
                <a:ea typeface="Codec Pro"/>
                <a:cs typeface="Codec Pro"/>
                <a:sym typeface="Codec Pro"/>
              </a:rPr>
              <a:t> : 531 cas (34,2 % des cas analysés).</a:t>
            </a:r>
          </a:p>
          <a:p>
            <a:pPr marL="484450" lvl="1" indent="-242225" algn="just">
              <a:lnSpc>
                <a:spcPts val="2445"/>
              </a:lnSpc>
              <a:buFont typeface="Arial"/>
              <a:buChar char="•"/>
            </a:pPr>
            <a:r>
              <a:rPr lang="en-US" sz="2243" b="1" spc="8">
                <a:solidFill>
                  <a:srgbClr val="8C52FF"/>
                </a:solidFill>
                <a:latin typeface="Codec Pro Bold"/>
                <a:ea typeface="Codec Pro Bold"/>
                <a:cs typeface="Codec Pro Bold"/>
                <a:sym typeface="Codec Pro Bold"/>
              </a:rPr>
              <a:t>E. coli</a:t>
            </a:r>
            <a:r>
              <a:rPr lang="en-US" sz="2243" spc="8">
                <a:solidFill>
                  <a:srgbClr val="000000"/>
                </a:solidFill>
                <a:latin typeface="Codec Pro"/>
                <a:ea typeface="Codec Pro"/>
                <a:cs typeface="Codec Pro"/>
                <a:sym typeface="Codec Pro"/>
              </a:rPr>
              <a:t> et </a:t>
            </a:r>
            <a:r>
              <a:rPr lang="en-US" sz="2243" b="1" spc="8">
                <a:solidFill>
                  <a:srgbClr val="8C52FF"/>
                </a:solidFill>
                <a:latin typeface="Codec Pro Bold"/>
                <a:ea typeface="Codec Pro Bold"/>
                <a:cs typeface="Codec Pro Bold"/>
                <a:sym typeface="Codec Pro Bold"/>
              </a:rPr>
              <a:t>Listeria</a:t>
            </a:r>
            <a:r>
              <a:rPr lang="en-US" sz="2243" spc="8">
                <a:solidFill>
                  <a:srgbClr val="000000"/>
                </a:solidFill>
                <a:latin typeface="Codec Pro"/>
                <a:ea typeface="Codec Pro"/>
                <a:cs typeface="Codec Pro"/>
                <a:sym typeface="Codec Pro"/>
              </a:rPr>
              <a:t> suivent avec respectivement 370 et 343 cas.</a:t>
            </a:r>
          </a:p>
          <a:p>
            <a:pPr algn="just">
              <a:lnSpc>
                <a:spcPts val="2445"/>
              </a:lnSpc>
            </a:pPr>
            <a:endParaRPr lang="en-US" sz="2243" spc="8">
              <a:solidFill>
                <a:srgbClr val="000000"/>
              </a:solidFill>
              <a:latin typeface="Codec Pro"/>
              <a:ea typeface="Codec Pro"/>
              <a:cs typeface="Codec Pro"/>
              <a:sym typeface="Codec Pro"/>
            </a:endParaRPr>
          </a:p>
          <a:p>
            <a:pPr algn="just">
              <a:lnSpc>
                <a:spcPts val="2445"/>
              </a:lnSpc>
            </a:pPr>
            <a:r>
              <a:rPr lang="en-US" sz="2243" b="1" spc="8">
                <a:solidFill>
                  <a:srgbClr val="000000"/>
                </a:solidFill>
                <a:latin typeface="Codec Pro Bold"/>
                <a:ea typeface="Codec Pro Bold"/>
                <a:cs typeface="Codec Pro Bold"/>
                <a:sym typeface="Codec Pro Bold"/>
              </a:rPr>
              <a:t>2.Autres bactéries :</a:t>
            </a:r>
          </a:p>
          <a:p>
            <a:pPr marL="968901" lvl="2" indent="-322967" algn="just">
              <a:lnSpc>
                <a:spcPts val="2445"/>
              </a:lnSpc>
              <a:buFont typeface="Arial"/>
              <a:buChar char="⚬"/>
            </a:pPr>
            <a:r>
              <a:rPr lang="en-US" sz="2243" spc="8">
                <a:solidFill>
                  <a:srgbClr val="000000"/>
                </a:solidFill>
                <a:latin typeface="Codec Pro"/>
                <a:ea typeface="Codec Pro"/>
                <a:cs typeface="Codec Pro"/>
                <a:sym typeface="Codec Pro"/>
              </a:rPr>
              <a:t>D'autres bactéries (comme E. coli) sont présentes, mais en moindre proportion.</a:t>
            </a:r>
          </a:p>
          <a:p>
            <a:pPr algn="just">
              <a:lnSpc>
                <a:spcPts val="2445"/>
              </a:lnSpc>
            </a:pPr>
            <a:endParaRPr lang="en-US" sz="2243" spc="8">
              <a:solidFill>
                <a:srgbClr val="000000"/>
              </a:solidFill>
              <a:latin typeface="Codec Pro"/>
              <a:ea typeface="Codec Pro"/>
              <a:cs typeface="Codec Pro"/>
              <a:sym typeface="Codec Pro"/>
            </a:endParaRPr>
          </a:p>
          <a:p>
            <a:pPr algn="just">
              <a:lnSpc>
                <a:spcPts val="2445"/>
              </a:lnSpc>
            </a:pPr>
            <a:r>
              <a:rPr lang="en-US" sz="2243" spc="8">
                <a:solidFill>
                  <a:srgbClr val="000000"/>
                </a:solidFill>
                <a:latin typeface="Codec Pro"/>
                <a:ea typeface="Codec Pro"/>
                <a:cs typeface="Codec Pro"/>
                <a:sym typeface="Codec Pro"/>
              </a:rPr>
              <a:t>.</a:t>
            </a:r>
          </a:p>
          <a:p>
            <a:pPr algn="just">
              <a:lnSpc>
                <a:spcPts val="2445"/>
              </a:lnSpc>
            </a:pPr>
            <a:endParaRPr lang="en-US" sz="2243" spc="8">
              <a:solidFill>
                <a:srgbClr val="000000"/>
              </a:solidFill>
              <a:latin typeface="Codec Pro"/>
              <a:ea typeface="Codec Pro"/>
              <a:cs typeface="Codec Pro"/>
              <a:sym typeface="Codec Pro"/>
            </a:endParaRPr>
          </a:p>
          <a:p>
            <a:pPr algn="just">
              <a:lnSpc>
                <a:spcPts val="2445"/>
              </a:lnSpc>
            </a:pPr>
            <a:endParaRPr lang="en-US" sz="2243" spc="8">
              <a:solidFill>
                <a:srgbClr val="000000"/>
              </a:solidFill>
              <a:latin typeface="Codec Pro"/>
              <a:ea typeface="Codec Pro"/>
              <a:cs typeface="Codec Pro"/>
              <a:sym typeface="Codec Pro"/>
            </a:endParaRPr>
          </a:p>
          <a:p>
            <a:pPr algn="just">
              <a:lnSpc>
                <a:spcPts val="2445"/>
              </a:lnSpc>
            </a:pPr>
            <a:endParaRPr lang="en-US" sz="2243" spc="8">
              <a:solidFill>
                <a:srgbClr val="000000"/>
              </a:solidFill>
              <a:latin typeface="Codec Pro"/>
              <a:ea typeface="Codec Pro"/>
              <a:cs typeface="Codec Pro"/>
              <a:sym typeface="Codec Pro"/>
            </a:endParaRPr>
          </a:p>
          <a:p>
            <a:pPr algn="just">
              <a:lnSpc>
                <a:spcPts val="2445"/>
              </a:lnSpc>
            </a:pPr>
            <a:endParaRPr lang="en-US" sz="2243" spc="8">
              <a:solidFill>
                <a:srgbClr val="000000"/>
              </a:solidFill>
              <a:latin typeface="Codec Pro"/>
              <a:ea typeface="Codec Pro"/>
              <a:cs typeface="Codec Pro"/>
              <a:sym typeface="Codec Pro"/>
            </a:endParaRPr>
          </a:p>
        </p:txBody>
      </p:sp>
      <p:sp>
        <p:nvSpPr>
          <p:cNvPr id="10" name="TextBox 10"/>
          <p:cNvSpPr txBox="1"/>
          <p:nvPr/>
        </p:nvSpPr>
        <p:spPr>
          <a:xfrm>
            <a:off x="386509" y="1238250"/>
            <a:ext cx="8089181" cy="1749198"/>
          </a:xfrm>
          <a:prstGeom prst="rect">
            <a:avLst/>
          </a:prstGeom>
        </p:spPr>
        <p:txBody>
          <a:bodyPr lIns="0" tIns="0" rIns="0" bIns="0" rtlCol="0" anchor="t">
            <a:spAutoFit/>
          </a:bodyPr>
          <a:lstStyle/>
          <a:p>
            <a:pPr algn="l">
              <a:lnSpc>
                <a:spcPts val="6669"/>
              </a:lnSpc>
            </a:pPr>
            <a:r>
              <a:rPr lang="en-US" sz="7410">
                <a:solidFill>
                  <a:srgbClr val="000000"/>
                </a:solidFill>
                <a:latin typeface="League Spartan"/>
                <a:ea typeface="League Spartan"/>
                <a:cs typeface="League Spartan"/>
                <a:sym typeface="League Spartan"/>
              </a:rPr>
              <a:t>OBSERVATIONS</a:t>
            </a:r>
          </a:p>
          <a:p>
            <a:pPr algn="l">
              <a:lnSpc>
                <a:spcPts val="6669"/>
              </a:lnSpc>
            </a:pPr>
            <a:endParaRPr lang="en-US" sz="7410">
              <a:solidFill>
                <a:srgbClr val="000000"/>
              </a:solidFill>
              <a:latin typeface="League Spartan"/>
              <a:ea typeface="League Spartan"/>
              <a:cs typeface="League Spartan"/>
              <a:sym typeface="League Spartan"/>
            </a:endParaRPr>
          </a:p>
        </p:txBody>
      </p:sp>
      <p:sp>
        <p:nvSpPr>
          <p:cNvPr id="11" name="TextBox 11"/>
          <p:cNvSpPr txBox="1"/>
          <p:nvPr/>
        </p:nvSpPr>
        <p:spPr>
          <a:xfrm>
            <a:off x="10449737" y="1311931"/>
            <a:ext cx="6547752" cy="414263"/>
          </a:xfrm>
          <a:prstGeom prst="rect">
            <a:avLst/>
          </a:prstGeom>
        </p:spPr>
        <p:txBody>
          <a:bodyPr lIns="0" tIns="0" rIns="0" bIns="0" rtlCol="0" anchor="t">
            <a:spAutoFit/>
          </a:bodyPr>
          <a:lstStyle/>
          <a:p>
            <a:pPr algn="ctr">
              <a:lnSpc>
                <a:spcPts val="3035"/>
              </a:lnSpc>
            </a:pPr>
            <a:r>
              <a:rPr lang="en-US" sz="3373">
                <a:solidFill>
                  <a:srgbClr val="3A3A3A"/>
                </a:solidFill>
                <a:latin typeface="League Spartan"/>
                <a:ea typeface="League Spartan"/>
                <a:cs typeface="League Spartan"/>
                <a:sym typeface="League Spartan"/>
              </a:rPr>
              <a:t>BACTÉRIES DÉTECTÉES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grpSp>
        <p:nvGrpSpPr>
          <p:cNvPr id="2" name="Group 2"/>
          <p:cNvGrpSpPr/>
          <p:nvPr/>
        </p:nvGrpSpPr>
        <p:grpSpPr>
          <a:xfrm>
            <a:off x="-302357" y="8400781"/>
            <a:ext cx="9206373" cy="3086100"/>
            <a:chOff x="0" y="0"/>
            <a:chExt cx="2424724" cy="812800"/>
          </a:xfrm>
        </p:grpSpPr>
        <p:sp>
          <p:nvSpPr>
            <p:cNvPr id="3" name="Freeform 3"/>
            <p:cNvSpPr/>
            <p:nvPr/>
          </p:nvSpPr>
          <p:spPr>
            <a:xfrm>
              <a:off x="0" y="0"/>
              <a:ext cx="2424724" cy="812800"/>
            </a:xfrm>
            <a:custGeom>
              <a:avLst/>
              <a:gdLst/>
              <a:ahLst/>
              <a:cxnLst/>
              <a:rect l="l" t="t" r="r" b="b"/>
              <a:pathLst>
                <a:path w="2424724" h="812800">
                  <a:moveTo>
                    <a:pt x="0" y="0"/>
                  </a:moveTo>
                  <a:lnTo>
                    <a:pt x="2424724" y="0"/>
                  </a:lnTo>
                  <a:lnTo>
                    <a:pt x="2424724" y="812800"/>
                  </a:lnTo>
                  <a:lnTo>
                    <a:pt x="0" y="812800"/>
                  </a:lnTo>
                  <a:close/>
                </a:path>
              </a:pathLst>
            </a:custGeom>
            <a:solidFill>
              <a:srgbClr val="3A3A3A"/>
            </a:solidFill>
          </p:spPr>
        </p:sp>
        <p:sp>
          <p:nvSpPr>
            <p:cNvPr id="4" name="TextBox 4"/>
            <p:cNvSpPr txBox="1"/>
            <p:nvPr/>
          </p:nvSpPr>
          <p:spPr>
            <a:xfrm>
              <a:off x="0" y="19050"/>
              <a:ext cx="2424724" cy="793750"/>
            </a:xfrm>
            <a:prstGeom prst="rect">
              <a:avLst/>
            </a:prstGeom>
          </p:spPr>
          <p:txBody>
            <a:bodyPr lIns="50800" tIns="50800" rIns="50800" bIns="50800" rtlCol="0" anchor="ctr"/>
            <a:lstStyle/>
            <a:p>
              <a:pPr algn="ctr">
                <a:lnSpc>
                  <a:spcPts val="1929"/>
                </a:lnSpc>
              </a:pPr>
              <a:endParaRPr/>
            </a:p>
          </p:txBody>
        </p:sp>
      </p:grpSp>
      <p:grpSp>
        <p:nvGrpSpPr>
          <p:cNvPr id="5" name="Group 5"/>
          <p:cNvGrpSpPr/>
          <p:nvPr/>
        </p:nvGrpSpPr>
        <p:grpSpPr>
          <a:xfrm>
            <a:off x="0" y="0"/>
            <a:ext cx="8904016" cy="10287000"/>
            <a:chOff x="0" y="0"/>
            <a:chExt cx="2345091" cy="2709333"/>
          </a:xfrm>
        </p:grpSpPr>
        <p:sp>
          <p:nvSpPr>
            <p:cNvPr id="6" name="Freeform 6"/>
            <p:cNvSpPr/>
            <p:nvPr/>
          </p:nvSpPr>
          <p:spPr>
            <a:xfrm>
              <a:off x="0" y="0"/>
              <a:ext cx="2345091" cy="2709333"/>
            </a:xfrm>
            <a:custGeom>
              <a:avLst/>
              <a:gdLst/>
              <a:ahLst/>
              <a:cxnLst/>
              <a:rect l="l" t="t" r="r" b="b"/>
              <a:pathLst>
                <a:path w="2345091" h="2709333">
                  <a:moveTo>
                    <a:pt x="0" y="0"/>
                  </a:moveTo>
                  <a:lnTo>
                    <a:pt x="2345091" y="0"/>
                  </a:lnTo>
                  <a:lnTo>
                    <a:pt x="2345091" y="2709333"/>
                  </a:lnTo>
                  <a:lnTo>
                    <a:pt x="0" y="2709333"/>
                  </a:lnTo>
                  <a:close/>
                </a:path>
              </a:pathLst>
            </a:custGeom>
            <a:solidFill>
              <a:srgbClr val="EAFAB2"/>
            </a:solidFill>
            <a:ln cap="sq">
              <a:noFill/>
              <a:prstDash val="solid"/>
              <a:miter/>
            </a:ln>
          </p:spPr>
        </p:sp>
        <p:sp>
          <p:nvSpPr>
            <p:cNvPr id="7" name="TextBox 7"/>
            <p:cNvSpPr txBox="1"/>
            <p:nvPr/>
          </p:nvSpPr>
          <p:spPr>
            <a:xfrm>
              <a:off x="0" y="19050"/>
              <a:ext cx="2345091" cy="2690283"/>
            </a:xfrm>
            <a:prstGeom prst="rect">
              <a:avLst/>
            </a:prstGeom>
          </p:spPr>
          <p:txBody>
            <a:bodyPr lIns="50800" tIns="50800" rIns="50800" bIns="50800" rtlCol="0" anchor="ctr"/>
            <a:lstStyle/>
            <a:p>
              <a:pPr algn="ctr">
                <a:lnSpc>
                  <a:spcPts val="1929"/>
                </a:lnSpc>
              </a:pPr>
              <a:endParaRPr/>
            </a:p>
          </p:txBody>
        </p:sp>
      </p:grpSp>
      <p:pic>
        <p:nvPicPr>
          <p:cNvPr id="8" name="Picture 8"/>
          <p:cNvPicPr>
            <a:picLocks noChangeAspect="1"/>
          </p:cNvPicPr>
          <p:nvPr/>
        </p:nvPicPr>
        <p:blipFill>
          <a:blip r:embed="rId2"/>
          <a:stretch>
            <a:fillRect/>
          </a:stretch>
        </p:blipFill>
        <p:spPr>
          <a:xfrm>
            <a:off x="8714059" y="2161246"/>
            <a:ext cx="10020122" cy="7588926"/>
          </a:xfrm>
          <a:prstGeom prst="rect">
            <a:avLst/>
          </a:prstGeom>
        </p:spPr>
      </p:pic>
      <p:sp>
        <p:nvSpPr>
          <p:cNvPr id="9" name="TextBox 9"/>
          <p:cNvSpPr txBox="1"/>
          <p:nvPr/>
        </p:nvSpPr>
        <p:spPr>
          <a:xfrm>
            <a:off x="179141" y="2199101"/>
            <a:ext cx="8545735" cy="7430875"/>
          </a:xfrm>
          <a:prstGeom prst="rect">
            <a:avLst/>
          </a:prstGeom>
        </p:spPr>
        <p:txBody>
          <a:bodyPr lIns="0" tIns="0" rIns="0" bIns="0" rtlCol="0" anchor="t">
            <a:spAutoFit/>
          </a:bodyPr>
          <a:lstStyle/>
          <a:p>
            <a:pPr algn="just">
              <a:lnSpc>
                <a:spcPts val="2336"/>
              </a:lnSpc>
            </a:pPr>
            <a:r>
              <a:rPr lang="en-US" sz="2143" b="1" spc="8">
                <a:solidFill>
                  <a:srgbClr val="000000"/>
                </a:solidFill>
                <a:latin typeface="Codec Pro Bold"/>
                <a:ea typeface="Codec Pro Bold"/>
                <a:cs typeface="Codec Pro Bold"/>
                <a:sym typeface="Codec Pro Bold"/>
              </a:rPr>
              <a:t>Fournisseur industriel (441 incidents, 26.8 %)</a:t>
            </a:r>
          </a:p>
          <a:p>
            <a:pPr marL="462861" lvl="1" indent="-231430" algn="just">
              <a:lnSpc>
                <a:spcPts val="2336"/>
              </a:lnSpc>
              <a:buFont typeface="Arial"/>
              <a:buChar char="•"/>
            </a:pPr>
            <a:r>
              <a:rPr lang="en-US" sz="2143" spc="8">
                <a:solidFill>
                  <a:srgbClr val="000000"/>
                </a:solidFill>
                <a:latin typeface="Codec Pro"/>
                <a:ea typeface="Codec Pro"/>
                <a:cs typeface="Codec Pro"/>
                <a:sym typeface="Codec Pro"/>
              </a:rPr>
              <a:t>C'est la source la plus significative d'incidents.</a:t>
            </a:r>
          </a:p>
          <a:p>
            <a:pPr marL="462861" lvl="1" indent="-231430" algn="just">
              <a:lnSpc>
                <a:spcPts val="2336"/>
              </a:lnSpc>
              <a:buFont typeface="Arial"/>
              <a:buChar char="•"/>
            </a:pPr>
            <a:r>
              <a:rPr lang="en-US" sz="2143" b="1" spc="8">
                <a:solidFill>
                  <a:srgbClr val="8C52FF"/>
                </a:solidFill>
                <a:latin typeface="Codec Pro Bold"/>
                <a:ea typeface="Codec Pro Bold"/>
                <a:cs typeface="Codec Pro Bold"/>
                <a:sym typeface="Codec Pro Bold"/>
              </a:rPr>
              <a:t>Impact</a:t>
            </a:r>
            <a:r>
              <a:rPr lang="en-US" sz="2143" spc="8">
                <a:solidFill>
                  <a:srgbClr val="000000"/>
                </a:solidFill>
                <a:latin typeface="Codec Pro"/>
                <a:ea typeface="Codec Pro"/>
                <a:cs typeface="Codec Pro"/>
                <a:sym typeface="Codec Pro"/>
              </a:rPr>
              <a:t> : Affecte largement d'autres sources (ex. restaurants, fast-food).</a:t>
            </a:r>
          </a:p>
          <a:p>
            <a:pPr algn="just">
              <a:lnSpc>
                <a:spcPts val="2336"/>
              </a:lnSpc>
            </a:pPr>
            <a:endParaRPr lang="en-US" sz="2143" spc="8">
              <a:solidFill>
                <a:srgbClr val="000000"/>
              </a:solidFill>
              <a:latin typeface="Codec Pro"/>
              <a:ea typeface="Codec Pro"/>
              <a:cs typeface="Codec Pro"/>
              <a:sym typeface="Codec Pro"/>
            </a:endParaRPr>
          </a:p>
          <a:p>
            <a:pPr algn="just">
              <a:lnSpc>
                <a:spcPts val="2336"/>
              </a:lnSpc>
            </a:pPr>
            <a:r>
              <a:rPr lang="en-US" sz="2143" b="1" spc="8">
                <a:solidFill>
                  <a:srgbClr val="000000"/>
                </a:solidFill>
                <a:latin typeface="Codec Pro Bold"/>
                <a:ea typeface="Codec Pro Bold"/>
                <a:cs typeface="Codec Pro Bold"/>
                <a:sym typeface="Codec Pro Bold"/>
              </a:rPr>
              <a:t>Vendeur ambulant (376 incidents, 22.8 %)</a:t>
            </a:r>
          </a:p>
          <a:p>
            <a:pPr marL="462861" lvl="1" indent="-231430" algn="just">
              <a:lnSpc>
                <a:spcPts val="2336"/>
              </a:lnSpc>
              <a:buFont typeface="Arial"/>
              <a:buChar char="•"/>
            </a:pPr>
            <a:r>
              <a:rPr lang="en-US" sz="2143" spc="8">
                <a:solidFill>
                  <a:srgbClr val="000000"/>
                </a:solidFill>
                <a:latin typeface="Codec Pro"/>
                <a:ea typeface="Codec Pro"/>
                <a:cs typeface="Codec Pro"/>
                <a:sym typeface="Codec Pro"/>
              </a:rPr>
              <a:t>Les vendeurs ambulants constituent la deuxième source.</a:t>
            </a:r>
          </a:p>
          <a:p>
            <a:pPr marL="462861" lvl="1" indent="-231430" algn="just">
              <a:lnSpc>
                <a:spcPts val="2336"/>
              </a:lnSpc>
              <a:buFont typeface="Arial"/>
              <a:buChar char="•"/>
            </a:pPr>
            <a:r>
              <a:rPr lang="en-US" sz="2143" b="1" spc="8">
                <a:solidFill>
                  <a:srgbClr val="8C52FF"/>
                </a:solidFill>
                <a:latin typeface="Codec Pro Bold"/>
                <a:ea typeface="Codec Pro Bold"/>
                <a:cs typeface="Codec Pro Bold"/>
                <a:sym typeface="Codec Pro Bold"/>
              </a:rPr>
              <a:t>Impact</a:t>
            </a:r>
            <a:r>
              <a:rPr lang="en-US" sz="2143" spc="8">
                <a:solidFill>
                  <a:srgbClr val="000000"/>
                </a:solidFill>
                <a:latin typeface="Codec Pro"/>
                <a:ea typeface="Codec Pro"/>
                <a:cs typeface="Codec Pro"/>
                <a:sym typeface="Codec Pro"/>
              </a:rPr>
              <a:t> : Particulièrement dangereux pour des aliments consommés directement.</a:t>
            </a:r>
          </a:p>
          <a:p>
            <a:pPr algn="just">
              <a:lnSpc>
                <a:spcPts val="2336"/>
              </a:lnSpc>
            </a:pPr>
            <a:endParaRPr lang="en-US" sz="2143" spc="8">
              <a:solidFill>
                <a:srgbClr val="000000"/>
              </a:solidFill>
              <a:latin typeface="Codec Pro"/>
              <a:ea typeface="Codec Pro"/>
              <a:cs typeface="Codec Pro"/>
              <a:sym typeface="Codec Pro"/>
            </a:endParaRPr>
          </a:p>
          <a:p>
            <a:pPr algn="just">
              <a:lnSpc>
                <a:spcPts val="2336"/>
              </a:lnSpc>
            </a:pPr>
            <a:r>
              <a:rPr lang="en-US" sz="2143" b="1" spc="8">
                <a:solidFill>
                  <a:srgbClr val="000000"/>
                </a:solidFill>
                <a:latin typeface="Codec Pro Bold"/>
                <a:ea typeface="Codec Pro Bold"/>
                <a:cs typeface="Codec Pro Bold"/>
                <a:sym typeface="Codec Pro Bold"/>
              </a:rPr>
              <a:t>Restaurant (356 incidents, 21.6 %)</a:t>
            </a:r>
          </a:p>
          <a:p>
            <a:pPr marL="462861" lvl="1" indent="-231430" algn="just">
              <a:lnSpc>
                <a:spcPts val="2336"/>
              </a:lnSpc>
              <a:buFont typeface="Arial"/>
              <a:buChar char="•"/>
            </a:pPr>
            <a:r>
              <a:rPr lang="en-US" sz="2143" spc="8">
                <a:solidFill>
                  <a:srgbClr val="000000"/>
                </a:solidFill>
                <a:latin typeface="Codec Pro"/>
                <a:ea typeface="Codec Pro"/>
                <a:cs typeface="Codec Pro"/>
                <a:sym typeface="Codec Pro"/>
              </a:rPr>
              <a:t>Les restaurants contribuent significativement aux incidents.</a:t>
            </a:r>
          </a:p>
          <a:p>
            <a:pPr marL="462861" lvl="1" indent="-231430" algn="just">
              <a:lnSpc>
                <a:spcPts val="2336"/>
              </a:lnSpc>
              <a:buFont typeface="Arial"/>
              <a:buChar char="•"/>
            </a:pPr>
            <a:r>
              <a:rPr lang="en-US" sz="2143" b="1" spc="8">
                <a:solidFill>
                  <a:srgbClr val="8C52FF"/>
                </a:solidFill>
                <a:latin typeface="Codec Pro Bold"/>
                <a:ea typeface="Codec Pro Bold"/>
                <a:cs typeface="Codec Pro Bold"/>
                <a:sym typeface="Codec Pro Bold"/>
              </a:rPr>
              <a:t>Impact</a:t>
            </a:r>
            <a:r>
              <a:rPr lang="en-US" sz="2143" spc="8">
                <a:solidFill>
                  <a:srgbClr val="000000"/>
                </a:solidFill>
                <a:latin typeface="Codec Pro"/>
                <a:ea typeface="Codec Pro"/>
                <a:cs typeface="Codec Pro"/>
                <a:sym typeface="Codec Pro"/>
              </a:rPr>
              <a:t> : Exposition massive à cause du nombre élevé de consommateurs.</a:t>
            </a:r>
          </a:p>
          <a:p>
            <a:pPr algn="just">
              <a:lnSpc>
                <a:spcPts val="2336"/>
              </a:lnSpc>
            </a:pPr>
            <a:endParaRPr lang="en-US" sz="2143" spc="8">
              <a:solidFill>
                <a:srgbClr val="000000"/>
              </a:solidFill>
              <a:latin typeface="Codec Pro"/>
              <a:ea typeface="Codec Pro"/>
              <a:cs typeface="Codec Pro"/>
              <a:sym typeface="Codec Pro"/>
            </a:endParaRPr>
          </a:p>
          <a:p>
            <a:pPr algn="just">
              <a:lnSpc>
                <a:spcPts val="2336"/>
              </a:lnSpc>
            </a:pPr>
            <a:r>
              <a:rPr lang="en-US" sz="2143" b="1" spc="8">
                <a:solidFill>
                  <a:srgbClr val="000000"/>
                </a:solidFill>
                <a:latin typeface="Codec Pro Bold"/>
                <a:ea typeface="Codec Pro Bold"/>
                <a:cs typeface="Codec Pro Bold"/>
                <a:sym typeface="Codec Pro Bold"/>
              </a:rPr>
              <a:t>Domicile (323 incidents, 19.6 %)</a:t>
            </a:r>
          </a:p>
          <a:p>
            <a:pPr marL="462861" lvl="1" indent="-231430" algn="just">
              <a:lnSpc>
                <a:spcPts val="2336"/>
              </a:lnSpc>
              <a:buFont typeface="Arial"/>
              <a:buChar char="•"/>
            </a:pPr>
            <a:r>
              <a:rPr lang="en-US" sz="2143" spc="8">
                <a:solidFill>
                  <a:srgbClr val="000000"/>
                </a:solidFill>
                <a:latin typeface="Codec Pro"/>
                <a:ea typeface="Codec Pro"/>
                <a:cs typeface="Codec Pro"/>
                <a:sym typeface="Codec Pro"/>
              </a:rPr>
              <a:t>Les foyers représentent une source importante d'incidents.</a:t>
            </a:r>
          </a:p>
          <a:p>
            <a:pPr marL="462861" lvl="1" indent="-231430" algn="just">
              <a:lnSpc>
                <a:spcPts val="2336"/>
              </a:lnSpc>
              <a:buFont typeface="Arial"/>
              <a:buChar char="•"/>
            </a:pPr>
            <a:r>
              <a:rPr lang="en-US" sz="2143" b="1" spc="8">
                <a:solidFill>
                  <a:srgbClr val="8C52FF"/>
                </a:solidFill>
                <a:latin typeface="Codec Pro Bold"/>
                <a:ea typeface="Codec Pro Bold"/>
                <a:cs typeface="Codec Pro Bold"/>
                <a:sym typeface="Codec Pro Bold"/>
              </a:rPr>
              <a:t>Impact</a:t>
            </a:r>
            <a:r>
              <a:rPr lang="en-US" sz="2143" spc="8">
                <a:solidFill>
                  <a:srgbClr val="000000"/>
                </a:solidFill>
                <a:latin typeface="Codec Pro"/>
                <a:ea typeface="Codec Pro"/>
                <a:cs typeface="Codec Pro"/>
                <a:sym typeface="Codec Pro"/>
              </a:rPr>
              <a:t> : Affecte directement les familles.</a:t>
            </a:r>
          </a:p>
          <a:p>
            <a:pPr algn="just">
              <a:lnSpc>
                <a:spcPts val="2336"/>
              </a:lnSpc>
            </a:pPr>
            <a:endParaRPr lang="en-US" sz="2143" spc="8">
              <a:solidFill>
                <a:srgbClr val="000000"/>
              </a:solidFill>
              <a:latin typeface="Codec Pro"/>
              <a:ea typeface="Codec Pro"/>
              <a:cs typeface="Codec Pro"/>
              <a:sym typeface="Codec Pro"/>
            </a:endParaRPr>
          </a:p>
          <a:p>
            <a:pPr algn="just">
              <a:lnSpc>
                <a:spcPts val="2336"/>
              </a:lnSpc>
            </a:pPr>
            <a:r>
              <a:rPr lang="en-US" sz="2143" b="1" spc="8">
                <a:solidFill>
                  <a:srgbClr val="000000"/>
                </a:solidFill>
                <a:latin typeface="Codec Pro Bold"/>
                <a:ea typeface="Codec Pro Bold"/>
                <a:cs typeface="Codec Pro Bold"/>
                <a:sym typeface="Codec Pro Bold"/>
              </a:rPr>
              <a:t>Fast-food (296 incidents, 18.0 %)</a:t>
            </a:r>
          </a:p>
          <a:p>
            <a:pPr marL="462861" lvl="1" indent="-231430" algn="just">
              <a:lnSpc>
                <a:spcPts val="2336"/>
              </a:lnSpc>
              <a:buFont typeface="Arial"/>
              <a:buChar char="•"/>
            </a:pPr>
            <a:r>
              <a:rPr lang="en-US" sz="2143" spc="8">
                <a:solidFill>
                  <a:srgbClr val="000000"/>
                </a:solidFill>
                <a:latin typeface="Codec Pro"/>
                <a:ea typeface="Codec Pro"/>
                <a:cs typeface="Codec Pro"/>
                <a:sym typeface="Codec Pro"/>
              </a:rPr>
              <a:t>Les fast-foods sont aussi une source fréquente.</a:t>
            </a:r>
          </a:p>
          <a:p>
            <a:pPr marL="462861" lvl="1" indent="-231430" algn="just">
              <a:lnSpc>
                <a:spcPts val="2336"/>
              </a:lnSpc>
              <a:buFont typeface="Arial"/>
              <a:buChar char="•"/>
            </a:pPr>
            <a:r>
              <a:rPr lang="en-US" sz="2143" b="1" spc="8">
                <a:solidFill>
                  <a:srgbClr val="8C52FF"/>
                </a:solidFill>
                <a:latin typeface="Codec Pro Bold"/>
                <a:ea typeface="Codec Pro Bold"/>
                <a:cs typeface="Codec Pro Bold"/>
                <a:sym typeface="Codec Pro Bold"/>
              </a:rPr>
              <a:t>Impact</a:t>
            </a:r>
            <a:r>
              <a:rPr lang="en-US" sz="2143" spc="8">
                <a:solidFill>
                  <a:srgbClr val="000000"/>
                </a:solidFill>
                <a:latin typeface="Codec Pro"/>
                <a:ea typeface="Codec Pro"/>
                <a:cs typeface="Codec Pro"/>
                <a:sym typeface="Codec Pro"/>
              </a:rPr>
              <a:t> : Consommateurs exposés à des produits souvent consommés sans contrôle.</a:t>
            </a:r>
          </a:p>
          <a:p>
            <a:pPr algn="just">
              <a:lnSpc>
                <a:spcPts val="2336"/>
              </a:lnSpc>
            </a:pPr>
            <a:endParaRPr lang="en-US" sz="2143" spc="8">
              <a:solidFill>
                <a:srgbClr val="000000"/>
              </a:solidFill>
              <a:latin typeface="Codec Pro"/>
              <a:ea typeface="Codec Pro"/>
              <a:cs typeface="Codec Pro"/>
              <a:sym typeface="Codec Pro"/>
            </a:endParaRPr>
          </a:p>
          <a:p>
            <a:pPr algn="just">
              <a:lnSpc>
                <a:spcPts val="2336"/>
              </a:lnSpc>
            </a:pPr>
            <a:endParaRPr lang="en-US" sz="2143" spc="8">
              <a:solidFill>
                <a:srgbClr val="000000"/>
              </a:solidFill>
              <a:latin typeface="Codec Pro"/>
              <a:ea typeface="Codec Pro"/>
              <a:cs typeface="Codec Pro"/>
              <a:sym typeface="Codec Pro"/>
            </a:endParaRPr>
          </a:p>
        </p:txBody>
      </p:sp>
      <p:sp>
        <p:nvSpPr>
          <p:cNvPr id="10" name="TextBox 10"/>
          <p:cNvSpPr txBox="1"/>
          <p:nvPr/>
        </p:nvSpPr>
        <p:spPr>
          <a:xfrm>
            <a:off x="386509" y="796004"/>
            <a:ext cx="8089181" cy="1749198"/>
          </a:xfrm>
          <a:prstGeom prst="rect">
            <a:avLst/>
          </a:prstGeom>
        </p:spPr>
        <p:txBody>
          <a:bodyPr lIns="0" tIns="0" rIns="0" bIns="0" rtlCol="0" anchor="t">
            <a:spAutoFit/>
          </a:bodyPr>
          <a:lstStyle/>
          <a:p>
            <a:pPr algn="l">
              <a:lnSpc>
                <a:spcPts val="6669"/>
              </a:lnSpc>
            </a:pPr>
            <a:r>
              <a:rPr lang="en-US" sz="7410">
                <a:solidFill>
                  <a:srgbClr val="000000"/>
                </a:solidFill>
                <a:latin typeface="League Spartan"/>
                <a:ea typeface="League Spartan"/>
                <a:cs typeface="League Spartan"/>
                <a:sym typeface="League Spartan"/>
              </a:rPr>
              <a:t>OBSERVATIONS</a:t>
            </a:r>
          </a:p>
          <a:p>
            <a:pPr algn="l">
              <a:lnSpc>
                <a:spcPts val="6669"/>
              </a:lnSpc>
            </a:pPr>
            <a:endParaRPr lang="en-US" sz="7410">
              <a:solidFill>
                <a:srgbClr val="000000"/>
              </a:solidFill>
              <a:latin typeface="League Spartan"/>
              <a:ea typeface="League Spartan"/>
              <a:cs typeface="League Spartan"/>
              <a:sym typeface="League Spartan"/>
            </a:endParaRPr>
          </a:p>
        </p:txBody>
      </p:sp>
      <p:sp>
        <p:nvSpPr>
          <p:cNvPr id="11" name="TextBox 11"/>
          <p:cNvSpPr txBox="1"/>
          <p:nvPr/>
        </p:nvSpPr>
        <p:spPr>
          <a:xfrm>
            <a:off x="9999403" y="1025322"/>
            <a:ext cx="7449435" cy="1176263"/>
          </a:xfrm>
          <a:prstGeom prst="rect">
            <a:avLst/>
          </a:prstGeom>
        </p:spPr>
        <p:txBody>
          <a:bodyPr lIns="0" tIns="0" rIns="0" bIns="0" rtlCol="0" anchor="t">
            <a:spAutoFit/>
          </a:bodyPr>
          <a:lstStyle/>
          <a:p>
            <a:pPr algn="l">
              <a:lnSpc>
                <a:spcPts val="3035"/>
              </a:lnSpc>
            </a:pPr>
            <a:r>
              <a:rPr lang="en-US" sz="3373">
                <a:solidFill>
                  <a:srgbClr val="3A3A3A"/>
                </a:solidFill>
                <a:latin typeface="League Spartan"/>
                <a:ea typeface="League Spartan"/>
                <a:cs typeface="League Spartan"/>
                <a:sym typeface="League Spartan"/>
              </a:rPr>
              <a:t>DISTRIBUTION DES INCIDENTS PAR SOURCE ALIMENTAIRE : GRAPHIQUE RADAR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F0E8"/>
        </a:solidFill>
        <a:effectLst/>
      </p:bgPr>
    </p:bg>
    <p:spTree>
      <p:nvGrpSpPr>
        <p:cNvPr id="1" name=""/>
        <p:cNvGrpSpPr/>
        <p:nvPr/>
      </p:nvGrpSpPr>
      <p:grpSpPr>
        <a:xfrm>
          <a:off x="0" y="0"/>
          <a:ext cx="0" cy="0"/>
          <a:chOff x="0" y="0"/>
          <a:chExt cx="0" cy="0"/>
        </a:xfrm>
      </p:grpSpPr>
      <p:sp>
        <p:nvSpPr>
          <p:cNvPr id="2" name="TextBox 2"/>
          <p:cNvSpPr txBox="1"/>
          <p:nvPr/>
        </p:nvSpPr>
        <p:spPr>
          <a:xfrm>
            <a:off x="1028700" y="5674884"/>
            <a:ext cx="8544857" cy="1373505"/>
          </a:xfrm>
          <a:prstGeom prst="rect">
            <a:avLst/>
          </a:prstGeom>
        </p:spPr>
        <p:txBody>
          <a:bodyPr lIns="0" tIns="0" rIns="0" bIns="0" rtlCol="0" anchor="t">
            <a:spAutoFit/>
          </a:bodyPr>
          <a:lstStyle/>
          <a:p>
            <a:pPr algn="just">
              <a:lnSpc>
                <a:spcPts val="2640"/>
              </a:lnSpc>
            </a:pPr>
            <a:r>
              <a:rPr lang="en-US" sz="2400">
                <a:solidFill>
                  <a:srgbClr val="33372C"/>
                </a:solidFill>
                <a:latin typeface="Telegraf"/>
                <a:ea typeface="Telegraf"/>
                <a:cs typeface="Telegraf"/>
                <a:sym typeface="Telegraf"/>
              </a:rPr>
              <a:t>Les intoxications alimentaires au Maroc demeurent un enjeu crucial de santé publique. Renforcer la prévention et les contrôles peut réduire leur impact et protéger la population.</a:t>
            </a:r>
          </a:p>
          <a:p>
            <a:pPr algn="just">
              <a:lnSpc>
                <a:spcPts val="2640"/>
              </a:lnSpc>
            </a:pPr>
            <a:endParaRPr lang="en-US" sz="2400">
              <a:solidFill>
                <a:srgbClr val="33372C"/>
              </a:solidFill>
              <a:latin typeface="Telegraf"/>
              <a:ea typeface="Telegraf"/>
              <a:cs typeface="Telegraf"/>
              <a:sym typeface="Telegraf"/>
            </a:endParaRPr>
          </a:p>
        </p:txBody>
      </p:sp>
      <p:sp>
        <p:nvSpPr>
          <p:cNvPr id="3" name="TextBox 3"/>
          <p:cNvSpPr txBox="1"/>
          <p:nvPr/>
        </p:nvSpPr>
        <p:spPr>
          <a:xfrm>
            <a:off x="1028700" y="7937501"/>
            <a:ext cx="9045442" cy="1320799"/>
          </a:xfrm>
          <a:prstGeom prst="rect">
            <a:avLst/>
          </a:prstGeom>
        </p:spPr>
        <p:txBody>
          <a:bodyPr lIns="0" tIns="0" rIns="0" bIns="0" rtlCol="0" anchor="t">
            <a:spAutoFit/>
          </a:bodyPr>
          <a:lstStyle/>
          <a:p>
            <a:pPr algn="l">
              <a:lnSpc>
                <a:spcPts val="9999"/>
              </a:lnSpc>
            </a:pPr>
            <a:r>
              <a:rPr lang="en-US" sz="9999" spc="-299">
                <a:solidFill>
                  <a:srgbClr val="33372C"/>
                </a:solidFill>
                <a:latin typeface="Montserrat Light"/>
                <a:ea typeface="Montserrat Light"/>
                <a:cs typeface="Montserrat Light"/>
                <a:sym typeface="Montserrat Light"/>
              </a:rPr>
              <a:t>CONCLUSION</a:t>
            </a:r>
          </a:p>
        </p:txBody>
      </p:sp>
      <p:grpSp>
        <p:nvGrpSpPr>
          <p:cNvPr id="4" name="Group 4"/>
          <p:cNvGrpSpPr/>
          <p:nvPr/>
        </p:nvGrpSpPr>
        <p:grpSpPr>
          <a:xfrm>
            <a:off x="9639837" y="-4002959"/>
            <a:ext cx="8648163" cy="10063317"/>
            <a:chOff x="0" y="0"/>
            <a:chExt cx="698500" cy="812800"/>
          </a:xfrm>
        </p:grpSpPr>
        <p:sp>
          <p:nvSpPr>
            <p:cNvPr id="5" name="Freeform 5"/>
            <p:cNvSpPr/>
            <p:nvPr/>
          </p:nvSpPr>
          <p:spPr>
            <a:xfrm>
              <a:off x="0" y="4432"/>
              <a:ext cx="698500" cy="803936"/>
            </a:xfrm>
            <a:custGeom>
              <a:avLst/>
              <a:gdLst/>
              <a:ahLst/>
              <a:cxnLst/>
              <a:rect l="l" t="t" r="r" b="b"/>
              <a:pathLst>
                <a:path w="698500" h="803936">
                  <a:moveTo>
                    <a:pt x="369199" y="7175"/>
                  </a:moveTo>
                  <a:lnTo>
                    <a:pt x="678551" y="187161"/>
                  </a:lnTo>
                  <a:cubicBezTo>
                    <a:pt x="690902" y="194347"/>
                    <a:pt x="698500" y="207559"/>
                    <a:pt x="698500" y="221848"/>
                  </a:cubicBezTo>
                  <a:lnTo>
                    <a:pt x="698500" y="582088"/>
                  </a:lnTo>
                  <a:cubicBezTo>
                    <a:pt x="698500" y="596377"/>
                    <a:pt x="690902" y="609589"/>
                    <a:pt x="678551" y="616775"/>
                  </a:cubicBezTo>
                  <a:lnTo>
                    <a:pt x="369199" y="796761"/>
                  </a:lnTo>
                  <a:cubicBezTo>
                    <a:pt x="356867" y="803936"/>
                    <a:pt x="341633" y="803936"/>
                    <a:pt x="329301" y="796761"/>
                  </a:cubicBezTo>
                  <a:lnTo>
                    <a:pt x="19949" y="616775"/>
                  </a:lnTo>
                  <a:cubicBezTo>
                    <a:pt x="7598" y="609589"/>
                    <a:pt x="0" y="596377"/>
                    <a:pt x="0" y="582088"/>
                  </a:cubicBezTo>
                  <a:lnTo>
                    <a:pt x="0" y="221848"/>
                  </a:lnTo>
                  <a:cubicBezTo>
                    <a:pt x="0" y="207559"/>
                    <a:pt x="7598" y="194347"/>
                    <a:pt x="19949" y="187161"/>
                  </a:cubicBezTo>
                  <a:lnTo>
                    <a:pt x="329301" y="7175"/>
                  </a:lnTo>
                  <a:cubicBezTo>
                    <a:pt x="341633" y="0"/>
                    <a:pt x="356867" y="0"/>
                    <a:pt x="369199" y="7175"/>
                  </a:cubicBezTo>
                  <a:close/>
                </a:path>
              </a:pathLst>
            </a:custGeom>
            <a:solidFill>
              <a:srgbClr val="33372C"/>
            </a:solidFill>
            <a:ln w="12700">
              <a:solidFill>
                <a:srgbClr val="000000"/>
              </a:solidFill>
            </a:ln>
          </p:spPr>
        </p:sp>
      </p:grpSp>
      <p:sp>
        <p:nvSpPr>
          <p:cNvPr id="6" name="Freeform 6"/>
          <p:cNvSpPr/>
          <p:nvPr/>
        </p:nvSpPr>
        <p:spPr>
          <a:xfrm>
            <a:off x="1028700" y="1028700"/>
            <a:ext cx="1528968" cy="1528968"/>
          </a:xfrm>
          <a:custGeom>
            <a:avLst/>
            <a:gdLst/>
            <a:ahLst/>
            <a:cxnLst/>
            <a:rect l="l" t="t" r="r" b="b"/>
            <a:pathLst>
              <a:path w="1528968" h="1528968">
                <a:moveTo>
                  <a:pt x="0" y="0"/>
                </a:moveTo>
                <a:lnTo>
                  <a:pt x="1528968" y="0"/>
                </a:lnTo>
                <a:lnTo>
                  <a:pt x="1528968" y="1528968"/>
                </a:lnTo>
                <a:lnTo>
                  <a:pt x="0" y="15289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1730248" y="2016731"/>
            <a:ext cx="8648163" cy="10063317"/>
            <a:chOff x="0" y="0"/>
            <a:chExt cx="698500" cy="812800"/>
          </a:xfrm>
        </p:grpSpPr>
        <p:sp>
          <p:nvSpPr>
            <p:cNvPr id="8" name="Freeform 8"/>
            <p:cNvSpPr/>
            <p:nvPr/>
          </p:nvSpPr>
          <p:spPr>
            <a:xfrm>
              <a:off x="0" y="4432"/>
              <a:ext cx="698500" cy="803936"/>
            </a:xfrm>
            <a:custGeom>
              <a:avLst/>
              <a:gdLst/>
              <a:ahLst/>
              <a:cxnLst/>
              <a:rect l="l" t="t" r="r" b="b"/>
              <a:pathLst>
                <a:path w="698500" h="803936">
                  <a:moveTo>
                    <a:pt x="369199" y="7175"/>
                  </a:moveTo>
                  <a:lnTo>
                    <a:pt x="678551" y="187161"/>
                  </a:lnTo>
                  <a:cubicBezTo>
                    <a:pt x="690902" y="194347"/>
                    <a:pt x="698500" y="207559"/>
                    <a:pt x="698500" y="221848"/>
                  </a:cubicBezTo>
                  <a:lnTo>
                    <a:pt x="698500" y="582088"/>
                  </a:lnTo>
                  <a:cubicBezTo>
                    <a:pt x="698500" y="596377"/>
                    <a:pt x="690902" y="609589"/>
                    <a:pt x="678551" y="616775"/>
                  </a:cubicBezTo>
                  <a:lnTo>
                    <a:pt x="369199" y="796761"/>
                  </a:lnTo>
                  <a:cubicBezTo>
                    <a:pt x="356867" y="803936"/>
                    <a:pt x="341633" y="803936"/>
                    <a:pt x="329301" y="796761"/>
                  </a:cubicBezTo>
                  <a:lnTo>
                    <a:pt x="19949" y="616775"/>
                  </a:lnTo>
                  <a:cubicBezTo>
                    <a:pt x="7598" y="609589"/>
                    <a:pt x="0" y="596377"/>
                    <a:pt x="0" y="582088"/>
                  </a:cubicBezTo>
                  <a:lnTo>
                    <a:pt x="0" y="221848"/>
                  </a:lnTo>
                  <a:cubicBezTo>
                    <a:pt x="0" y="207559"/>
                    <a:pt x="7598" y="194347"/>
                    <a:pt x="19949" y="187161"/>
                  </a:cubicBezTo>
                  <a:lnTo>
                    <a:pt x="329301" y="7175"/>
                  </a:lnTo>
                  <a:cubicBezTo>
                    <a:pt x="341633" y="0"/>
                    <a:pt x="356867" y="0"/>
                    <a:pt x="369199" y="7175"/>
                  </a:cubicBezTo>
                  <a:close/>
                </a:path>
              </a:pathLst>
            </a:custGeom>
            <a:solidFill>
              <a:srgbClr val="EAFAB2"/>
            </a:solidFill>
            <a:ln w="12700">
              <a:solidFill>
                <a:srgbClr val="000000"/>
              </a:solidFill>
            </a:ln>
          </p:spPr>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AFAB2"/>
        </a:solidFill>
        <a:effectLst/>
      </p:bgPr>
    </p:bg>
    <p:spTree>
      <p:nvGrpSpPr>
        <p:cNvPr id="1" name=""/>
        <p:cNvGrpSpPr/>
        <p:nvPr/>
      </p:nvGrpSpPr>
      <p:grpSpPr>
        <a:xfrm>
          <a:off x="0" y="0"/>
          <a:ext cx="0" cy="0"/>
          <a:chOff x="0" y="0"/>
          <a:chExt cx="0" cy="0"/>
        </a:xfrm>
      </p:grpSpPr>
      <p:grpSp>
        <p:nvGrpSpPr>
          <p:cNvPr id="2" name="Group 2"/>
          <p:cNvGrpSpPr/>
          <p:nvPr/>
        </p:nvGrpSpPr>
        <p:grpSpPr>
          <a:xfrm>
            <a:off x="14688022" y="0"/>
            <a:ext cx="5142556" cy="10287000"/>
            <a:chOff x="0" y="0"/>
            <a:chExt cx="1354418" cy="2709333"/>
          </a:xfrm>
        </p:grpSpPr>
        <p:sp>
          <p:nvSpPr>
            <p:cNvPr id="3" name="Freeform 3"/>
            <p:cNvSpPr/>
            <p:nvPr/>
          </p:nvSpPr>
          <p:spPr>
            <a:xfrm>
              <a:off x="0" y="0"/>
              <a:ext cx="1354418" cy="2709333"/>
            </a:xfrm>
            <a:custGeom>
              <a:avLst/>
              <a:gdLst/>
              <a:ahLst/>
              <a:cxnLst/>
              <a:rect l="l" t="t" r="r" b="b"/>
              <a:pathLst>
                <a:path w="1354418" h="2709333">
                  <a:moveTo>
                    <a:pt x="0" y="0"/>
                  </a:moveTo>
                  <a:lnTo>
                    <a:pt x="1354418" y="0"/>
                  </a:lnTo>
                  <a:lnTo>
                    <a:pt x="1354418" y="2709333"/>
                  </a:lnTo>
                  <a:lnTo>
                    <a:pt x="0" y="2709333"/>
                  </a:lnTo>
                  <a:close/>
                </a:path>
              </a:pathLst>
            </a:custGeom>
            <a:solidFill>
              <a:srgbClr val="000000"/>
            </a:solidFill>
          </p:spPr>
        </p:sp>
        <p:sp>
          <p:nvSpPr>
            <p:cNvPr id="4" name="TextBox 4"/>
            <p:cNvSpPr txBox="1"/>
            <p:nvPr/>
          </p:nvSpPr>
          <p:spPr>
            <a:xfrm>
              <a:off x="0" y="-76200"/>
              <a:ext cx="1354418" cy="2785533"/>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879503" y="4335383"/>
            <a:ext cx="11932146" cy="1359059"/>
          </a:xfrm>
          <a:prstGeom prst="rect">
            <a:avLst/>
          </a:prstGeom>
        </p:spPr>
        <p:txBody>
          <a:bodyPr lIns="0" tIns="0" rIns="0" bIns="0" rtlCol="0" anchor="t">
            <a:spAutoFit/>
          </a:bodyPr>
          <a:lstStyle/>
          <a:p>
            <a:pPr algn="ctr">
              <a:lnSpc>
                <a:spcPts val="10141"/>
              </a:lnSpc>
              <a:spcBef>
                <a:spcPct val="0"/>
              </a:spcBef>
            </a:pPr>
            <a:r>
              <a:rPr lang="en-US" sz="7243">
                <a:solidFill>
                  <a:srgbClr val="000000"/>
                </a:solidFill>
                <a:latin typeface="Codec Pro"/>
                <a:ea typeface="Codec Pro"/>
                <a:cs typeface="Codec Pro"/>
                <a:sym typeface="Codec Pro"/>
              </a:rPr>
              <a:t>Merci pour votre attention !</a:t>
            </a:r>
          </a:p>
        </p:txBody>
      </p:sp>
      <p:grpSp>
        <p:nvGrpSpPr>
          <p:cNvPr id="6" name="Group 6"/>
          <p:cNvGrpSpPr/>
          <p:nvPr/>
        </p:nvGrpSpPr>
        <p:grpSpPr>
          <a:xfrm>
            <a:off x="10840535" y="-2651155"/>
            <a:ext cx="7447465" cy="6234063"/>
            <a:chOff x="0" y="0"/>
            <a:chExt cx="601521" cy="503517"/>
          </a:xfrm>
        </p:grpSpPr>
        <p:sp>
          <p:nvSpPr>
            <p:cNvPr id="7" name="Freeform 7"/>
            <p:cNvSpPr/>
            <p:nvPr/>
          </p:nvSpPr>
          <p:spPr>
            <a:xfrm>
              <a:off x="0" y="5939"/>
              <a:ext cx="601521" cy="491639"/>
            </a:xfrm>
            <a:custGeom>
              <a:avLst/>
              <a:gdLst/>
              <a:ahLst/>
              <a:cxnLst/>
              <a:rect l="l" t="t" r="r" b="b"/>
              <a:pathLst>
                <a:path w="601521" h="491639">
                  <a:moveTo>
                    <a:pt x="322968" y="9065"/>
                  </a:moveTo>
                  <a:lnTo>
                    <a:pt x="579314" y="182257"/>
                  </a:lnTo>
                  <a:cubicBezTo>
                    <a:pt x="593200" y="191639"/>
                    <a:pt x="601521" y="207303"/>
                    <a:pt x="601521" y="224062"/>
                  </a:cubicBezTo>
                  <a:lnTo>
                    <a:pt x="601521" y="267577"/>
                  </a:lnTo>
                  <a:cubicBezTo>
                    <a:pt x="601521" y="284335"/>
                    <a:pt x="593200" y="300000"/>
                    <a:pt x="579314" y="309381"/>
                  </a:cubicBezTo>
                  <a:lnTo>
                    <a:pt x="322968" y="482574"/>
                  </a:lnTo>
                  <a:cubicBezTo>
                    <a:pt x="309551" y="491639"/>
                    <a:pt x="291971" y="491639"/>
                    <a:pt x="278553" y="482574"/>
                  </a:cubicBezTo>
                  <a:lnTo>
                    <a:pt x="22207" y="309381"/>
                  </a:lnTo>
                  <a:cubicBezTo>
                    <a:pt x="8321" y="300000"/>
                    <a:pt x="0" y="284335"/>
                    <a:pt x="0" y="267577"/>
                  </a:cubicBezTo>
                  <a:lnTo>
                    <a:pt x="0" y="224062"/>
                  </a:lnTo>
                  <a:cubicBezTo>
                    <a:pt x="0" y="207303"/>
                    <a:pt x="8321" y="191639"/>
                    <a:pt x="22207" y="182257"/>
                  </a:cubicBezTo>
                  <a:lnTo>
                    <a:pt x="278553" y="9065"/>
                  </a:lnTo>
                  <a:cubicBezTo>
                    <a:pt x="291971" y="0"/>
                    <a:pt x="309551" y="0"/>
                    <a:pt x="322968" y="9065"/>
                  </a:cubicBezTo>
                  <a:close/>
                </a:path>
              </a:pathLst>
            </a:custGeom>
            <a:solidFill>
              <a:srgbClr val="00CADC"/>
            </a:solidFill>
            <a:ln w="12700">
              <a:solidFill>
                <a:srgbClr val="000000"/>
              </a:solidFill>
            </a:ln>
          </p:spPr>
        </p:sp>
      </p:grpSp>
      <p:grpSp>
        <p:nvGrpSpPr>
          <p:cNvPr id="8" name="Group 8"/>
          <p:cNvGrpSpPr/>
          <p:nvPr/>
        </p:nvGrpSpPr>
        <p:grpSpPr>
          <a:xfrm>
            <a:off x="10964289" y="6704092"/>
            <a:ext cx="7447465" cy="6316652"/>
            <a:chOff x="0" y="0"/>
            <a:chExt cx="601521" cy="510187"/>
          </a:xfrm>
        </p:grpSpPr>
        <p:sp>
          <p:nvSpPr>
            <p:cNvPr id="9" name="Freeform 9"/>
            <p:cNvSpPr/>
            <p:nvPr/>
          </p:nvSpPr>
          <p:spPr>
            <a:xfrm>
              <a:off x="0" y="5939"/>
              <a:ext cx="601521" cy="498310"/>
            </a:xfrm>
            <a:custGeom>
              <a:avLst/>
              <a:gdLst/>
              <a:ahLst/>
              <a:cxnLst/>
              <a:rect l="l" t="t" r="r" b="b"/>
              <a:pathLst>
                <a:path w="601521" h="498310">
                  <a:moveTo>
                    <a:pt x="322968" y="9065"/>
                  </a:moveTo>
                  <a:lnTo>
                    <a:pt x="579314" y="182257"/>
                  </a:lnTo>
                  <a:cubicBezTo>
                    <a:pt x="593200" y="191639"/>
                    <a:pt x="601521" y="207303"/>
                    <a:pt x="601521" y="224062"/>
                  </a:cubicBezTo>
                  <a:lnTo>
                    <a:pt x="601521" y="274248"/>
                  </a:lnTo>
                  <a:cubicBezTo>
                    <a:pt x="601521" y="291006"/>
                    <a:pt x="593200" y="306670"/>
                    <a:pt x="579314" y="316052"/>
                  </a:cubicBezTo>
                  <a:lnTo>
                    <a:pt x="322968" y="489245"/>
                  </a:lnTo>
                  <a:cubicBezTo>
                    <a:pt x="309551" y="498309"/>
                    <a:pt x="291971" y="498309"/>
                    <a:pt x="278553" y="489245"/>
                  </a:cubicBezTo>
                  <a:lnTo>
                    <a:pt x="22207" y="316052"/>
                  </a:lnTo>
                  <a:cubicBezTo>
                    <a:pt x="8321" y="306670"/>
                    <a:pt x="0" y="291006"/>
                    <a:pt x="0" y="274248"/>
                  </a:cubicBezTo>
                  <a:lnTo>
                    <a:pt x="0" y="224062"/>
                  </a:lnTo>
                  <a:cubicBezTo>
                    <a:pt x="0" y="207303"/>
                    <a:pt x="8321" y="191639"/>
                    <a:pt x="22207" y="182257"/>
                  </a:cubicBezTo>
                  <a:lnTo>
                    <a:pt x="278553" y="9065"/>
                  </a:lnTo>
                  <a:cubicBezTo>
                    <a:pt x="291971" y="0"/>
                    <a:pt x="309551" y="0"/>
                    <a:pt x="322968" y="9065"/>
                  </a:cubicBezTo>
                  <a:close/>
                </a:path>
              </a:pathLst>
            </a:custGeom>
            <a:solidFill>
              <a:srgbClr val="00CADC"/>
            </a:solidFill>
            <a:ln w="12700">
              <a:solidFill>
                <a:srgbClr val="000000"/>
              </a:solidFill>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1960</Words>
  <Application>Microsoft Macintosh PowerPoint</Application>
  <PresentationFormat>Custom</PresentationFormat>
  <Paragraphs>283</Paragraphs>
  <Slides>30</Slides>
  <Notes>0</Notes>
  <HiddenSlides>0</HiddenSlides>
  <MMClips>0</MMClips>
  <ScaleCrop>false</ScaleCrop>
  <HeadingPairs>
    <vt:vector size="6" baseType="variant">
      <vt:variant>
        <vt:lpstr>Fonts Used</vt:lpstr>
      </vt:variant>
      <vt:variant>
        <vt:i4>23</vt:i4>
      </vt:variant>
      <vt:variant>
        <vt:lpstr>Theme</vt:lpstr>
      </vt:variant>
      <vt:variant>
        <vt:i4>1</vt:i4>
      </vt:variant>
      <vt:variant>
        <vt:lpstr>Slide Titles</vt:lpstr>
      </vt:variant>
      <vt:variant>
        <vt:i4>30</vt:i4>
      </vt:variant>
    </vt:vector>
  </HeadingPairs>
  <TitlesOfParts>
    <vt:vector size="54" baseType="lpstr">
      <vt:lpstr>Poppins Bold</vt:lpstr>
      <vt:lpstr>Calibri</vt:lpstr>
      <vt:lpstr>DM Sans Bold</vt:lpstr>
      <vt:lpstr>Lato Italics</vt:lpstr>
      <vt:lpstr>Codec Pro</vt:lpstr>
      <vt:lpstr>Poppins Semi-Bold</vt:lpstr>
      <vt:lpstr>Montserrat</vt:lpstr>
      <vt:lpstr>Kitchakan Bold</vt:lpstr>
      <vt:lpstr>Montserrat Light</vt:lpstr>
      <vt:lpstr>Codec Pro Bold</vt:lpstr>
      <vt:lpstr>Telegraf</vt:lpstr>
      <vt:lpstr>Libre Baskerville</vt:lpstr>
      <vt:lpstr>Lato Bold</vt:lpstr>
      <vt:lpstr>Kitchakan</vt:lpstr>
      <vt:lpstr>Alkalami</vt:lpstr>
      <vt:lpstr>Neue Machina Ultra-Bold</vt:lpstr>
      <vt:lpstr>Chunk Five</vt:lpstr>
      <vt:lpstr>Lato</vt:lpstr>
      <vt:lpstr>DM Sans</vt:lpstr>
      <vt:lpstr>Roboto Bold</vt:lpstr>
      <vt:lpstr>Montserrat Medium</vt:lpstr>
      <vt:lpstr>Arial</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intoxication ALIMENTAIRE</dc:title>
  <cp:lastModifiedBy>Microsoft Office User</cp:lastModifiedBy>
  <cp:revision>2</cp:revision>
  <dcterms:created xsi:type="dcterms:W3CDTF">2006-08-16T00:00:00Z</dcterms:created>
  <dcterms:modified xsi:type="dcterms:W3CDTF">2026-06-09T18:54:47Z</dcterms:modified>
  <dc:identifier>DAGaU2GePBc</dc:identifier>
</cp:coreProperties>
</file>